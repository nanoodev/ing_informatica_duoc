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72" r:id="rId5"/>
    <p:sldId id="263" r:id="rId6"/>
    <p:sldId id="279" r:id="rId7"/>
    <p:sldId id="311" r:id="rId8"/>
    <p:sldId id="309" r:id="rId9"/>
    <p:sldId id="310" r:id="rId10"/>
    <p:sldId id="312" r:id="rId11"/>
    <p:sldId id="313" r:id="rId12"/>
    <p:sldId id="264" r:id="rId13"/>
    <p:sldId id="314" r:id="rId14"/>
    <p:sldId id="262" r:id="rId15"/>
    <p:sldId id="261" r:id="rId16"/>
  </p:sldIdLst>
  <p:sldSz cx="12192000" cy="6858000"/>
  <p:notesSz cx="6858000" cy="9144000"/>
  <p:defaultTextStyle>
    <a:defPPr>
      <a:defRPr lang="es-CL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7CDD"/>
    <a:srgbClr val="EE7623"/>
    <a:srgbClr val="BB0034"/>
    <a:srgbClr val="9B50C0"/>
    <a:srgbClr val="F9B7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7D1C2F-D463-46C8-9FE5-2118D182F13F}" type="datetimeFigureOut">
              <a:rPr lang="es-CL" smtClean="0"/>
              <a:t>08-11-2025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56354-13B1-4AF8-AD16-88106355DB7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9972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/>
          </a:p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36250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Explorar </a:t>
            </a:r>
            <a:r>
              <a:rPr lang="es-ES" err="1"/>
              <a:t>roadmap</a:t>
            </a:r>
            <a:r>
              <a:rPr lang="es-ES"/>
              <a:t> con los estudiantes para comprender el camino de un </a:t>
            </a:r>
            <a:r>
              <a:rPr lang="es-ES" err="1"/>
              <a:t>backend</a:t>
            </a:r>
            <a:r>
              <a:rPr lang="es-ES"/>
              <a:t>, </a:t>
            </a:r>
            <a:r>
              <a:rPr lang="es-ES" err="1"/>
              <a:t>frontend</a:t>
            </a:r>
            <a:r>
              <a:rPr lang="es-ES"/>
              <a:t> y </a:t>
            </a:r>
            <a:r>
              <a:rPr lang="es-ES" err="1"/>
              <a:t>fullstack</a:t>
            </a:r>
            <a:r>
              <a:rPr lang="es-ES"/>
              <a:t>  https://roadmap.sh/</a:t>
            </a:r>
            <a:endParaRPr lang="es-ES" b="1"/>
          </a:p>
          <a:p>
            <a:r>
              <a:rPr lang="es-ES" b="1"/>
              <a:t> </a:t>
            </a:r>
          </a:p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6325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76873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emf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rincip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057CAB5-419B-D16F-C185-A2D3C653D2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859053" y="1796807"/>
            <a:ext cx="70965" cy="326438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A07B88F-3442-88EF-4332-8188DAED77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350248-3FB5-3C6F-8D72-BDEA02FE930A}"/>
              </a:ext>
            </a:extLst>
          </p:cNvPr>
          <p:cNvSpPr/>
          <p:nvPr userDrawn="1"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F0FCBE2-3DBD-0281-D2F5-F0C94CE8BC2D}"/>
              </a:ext>
            </a:extLst>
          </p:cNvPr>
          <p:cNvCxnSpPr>
            <a:cxnSpLocks/>
          </p:cNvCxnSpPr>
          <p:nvPr userDrawn="1"/>
        </p:nvCxnSpPr>
        <p:spPr>
          <a:xfrm>
            <a:off x="6996223" y="4106486"/>
            <a:ext cx="411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título 1">
            <a:extLst>
              <a:ext uri="{FF2B5EF4-FFF2-40B4-BE49-F238E27FC236}">
                <a16:creationId xmlns:a16="http://schemas.microsoft.com/office/drawing/2014/main" id="{F586EB83-3340-7C71-15A1-A44304B300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para modificar título</a:t>
            </a:r>
            <a:endParaRPr lang="es-CL"/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3F9325FC-E030-BCB8-203E-374A8BE898B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2E45F7-DBA7-0067-88AC-2B33C1A8CB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68812" y="1206961"/>
            <a:ext cx="3375906" cy="54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2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para modificar título</a:t>
            </a:r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/>
              <a:t>01</a:t>
            </a:r>
            <a:endParaRPr lang="es-CL" sz="8000"/>
          </a:p>
        </p:txBody>
      </p:sp>
    </p:spTree>
    <p:extLst>
      <p:ext uri="{BB962C8B-B14F-4D97-AF65-F5344CB8AC3E}">
        <p14:creationId xmlns:p14="http://schemas.microsoft.com/office/powerpoint/2010/main" val="355760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para modificar título</a:t>
            </a:r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/>
              <a:t>02</a:t>
            </a:r>
            <a:endParaRPr lang="es-CL" sz="8000"/>
          </a:p>
        </p:txBody>
      </p:sp>
    </p:spTree>
    <p:extLst>
      <p:ext uri="{BB962C8B-B14F-4D97-AF65-F5344CB8AC3E}">
        <p14:creationId xmlns:p14="http://schemas.microsoft.com/office/powerpoint/2010/main" val="239545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para modificar título</a:t>
            </a:r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/>
              <a:t>03</a:t>
            </a:r>
            <a:endParaRPr lang="es-CL" sz="8000"/>
          </a:p>
        </p:txBody>
      </p:sp>
    </p:spTree>
    <p:extLst>
      <p:ext uri="{BB962C8B-B14F-4D97-AF65-F5344CB8AC3E}">
        <p14:creationId xmlns:p14="http://schemas.microsoft.com/office/powerpoint/2010/main" val="1558819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para modificar título</a:t>
            </a:r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/>
              <a:t>04</a:t>
            </a:r>
            <a:endParaRPr lang="es-CL" sz="8000"/>
          </a:p>
        </p:txBody>
      </p:sp>
    </p:spTree>
    <p:extLst>
      <p:ext uri="{BB962C8B-B14F-4D97-AF65-F5344CB8AC3E}">
        <p14:creationId xmlns:p14="http://schemas.microsoft.com/office/powerpoint/2010/main" val="787768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26">
            <a:extLst>
              <a:ext uri="{FF2B5EF4-FFF2-40B4-BE49-F238E27FC236}">
                <a16:creationId xmlns:a16="http://schemas.microsoft.com/office/drawing/2014/main" id="{3387B960-FFF9-CB57-ACA9-C9E1213259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4685" y="551041"/>
            <a:ext cx="4916775" cy="469685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MODIFICAR TITULO</a:t>
            </a:r>
            <a:endParaRPr lang="es-CL"/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149A11D1-EAA1-0BB7-CFE5-9056CB346D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715" y="1137571"/>
            <a:ext cx="4930746" cy="553006"/>
          </a:xfrm>
        </p:spPr>
        <p:txBody>
          <a:bodyPr>
            <a:normAutofit/>
          </a:bodyPr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Haz clic para modificar o eliminar bajada</a:t>
            </a:r>
          </a:p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BF3825-8CDE-15D1-473C-F04253CD9789}"/>
              </a:ext>
            </a:extLst>
          </p:cNvPr>
          <p:cNvSpPr/>
          <p:nvPr userDrawn="1"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BF54666-A2EC-90FE-7052-73357A52AE9A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9" name="object 2">
              <a:extLst>
                <a:ext uri="{FF2B5EF4-FFF2-40B4-BE49-F238E27FC236}">
                  <a16:creationId xmlns:a16="http://schemas.microsoft.com/office/drawing/2014/main" id="{371A0572-EF4B-CA79-4539-AA0A2E4CD96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1BA993DD-B802-B0F6-BB6C-691D8C644DF2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" name="object 4">
              <a:extLst>
                <a:ext uri="{FF2B5EF4-FFF2-40B4-BE49-F238E27FC236}">
                  <a16:creationId xmlns:a16="http://schemas.microsoft.com/office/drawing/2014/main" id="{C3421982-2587-852B-E105-195C0E7D9D9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7422255E-C44F-6988-4785-AAC71FA19F3B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" name="object 6">
                <a:extLst>
                  <a:ext uri="{FF2B5EF4-FFF2-40B4-BE49-F238E27FC236}">
                    <a16:creationId xmlns:a16="http://schemas.microsoft.com/office/drawing/2014/main" id="{C9735AE4-9BC0-BA7F-18A3-3B4538726A97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B8A2F42-00CA-3BF5-D8D0-4B68FE7E88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2714468" y="4342374"/>
            <a:ext cx="119408" cy="423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12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9D0323-C2ED-C0E8-73FE-BEAB8CFEAEB8}"/>
              </a:ext>
            </a:extLst>
          </p:cNvPr>
          <p:cNvSpPr/>
          <p:nvPr userDrawn="1"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3A500616-0E5D-9D67-2AD4-83DFD6FEB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V="1">
            <a:off x="10929134" y="3487483"/>
            <a:ext cx="2392160" cy="133572"/>
          </a:xfrm>
          <a:prstGeom prst="rect">
            <a:avLst/>
          </a:prstGeom>
        </p:spPr>
      </p:pic>
      <p:sp>
        <p:nvSpPr>
          <p:cNvPr id="15" name="Marcador de título 1">
            <a:extLst>
              <a:ext uri="{FF2B5EF4-FFF2-40B4-BE49-F238E27FC236}">
                <a16:creationId xmlns:a16="http://schemas.microsoft.com/office/drawing/2014/main" id="{F57429FB-BAB3-46DE-9370-D3C110C6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para modificar título</a:t>
            </a:r>
            <a:endParaRPr lang="es-CL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4F8D0BB2-7009-A53E-830B-0224847CA3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MX"/>
              <a:t>Haz clic para modificar bajada</a:t>
            </a:r>
            <a:endParaRPr lang="es-CL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0600BA2-FE25-D617-556A-284E126C452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7" name="object 2">
              <a:extLst>
                <a:ext uri="{FF2B5EF4-FFF2-40B4-BE49-F238E27FC236}">
                  <a16:creationId xmlns:a16="http://schemas.microsoft.com/office/drawing/2014/main" id="{214DF2C4-F04D-3C80-781C-59FD036C679C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>
              <a:extLst>
                <a:ext uri="{FF2B5EF4-FFF2-40B4-BE49-F238E27FC236}">
                  <a16:creationId xmlns:a16="http://schemas.microsoft.com/office/drawing/2014/main" id="{6664B434-EC06-B2A1-112A-CFBBD91843D1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7" name="object 4">
              <a:extLst>
                <a:ext uri="{FF2B5EF4-FFF2-40B4-BE49-F238E27FC236}">
                  <a16:creationId xmlns:a16="http://schemas.microsoft.com/office/drawing/2014/main" id="{78BE0504-3454-CB76-4D2B-96730BFC194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E08B512B-19D5-31EE-38BB-ECE0FD6B8C78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2816031D-2FBD-6D3D-C3AA-EDAC01B1B7B3}"/>
                  </a:ext>
                </a:extLst>
              </p:cNvPr>
              <p:cNvPicPr/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9C188DE4-1C8A-750A-9834-317895F22B2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60414" y="1315256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69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FD1A2D-962B-1B2F-8EFE-116133732487}"/>
              </a:ext>
            </a:extLst>
          </p:cNvPr>
          <p:cNvSpPr/>
          <p:nvPr userDrawn="1"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sp>
        <p:nvSpPr>
          <p:cNvPr id="7" name="Marcador de texto 26">
            <a:extLst>
              <a:ext uri="{FF2B5EF4-FFF2-40B4-BE49-F238E27FC236}">
                <a16:creationId xmlns:a16="http://schemas.microsoft.com/office/drawing/2014/main" id="{FC12E6C9-B6C7-FBEC-A203-87F5181A30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10853" y="405838"/>
            <a:ext cx="4916775" cy="469685"/>
          </a:xfrm>
        </p:spPr>
        <p:txBody>
          <a:bodyPr>
            <a:noAutofit/>
          </a:bodyPr>
          <a:lstStyle>
            <a:lvl1pPr marL="0" indent="0" algn="r">
              <a:buNone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MODIFICAR TITULO</a:t>
            </a:r>
            <a:endParaRPr lang="es-CL"/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1CE8A453-8074-39A1-48E5-2C3C6BECA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0853" y="976146"/>
            <a:ext cx="4930746" cy="281800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Haz clic para modificar o eliminar bajada</a:t>
            </a:r>
          </a:p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0D8A9F2-7C34-CC0C-4A65-766C6591434E}"/>
              </a:ext>
            </a:extLst>
          </p:cNvPr>
          <p:cNvSpPr/>
          <p:nvPr userDrawn="1"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27846E3-6C01-4C3F-2624-7CD8517C984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4" name="object 2">
              <a:extLst>
                <a:ext uri="{FF2B5EF4-FFF2-40B4-BE49-F238E27FC236}">
                  <a16:creationId xmlns:a16="http://schemas.microsoft.com/office/drawing/2014/main" id="{F0FF35D2-A2FC-35AC-0158-8D26446D585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3">
              <a:extLst>
                <a:ext uri="{FF2B5EF4-FFF2-40B4-BE49-F238E27FC236}">
                  <a16:creationId xmlns:a16="http://schemas.microsoft.com/office/drawing/2014/main" id="{D52EE463-507D-0E89-A698-37B26D93221E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6" name="object 4">
              <a:extLst>
                <a:ext uri="{FF2B5EF4-FFF2-40B4-BE49-F238E27FC236}">
                  <a16:creationId xmlns:a16="http://schemas.microsoft.com/office/drawing/2014/main" id="{6C83F359-2517-926A-B7D0-D64B0F83FC19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21FEE031-C875-38D1-5382-9E6E11778AA5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08F0296E-9087-FDE0-9CBF-6E89FE8D412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533ECC16-DB92-D7AB-25D1-63F1F6931C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592" y="2244940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03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P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5D537A3-771A-B373-471B-2113C671CFBB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F91E6D1-21AD-8149-634F-39874CDDB05F}"/>
              </a:ext>
            </a:extLst>
          </p:cNvPr>
          <p:cNvGrpSpPr/>
          <p:nvPr userDrawn="1"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5C7F6159-27FC-D37D-6948-67F8EE366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051E8F7-021B-497B-A676-8142240D8E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</p:spPr>
        </p:pic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BA44E097-D359-D78B-4054-E34A9D1A97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97179" y="2291644"/>
            <a:ext cx="3997641" cy="12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9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78C4651-2B5D-EA62-AC04-17BFDE1E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94B6F9-D351-5B1B-2766-68737957A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B60EAB-2F87-323A-DB12-7A3211AAE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4031C-1D81-E945-A028-78780D1B7DE5}" type="datetimeFigureOut">
              <a:rPr lang="es-CL" smtClean="0"/>
              <a:t>08-11-2025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1700A7-BE34-6E4B-B14E-9AFE52C9C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9A16B8-55E4-4139-4DE1-4DF901B44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EC0DC-B55F-A543-ADED-336BFEE3FC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302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5" r:id="rId5"/>
    <p:sldLayoutId id="2147483650" r:id="rId6"/>
    <p:sldLayoutId id="2147483651" r:id="rId7"/>
    <p:sldLayoutId id="2147483653" r:id="rId8"/>
    <p:sldLayoutId id="2147483652" r:id="rId9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roadmap.sh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DA3FC-36B2-5E48-53A8-51083BBE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sz="3600">
                <a:latin typeface="Arial"/>
                <a:cs typeface="Arial"/>
              </a:rPr>
              <a:t>DESARROLLO FULSTACK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C79772-4F2B-0631-AEB4-ED8B1376406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7285" y="4305507"/>
            <a:ext cx="4356341" cy="793038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DESARROLLO FULLSTACK I</a:t>
            </a:r>
          </a:p>
          <a:p>
            <a:pPr marL="0" indent="0">
              <a:buNone/>
            </a:pPr>
            <a:r>
              <a:rPr lang="es-CL" dirty="0"/>
              <a:t>DSY1103</a:t>
            </a:r>
          </a:p>
        </p:txBody>
      </p:sp>
    </p:spTree>
    <p:extLst>
      <p:ext uri="{BB962C8B-B14F-4D97-AF65-F5344CB8AC3E}">
        <p14:creationId xmlns:p14="http://schemas.microsoft.com/office/powerpoint/2010/main" val="130920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BB4C7-D01B-3BCB-C12A-831C92914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7995" y="2752716"/>
            <a:ext cx="3885770" cy="1627331"/>
          </a:xfrm>
        </p:spPr>
        <p:txBody>
          <a:bodyPr>
            <a:normAutofit/>
          </a:bodyPr>
          <a:lstStyle/>
          <a:p>
            <a:r>
              <a:rPr lang="es-ES" sz="3200" dirty="0">
                <a:latin typeface="Arial"/>
                <a:cs typeface="Arial"/>
              </a:rPr>
              <a:t>Responsabilidades del </a:t>
            </a:r>
            <a:r>
              <a:rPr lang="es-ES" sz="3200" dirty="0" err="1">
                <a:latin typeface="Arial"/>
                <a:cs typeface="Arial"/>
              </a:rPr>
              <a:t>backend</a:t>
            </a:r>
            <a:r>
              <a:rPr lang="es-ES" sz="3200" dirty="0">
                <a:latin typeface="Arial"/>
                <a:cs typeface="Arial"/>
              </a:rPr>
              <a:t> en microservicios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6185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10860064" cy="5949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 dirty="0">
                <a:latin typeface="Arial"/>
                <a:cs typeface="Arial"/>
              </a:rPr>
              <a:t>Responsabilidades del </a:t>
            </a:r>
            <a:r>
              <a:rPr lang="es-CL" dirty="0" err="1">
                <a:latin typeface="Arial"/>
                <a:cs typeface="Arial"/>
              </a:rPr>
              <a:t>backend</a:t>
            </a:r>
            <a:r>
              <a:rPr lang="es-CL" dirty="0">
                <a:latin typeface="Arial"/>
                <a:cs typeface="Arial"/>
              </a:rPr>
              <a:t> en microservicios</a:t>
            </a:r>
            <a:endParaRPr lang="es-E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14B708-B034-DE07-667B-0AA1F2B68EEB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654685" y="1374449"/>
            <a:ext cx="5756163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>
                <a:latin typeface="Arial"/>
                <a:cs typeface="Arial"/>
              </a:rPr>
              <a:t>Un desarrollador </a:t>
            </a:r>
            <a:r>
              <a:rPr lang="es-ES" sz="1800" err="1">
                <a:latin typeface="Arial"/>
                <a:cs typeface="Arial"/>
              </a:rPr>
              <a:t>backend</a:t>
            </a:r>
            <a:r>
              <a:rPr lang="es-ES" sz="1800">
                <a:latin typeface="Arial"/>
                <a:cs typeface="Arial"/>
              </a:rPr>
              <a:t> en </a:t>
            </a:r>
            <a:r>
              <a:rPr lang="es-ES" sz="1800">
                <a:solidFill>
                  <a:srgbClr val="000000"/>
                </a:solidFill>
                <a:latin typeface="Arial"/>
                <a:cs typeface="Arial"/>
              </a:rPr>
              <a:t>un entorno de microservicios tiene una serie </a:t>
            </a:r>
            <a:r>
              <a:rPr lang="es-ES" sz="1800">
                <a:latin typeface="Arial"/>
                <a:cs typeface="Arial"/>
              </a:rPr>
              <a:t>de </a:t>
            </a:r>
            <a:r>
              <a:rPr lang="es-ES" sz="1800" b="1">
                <a:solidFill>
                  <a:srgbClr val="4E7CDD"/>
                </a:solidFill>
                <a:latin typeface="Arial"/>
                <a:cs typeface="Arial"/>
              </a:rPr>
              <a:t>responsabilidades </a:t>
            </a:r>
            <a:r>
              <a:rPr lang="es-ES" sz="1800">
                <a:latin typeface="Arial"/>
                <a:cs typeface="Arial"/>
              </a:rPr>
              <a:t>específicas que se centran en la creación y mantenimiento de servicios independientes y escalables.</a:t>
            </a:r>
          </a:p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s-ES" sz="1800">
              <a:latin typeface="Arial"/>
              <a:cs typeface="Arial"/>
            </a:endParaRPr>
          </a:p>
          <a:p>
            <a:pPr marL="285750" indent="-28575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sz="1800">
                <a:latin typeface="Arial"/>
                <a:cs typeface="Arial"/>
              </a:rPr>
              <a:t>Diseño y Arquitectura</a:t>
            </a:r>
          </a:p>
          <a:p>
            <a:pPr marL="285750" indent="-28575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sz="1800">
                <a:latin typeface="Arial"/>
                <a:cs typeface="Arial"/>
              </a:rPr>
              <a:t>Desarrollo e Implementación</a:t>
            </a:r>
          </a:p>
          <a:p>
            <a:pPr marL="285750" indent="-28575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sz="1800">
                <a:latin typeface="Arial"/>
                <a:cs typeface="Arial"/>
              </a:rPr>
              <a:t>Mantenimiento y Monitorización</a:t>
            </a:r>
          </a:p>
          <a:p>
            <a:pPr marL="285750" indent="-28575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sz="1800">
                <a:latin typeface="Arial"/>
                <a:cs typeface="Arial"/>
              </a:rPr>
              <a:t>Seguridad</a:t>
            </a:r>
          </a:p>
          <a:p>
            <a:pPr marL="285750" indent="-28575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sz="1800">
                <a:latin typeface="Arial"/>
                <a:cs typeface="Arial"/>
              </a:rPr>
              <a:t>Colaboración y Comunicación</a:t>
            </a:r>
            <a:endParaRPr lang="es-ES">
              <a:latin typeface="Arial"/>
              <a:cs typeface="Arial"/>
            </a:endParaRPr>
          </a:p>
        </p:txBody>
      </p:sp>
      <p:pic>
        <p:nvPicPr>
          <p:cNvPr id="5" name="Imagen 4" descr="Diagrama, Dibujo de ingeniería&#10;&#10;Descripción generada automáticamente">
            <a:extLst>
              <a:ext uri="{FF2B5EF4-FFF2-40B4-BE49-F238E27FC236}">
                <a16:creationId xmlns:a16="http://schemas.microsoft.com/office/drawing/2014/main" id="{F8B7F5B2-1A8D-059B-913E-C3A129E1F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964" y="1378542"/>
            <a:ext cx="4521630" cy="461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46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580FE9D2-D410-D6DB-049E-B24CA0DFA53B}"/>
              </a:ext>
            </a:extLst>
          </p:cNvPr>
          <p:cNvSpPr txBox="1">
            <a:spLocks/>
          </p:cNvSpPr>
          <p:nvPr/>
        </p:nvSpPr>
        <p:spPr>
          <a:xfrm>
            <a:off x="4975361" y="471210"/>
            <a:ext cx="4916775" cy="46968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indent="-227965"/>
            <a:r>
              <a:rPr lang="es-CL" sz="3200">
                <a:latin typeface="Arial"/>
                <a:ea typeface="+mn-lt"/>
                <a:cs typeface="+mn-lt"/>
              </a:rPr>
              <a:t>Diseño y Arquitectura</a:t>
            </a:r>
            <a:endParaRPr lang="es-ES">
              <a:latin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DCFF1C61-4ACD-5AAA-4E03-5BF2A25960E2}"/>
              </a:ext>
            </a:extLst>
          </p:cNvPr>
          <p:cNvSpPr/>
          <p:nvPr/>
        </p:nvSpPr>
        <p:spPr>
          <a:xfrm>
            <a:off x="4974742" y="1240046"/>
            <a:ext cx="6489898" cy="48582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s-CL" sz="2000" b="1">
                <a:solidFill>
                  <a:srgbClr val="2A2921"/>
                </a:solidFill>
                <a:latin typeface="Arial"/>
                <a:ea typeface="+mn-lt"/>
                <a:cs typeface="Arial"/>
              </a:rPr>
              <a:t>DEFINICIÓN</a:t>
            </a:r>
            <a:r>
              <a:rPr lang="en-US" sz="2000" b="1">
                <a:solidFill>
                  <a:srgbClr val="2A2921"/>
                </a:solidFill>
                <a:latin typeface="Arial"/>
                <a:ea typeface="+mn-lt"/>
                <a:cs typeface="Arial"/>
              </a:rPr>
              <a:t> DE MICROSERVICIOS</a:t>
            </a:r>
            <a:endParaRPr lang="es-ES" sz="2000"/>
          </a:p>
          <a:p>
            <a:pPr algn="just"/>
            <a:r>
              <a:rPr lang="es-ES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+mn-lt"/>
              </a:rPr>
              <a:t>Diseñar microservicios que se alineen con los principios de la arquitectura de microservicios, asegurando que cada servicio sea independiente y pueda ser desplegado de forma autónoma.</a:t>
            </a:r>
          </a:p>
          <a:p>
            <a:pPr algn="just"/>
            <a:endParaRPr lang="es-ES">
              <a:solidFill>
                <a:schemeClr val="tx1">
                  <a:lumMod val="65000"/>
                  <a:lumOff val="35000"/>
                </a:schemeClr>
              </a:solidFill>
              <a:latin typeface="Montserrat"/>
              <a:ea typeface="+mn-lt"/>
              <a:cs typeface="+mn-lt"/>
            </a:endParaRPr>
          </a:p>
          <a:p>
            <a:pPr algn="just"/>
            <a:endParaRPr lang="es-ES">
              <a:solidFill>
                <a:srgbClr val="5A5A4C"/>
              </a:solidFill>
              <a:latin typeface="Montserrat"/>
              <a:ea typeface="+mn-lt"/>
              <a:cs typeface="Arial"/>
            </a:endParaRPr>
          </a:p>
          <a:p>
            <a:pPr algn="just"/>
            <a:r>
              <a:rPr lang="es-CL" sz="2000" b="1">
                <a:solidFill>
                  <a:srgbClr val="2A2921"/>
                </a:solidFill>
                <a:latin typeface="Arial"/>
                <a:ea typeface="+mn-lt"/>
                <a:cs typeface="Arial"/>
              </a:rPr>
              <a:t>MODELADO DE DATOS</a:t>
            </a:r>
            <a:endParaRPr lang="es-ES" sz="2000"/>
          </a:p>
          <a:p>
            <a:pPr algn="just"/>
            <a:r>
              <a:rPr lang="es-ES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Diseñar esquemas de bases de datos optimizados para los microservicios, utilizando tanto </a:t>
            </a:r>
            <a:r>
              <a:rPr lang="es-ES" b="1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bases de datos relacionales</a:t>
            </a:r>
            <a:r>
              <a:rPr lang="es-ES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 como </a:t>
            </a:r>
            <a:r>
              <a:rPr lang="es-ES" b="1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no relacionales </a:t>
            </a:r>
            <a:r>
              <a:rPr lang="es-ES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según sea necesario.</a:t>
            </a:r>
          </a:p>
          <a:p>
            <a:pPr algn="just"/>
            <a:endParaRPr lang="es-E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just"/>
            <a:endParaRPr lang="es-ES">
              <a:solidFill>
                <a:srgbClr val="5A5A4C"/>
              </a:solidFill>
              <a:latin typeface="Aptos"/>
              <a:ea typeface="+mn-lt"/>
              <a:cs typeface="Arial"/>
            </a:endParaRPr>
          </a:p>
          <a:p>
            <a:pPr algn="just"/>
            <a:r>
              <a:rPr lang="es-CL" sz="2000" b="1">
                <a:solidFill>
                  <a:srgbClr val="2A2921"/>
                </a:solidFill>
                <a:latin typeface="Arial"/>
                <a:ea typeface="+mn-lt"/>
                <a:cs typeface="Arial"/>
              </a:rPr>
              <a:t>INTERCOMUNICACIÓN</a:t>
            </a:r>
            <a:endParaRPr lang="es-ES" sz="2000"/>
          </a:p>
          <a:p>
            <a:pPr algn="just"/>
            <a:r>
              <a:rPr lang="es-ES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Establecer métodos eficientes de comunicación entre microservicios, utilizando patrones como </a:t>
            </a:r>
            <a:r>
              <a:rPr lang="es-ES" b="1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API </a:t>
            </a:r>
            <a:r>
              <a:rPr lang="es-ES" b="1" err="1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RESTful</a:t>
            </a:r>
            <a:r>
              <a:rPr lang="es-ES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.</a:t>
            </a:r>
          </a:p>
          <a:p>
            <a:pPr algn="just"/>
            <a:endParaRPr lang="es-ES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pPr algn="just"/>
            <a:endParaRPr lang="es-ES">
              <a:solidFill>
                <a:schemeClr val="tx1">
                  <a:lumMod val="65000"/>
                  <a:lumOff val="35000"/>
                </a:schemeClr>
              </a:solidFill>
              <a:latin typeface="Montserrat"/>
              <a:ea typeface="+mn-lt"/>
              <a:cs typeface="+mn-lt"/>
            </a:endParaRPr>
          </a:p>
          <a:p>
            <a:pPr algn="just">
              <a:spcBef>
                <a:spcPts val="663"/>
              </a:spcBef>
            </a:pPr>
            <a:endParaRPr lang="es-ES">
              <a:solidFill>
                <a:srgbClr val="5A5A4C"/>
              </a:solidFill>
              <a:ea typeface="+mn-lt"/>
              <a:cs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98C2F14-F015-202D-DE57-265895A6F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856" y="1236151"/>
            <a:ext cx="342900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284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580FE9D2-D410-D6DB-049E-B24CA0DFA53B}"/>
              </a:ext>
            </a:extLst>
          </p:cNvPr>
          <p:cNvSpPr txBox="1">
            <a:spLocks/>
          </p:cNvSpPr>
          <p:nvPr/>
        </p:nvSpPr>
        <p:spPr>
          <a:xfrm>
            <a:off x="4975361" y="471210"/>
            <a:ext cx="4916775" cy="46968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indent="-227965"/>
            <a:r>
              <a:rPr lang="es-CL" sz="3200">
                <a:latin typeface="Arial"/>
                <a:ea typeface="+mn-lt"/>
                <a:cs typeface="+mn-lt"/>
              </a:rPr>
              <a:t>Diseño y Arquitectura</a:t>
            </a:r>
            <a:endParaRPr lang="es-ES">
              <a:latin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DCFF1C61-4ACD-5AAA-4E03-5BF2A25960E2}"/>
              </a:ext>
            </a:extLst>
          </p:cNvPr>
          <p:cNvSpPr/>
          <p:nvPr/>
        </p:nvSpPr>
        <p:spPr>
          <a:xfrm>
            <a:off x="4974742" y="1240046"/>
            <a:ext cx="6489898" cy="48582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s-ES" sz="2000" b="1">
                <a:latin typeface="Arial"/>
                <a:ea typeface="+mn-lt"/>
                <a:cs typeface="+mn-lt"/>
              </a:rPr>
              <a:t>CODIFICACIÓN</a:t>
            </a:r>
            <a:endParaRPr lang="es-ES" sz="2000">
              <a:latin typeface="Arial"/>
              <a:ea typeface="+mn-lt"/>
              <a:cs typeface="+mn-lt"/>
            </a:endParaRPr>
          </a:p>
          <a:p>
            <a:pPr algn="just"/>
            <a:r>
              <a:rPr lang="es-ES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+mn-lt"/>
              </a:rPr>
              <a:t>Escribir código limpio, eficiente y mantenible para implementar la lógica del </a:t>
            </a:r>
            <a:r>
              <a:rPr lang="es-ES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+mn-lt"/>
              </a:rPr>
              <a:t>backend</a:t>
            </a:r>
            <a:r>
              <a:rPr lang="es-ES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+mn-lt"/>
              </a:rPr>
              <a:t> de cada microservicio.</a:t>
            </a:r>
            <a:endParaRPr lang="es-ES">
              <a:solidFill>
                <a:schemeClr val="tx1">
                  <a:lumMod val="65000"/>
                  <a:lumOff val="35000"/>
                </a:schemeClr>
              </a:solidFill>
              <a:latin typeface="Montserrat"/>
            </a:endParaRPr>
          </a:p>
          <a:p>
            <a:pPr algn="just"/>
            <a:endParaRPr lang="es-ES">
              <a:solidFill>
                <a:srgbClr val="5A5A4C"/>
              </a:solidFill>
              <a:latin typeface="Montserrat"/>
              <a:ea typeface="+mn-lt"/>
              <a:cs typeface="+mn-lt"/>
            </a:endParaRPr>
          </a:p>
          <a:p>
            <a:pPr algn="just"/>
            <a:endParaRPr lang="es-ES">
              <a:solidFill>
                <a:srgbClr val="5A5A4C"/>
              </a:solidFill>
              <a:latin typeface="Aptos" panose="02110004020202020204"/>
              <a:ea typeface="+mn-lt"/>
              <a:cs typeface="+mn-lt"/>
            </a:endParaRPr>
          </a:p>
          <a:p>
            <a:pPr algn="just"/>
            <a:r>
              <a:rPr lang="es-ES" sz="2000" b="1">
                <a:latin typeface="Arial"/>
                <a:ea typeface="+mn-lt"/>
                <a:cs typeface="+mn-lt"/>
              </a:rPr>
              <a:t>PRUEBAS</a:t>
            </a:r>
          </a:p>
          <a:p>
            <a:pPr algn="just"/>
            <a:r>
              <a:rPr lang="es-ES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+mn-lt"/>
              </a:rPr>
              <a:t>Implementar pruebas unitarias, de integración y de extremo a extremo para asegurar la funcionalidad y la fiabilidad del servicio</a:t>
            </a:r>
            <a:r>
              <a:rPr lang="es-ES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.</a:t>
            </a:r>
            <a:endParaRPr lang="es-E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just"/>
            <a:endParaRPr lang="es-ES">
              <a:solidFill>
                <a:srgbClr val="5A5A4C"/>
              </a:solidFill>
              <a:latin typeface="Aptos"/>
              <a:ea typeface="+mn-lt"/>
              <a:cs typeface="+mn-lt"/>
            </a:endParaRPr>
          </a:p>
          <a:p>
            <a:pPr algn="just"/>
            <a:endParaRPr lang="es-ES">
              <a:solidFill>
                <a:srgbClr val="5A5A4C"/>
              </a:solidFill>
              <a:latin typeface="Aptos"/>
              <a:ea typeface="+mn-lt"/>
              <a:cs typeface="+mn-lt"/>
            </a:endParaRPr>
          </a:p>
          <a:p>
            <a:pPr algn="just"/>
            <a:r>
              <a:rPr lang="es-ES" sz="2000" b="1">
                <a:latin typeface="Arial"/>
                <a:ea typeface="+mn-lt"/>
                <a:cs typeface="+mn-lt"/>
              </a:rPr>
              <a:t>DESPLIEGUE CONTINUO</a:t>
            </a:r>
            <a:endParaRPr lang="es-ES" sz="2000">
              <a:latin typeface="Aptos" panose="02110004020202020204"/>
              <a:ea typeface="+mn-lt"/>
              <a:cs typeface="+mn-lt"/>
            </a:endParaRPr>
          </a:p>
          <a:p>
            <a:pPr algn="just"/>
            <a:r>
              <a:rPr lang="es-ES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+mn-lt"/>
              </a:rPr>
              <a:t>Configurar y mantener pipelines de</a:t>
            </a:r>
            <a:r>
              <a:rPr lang="es-ES" b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+mn-lt"/>
              </a:rPr>
              <a:t> CI/CD </a:t>
            </a:r>
            <a:r>
              <a:rPr lang="es-ES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+mn-lt"/>
              </a:rPr>
              <a:t>(Integración Continua y Despliegue Continuo) para facilitar la implementación rápida y segura de microservicios.</a:t>
            </a:r>
            <a:endParaRPr lang="es-ES">
              <a:solidFill>
                <a:schemeClr val="tx1">
                  <a:lumMod val="65000"/>
                  <a:lumOff val="35000"/>
                </a:schemeClr>
              </a:solidFill>
              <a:latin typeface="Montserrat"/>
            </a:endParaRPr>
          </a:p>
          <a:p>
            <a:pPr algn="just">
              <a:spcBef>
                <a:spcPts val="663"/>
              </a:spcBef>
            </a:pPr>
            <a:endParaRPr lang="es-ES">
              <a:solidFill>
                <a:srgbClr val="5A5A4C"/>
              </a:solidFill>
              <a:ea typeface="+mn-lt"/>
              <a:cs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0C4AB94-FF3E-8B2C-12AD-7C437F50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625" y="1131296"/>
            <a:ext cx="2969055" cy="460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262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580FE9D2-D410-D6DB-049E-B24CA0DFA53B}"/>
              </a:ext>
            </a:extLst>
          </p:cNvPr>
          <p:cNvSpPr txBox="1">
            <a:spLocks/>
          </p:cNvSpPr>
          <p:nvPr/>
        </p:nvSpPr>
        <p:spPr>
          <a:xfrm>
            <a:off x="4975361" y="471210"/>
            <a:ext cx="4916775" cy="46968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indent="-227965"/>
            <a:r>
              <a:rPr lang="es-CL" sz="3200">
                <a:latin typeface="Arial"/>
                <a:ea typeface="+mn-lt"/>
                <a:cs typeface="+mn-lt"/>
              </a:rPr>
              <a:t>Diseño y Arquitectura</a:t>
            </a:r>
            <a:endParaRPr lang="es-ES"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DCFF1C61-4ACD-5AAA-4E03-5BF2A25960E2}"/>
              </a:ext>
            </a:extLst>
          </p:cNvPr>
          <p:cNvSpPr/>
          <p:nvPr/>
        </p:nvSpPr>
        <p:spPr>
          <a:xfrm>
            <a:off x="4974742" y="1240046"/>
            <a:ext cx="6489898" cy="48582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s-ES" sz="2400" b="1">
                <a:latin typeface="Arial"/>
                <a:ea typeface="+mn-lt"/>
                <a:cs typeface="Arial"/>
              </a:rPr>
              <a:t>ESCALABILIDAD</a:t>
            </a:r>
            <a:endParaRPr lang="es-ES" sz="240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 algn="just"/>
            <a:r>
              <a:rPr lang="es-ES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Asegurar que los microservicios puedan escalar horizontalmente para manejar incrementos en</a:t>
            </a:r>
            <a:r>
              <a:rPr lang="es-ES">
                <a:latin typeface="Montserrat"/>
                <a:ea typeface="+mn-lt"/>
                <a:cs typeface="Arial"/>
              </a:rPr>
              <a:t> </a:t>
            </a:r>
            <a:r>
              <a:rPr lang="es-ES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la carga de trabajo.</a:t>
            </a:r>
            <a:endParaRPr lang="es-ES">
              <a:solidFill>
                <a:srgbClr val="000000"/>
              </a:solidFill>
              <a:latin typeface="Montserrat"/>
              <a:cs typeface="Arial"/>
            </a:endParaRPr>
          </a:p>
          <a:p>
            <a:pPr algn="just"/>
            <a:endParaRPr lang="es-ES">
              <a:latin typeface="Montserrat"/>
              <a:ea typeface="+mn-lt"/>
              <a:cs typeface="Arial"/>
            </a:endParaRPr>
          </a:p>
          <a:p>
            <a:pPr algn="just"/>
            <a:r>
              <a:rPr lang="es-ES" sz="2000" b="1">
                <a:latin typeface="Arial"/>
                <a:ea typeface="+mn-lt"/>
                <a:cs typeface="Arial"/>
              </a:rPr>
              <a:t>RENDIMIENTO</a:t>
            </a:r>
            <a:endParaRPr lang="es-ES" sz="200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 algn="just"/>
            <a:r>
              <a:rPr lang="es-ES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Optimizar el rendimiento de los microservicios para reducir la latencia y mejorar la eficiencia general del sistema.</a:t>
            </a:r>
            <a:endParaRPr lang="es-ES">
              <a:solidFill>
                <a:srgbClr val="000000"/>
              </a:solidFill>
              <a:latin typeface="Montserrat"/>
              <a:cs typeface="Arial"/>
            </a:endParaRPr>
          </a:p>
          <a:p>
            <a:pPr algn="just"/>
            <a:endParaRPr lang="es-ES" b="1">
              <a:latin typeface="Montserrat"/>
              <a:ea typeface="+mn-lt"/>
              <a:cs typeface="Arial"/>
            </a:endParaRPr>
          </a:p>
          <a:p>
            <a:pPr algn="just"/>
            <a:r>
              <a:rPr lang="es-ES" sz="2000" b="1">
                <a:latin typeface="Arial"/>
                <a:ea typeface="+mn-lt"/>
                <a:cs typeface="Arial"/>
              </a:rPr>
              <a:t>MONITOREO Y LOGS</a:t>
            </a:r>
            <a:endParaRPr lang="es-ES" sz="2000">
              <a:latin typeface="Arial"/>
              <a:ea typeface="+mn-lt"/>
              <a:cs typeface="Arial"/>
            </a:endParaRPr>
          </a:p>
          <a:p>
            <a:pPr algn="just"/>
            <a:r>
              <a:rPr lang="es-ES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Configurar herramientas de monitoreo y </a:t>
            </a:r>
            <a:r>
              <a:rPr lang="es-ES" err="1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logging</a:t>
            </a:r>
            <a:r>
              <a:rPr lang="es-ES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 para rastrear el rendimiento y detectar problemas en tiempo real (</a:t>
            </a:r>
            <a:r>
              <a:rPr lang="es-ES" err="1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e.g</a:t>
            </a:r>
            <a:r>
              <a:rPr lang="es-ES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., </a:t>
            </a:r>
            <a:r>
              <a:rPr lang="es-ES" err="1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Prometheus</a:t>
            </a:r>
            <a:r>
              <a:rPr lang="es-ES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, ELK </a:t>
            </a:r>
            <a:r>
              <a:rPr lang="es-ES" err="1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Stack</a:t>
            </a:r>
            <a:r>
              <a:rPr lang="es-ES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).</a:t>
            </a:r>
            <a:endParaRPr lang="es-ES">
              <a:latin typeface="Montserrat"/>
            </a:endParaRPr>
          </a:p>
          <a:p>
            <a:pPr algn="just"/>
            <a:endParaRPr lang="es-ES" b="1">
              <a:solidFill>
                <a:srgbClr val="000000"/>
              </a:solidFill>
              <a:latin typeface="Arial"/>
            </a:endParaRPr>
          </a:p>
          <a:p>
            <a:pPr algn="just">
              <a:spcBef>
                <a:spcPts val="663"/>
              </a:spcBef>
            </a:pPr>
            <a:endParaRPr lang="es-ES">
              <a:solidFill>
                <a:srgbClr val="5A5A4C"/>
              </a:solidFill>
              <a:ea typeface="+mn-lt"/>
              <a:cs typeface="+mn-lt"/>
            </a:endParaRPr>
          </a:p>
        </p:txBody>
      </p:sp>
      <p:pic>
        <p:nvPicPr>
          <p:cNvPr id="2" name="Imagen 1" descr="Diagrama&#10;&#10;Descripción generada automáticamente">
            <a:extLst>
              <a:ext uri="{FF2B5EF4-FFF2-40B4-BE49-F238E27FC236}">
                <a16:creationId xmlns:a16="http://schemas.microsoft.com/office/drawing/2014/main" id="{A8747755-B99E-43E6-205C-5D5A6A693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065" y="1148166"/>
            <a:ext cx="3153259" cy="456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35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580FE9D2-D410-D6DB-049E-B24CA0DFA53B}"/>
              </a:ext>
            </a:extLst>
          </p:cNvPr>
          <p:cNvSpPr txBox="1">
            <a:spLocks/>
          </p:cNvSpPr>
          <p:nvPr/>
        </p:nvSpPr>
        <p:spPr>
          <a:xfrm>
            <a:off x="4975361" y="471210"/>
            <a:ext cx="4916775" cy="46968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indent="-227965"/>
            <a:r>
              <a:rPr lang="es-CL" sz="3200">
                <a:latin typeface="Arial"/>
                <a:ea typeface="+mn-lt"/>
                <a:cs typeface="+mn-lt"/>
              </a:rPr>
              <a:t>Seguridad</a:t>
            </a:r>
            <a:endParaRPr lang="es-ES"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DCFF1C61-4ACD-5AAA-4E03-5BF2A25960E2}"/>
              </a:ext>
            </a:extLst>
          </p:cNvPr>
          <p:cNvSpPr/>
          <p:nvPr/>
        </p:nvSpPr>
        <p:spPr>
          <a:xfrm>
            <a:off x="4974742" y="1240046"/>
            <a:ext cx="6489898" cy="48582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s-ES" sz="2000" b="1">
                <a:latin typeface="Arial"/>
                <a:ea typeface="+mn-lt"/>
                <a:cs typeface="Arial"/>
              </a:rPr>
              <a:t>AUTENTICACIÓN</a:t>
            </a:r>
            <a:r>
              <a:rPr lang="es-ES" sz="2000" b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 Y AUTORIZACIÓN</a:t>
            </a:r>
            <a:endParaRPr lang="es-ES" sz="2000">
              <a:solidFill>
                <a:srgbClr val="000000"/>
              </a:solidFill>
              <a:latin typeface="Montserrat"/>
              <a:ea typeface="+mn-lt"/>
              <a:cs typeface="Arial"/>
            </a:endParaRPr>
          </a:p>
          <a:p>
            <a:pPr algn="just"/>
            <a:r>
              <a:rPr lang="es-ES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Implementar mecanismos robustos de autenticación y autorización para proteger el acceso a los microservicios.</a:t>
            </a:r>
            <a:endParaRPr lang="es-ES">
              <a:latin typeface="Montserrat"/>
              <a:cs typeface="Arial"/>
            </a:endParaRPr>
          </a:p>
          <a:p>
            <a:pPr algn="just"/>
            <a:endParaRPr lang="es-ES" sz="2000">
              <a:latin typeface="Montserrat"/>
              <a:ea typeface="+mn-lt"/>
              <a:cs typeface="Arial"/>
            </a:endParaRPr>
          </a:p>
          <a:p>
            <a:pPr algn="just"/>
            <a:endParaRPr lang="es-ES" sz="2000" b="1">
              <a:latin typeface="Montserrat"/>
              <a:ea typeface="+mn-lt"/>
              <a:cs typeface="Arial"/>
            </a:endParaRPr>
          </a:p>
          <a:p>
            <a:pPr algn="just"/>
            <a:endParaRPr lang="es-ES" sz="2000" b="1">
              <a:latin typeface="Montserrat"/>
              <a:ea typeface="+mn-lt"/>
              <a:cs typeface="Arial"/>
            </a:endParaRPr>
          </a:p>
          <a:p>
            <a:pPr algn="just"/>
            <a:r>
              <a:rPr lang="es-ES" sz="2000" b="1">
                <a:latin typeface="Arial"/>
                <a:ea typeface="+mn-lt"/>
                <a:cs typeface="Arial"/>
              </a:rPr>
              <a:t>GESTIÓN </a:t>
            </a:r>
            <a:r>
              <a:rPr lang="es-ES" sz="2000" b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DE SECRETOS (SECRET KEY)</a:t>
            </a:r>
            <a:endParaRPr lang="es-ES" sz="2000" b="1">
              <a:solidFill>
                <a:srgbClr val="000000"/>
              </a:solidFill>
              <a:latin typeface="Montserrat"/>
              <a:ea typeface="+mn-lt"/>
              <a:cs typeface="Arial"/>
            </a:endParaRPr>
          </a:p>
          <a:p>
            <a:pPr algn="just"/>
            <a:r>
              <a:rPr lang="es-ES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Utilizar herramientas y prácticas para la gestión segura de secretos y credenciales (</a:t>
            </a:r>
            <a:r>
              <a:rPr lang="es-ES" err="1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e.g</a:t>
            </a:r>
            <a:r>
              <a:rPr lang="es-ES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., </a:t>
            </a:r>
            <a:r>
              <a:rPr lang="es-ES" err="1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Vault</a:t>
            </a:r>
            <a:r>
              <a:rPr lang="es-ES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, AWS </a:t>
            </a:r>
            <a:r>
              <a:rPr lang="es-ES" err="1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Secrets</a:t>
            </a:r>
            <a:r>
              <a:rPr lang="es-ES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 Manager).</a:t>
            </a:r>
            <a:endParaRPr lang="es-ES">
              <a:latin typeface="Montserrat"/>
              <a:cs typeface="Arial"/>
            </a:endParaRPr>
          </a:p>
          <a:p>
            <a:pPr algn="just"/>
            <a:endParaRPr lang="es-ES" sz="2000" b="1">
              <a:latin typeface="Arial"/>
              <a:cs typeface="Arial"/>
            </a:endParaRPr>
          </a:p>
          <a:p>
            <a:pPr algn="just"/>
            <a:endParaRPr lang="es-ES" b="1">
              <a:solidFill>
                <a:srgbClr val="000000"/>
              </a:solidFill>
              <a:latin typeface="Arial"/>
            </a:endParaRPr>
          </a:p>
          <a:p>
            <a:pPr algn="just">
              <a:spcBef>
                <a:spcPts val="663"/>
              </a:spcBef>
            </a:pPr>
            <a:endParaRPr lang="es-ES">
              <a:solidFill>
                <a:srgbClr val="5A5A4C"/>
              </a:solidFill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CBE0C65-D314-DB7F-B54B-CF544E3B8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897" y="1316307"/>
            <a:ext cx="3426579" cy="422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356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580FE9D2-D410-D6DB-049E-B24CA0DFA53B}"/>
              </a:ext>
            </a:extLst>
          </p:cNvPr>
          <p:cNvSpPr txBox="1">
            <a:spLocks/>
          </p:cNvSpPr>
          <p:nvPr/>
        </p:nvSpPr>
        <p:spPr>
          <a:xfrm>
            <a:off x="4975361" y="471210"/>
            <a:ext cx="6492436" cy="39219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indent="-227965"/>
            <a:r>
              <a:rPr lang="es-CL" sz="3200">
                <a:latin typeface="Arial"/>
                <a:ea typeface="+mn-lt"/>
                <a:cs typeface="+mn-lt"/>
              </a:rPr>
              <a:t>Colaboración y Comunicación</a:t>
            </a:r>
            <a:endParaRPr lang="es-ES">
              <a:latin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DCFF1C61-4ACD-5AAA-4E03-5BF2A25960E2}"/>
              </a:ext>
            </a:extLst>
          </p:cNvPr>
          <p:cNvSpPr/>
          <p:nvPr/>
        </p:nvSpPr>
        <p:spPr>
          <a:xfrm>
            <a:off x="4974742" y="1240046"/>
            <a:ext cx="6489898" cy="48582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s-ES" sz="2000" b="1" dirty="0">
                <a:latin typeface="Arial"/>
                <a:ea typeface="+mn-lt"/>
                <a:cs typeface="Arial"/>
              </a:rPr>
              <a:t>DOCUMENTACIÓN</a:t>
            </a:r>
          </a:p>
          <a:p>
            <a:pPr algn="just"/>
            <a:r>
              <a:rPr lang="es-ES" dirty="0">
                <a:latin typeface="Montserrat"/>
                <a:ea typeface="+mn-lt"/>
                <a:cs typeface="Arial"/>
              </a:rPr>
              <a:t>Mantener una documentación clara y actualizada </a:t>
            </a:r>
            <a:r>
              <a:rPr lang="es-ES" dirty="0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de las API y la arquitectura de los microservicios para facilitar la colaboración con otros desarrolladores y equipos.</a:t>
            </a:r>
            <a:endParaRPr lang="es-ES" dirty="0">
              <a:latin typeface="Montserrat"/>
            </a:endParaRPr>
          </a:p>
          <a:p>
            <a:pPr algn="just"/>
            <a:endParaRPr lang="es-ES" sz="2000" b="1">
              <a:latin typeface="Arial"/>
              <a:ea typeface="+mn-lt"/>
              <a:cs typeface="Arial"/>
            </a:endParaRPr>
          </a:p>
          <a:p>
            <a:pPr algn="just"/>
            <a:endParaRPr lang="es-ES" sz="2000" b="1">
              <a:latin typeface="Arial"/>
              <a:ea typeface="+mn-lt"/>
              <a:cs typeface="Arial"/>
            </a:endParaRPr>
          </a:p>
          <a:p>
            <a:pPr algn="just"/>
            <a:r>
              <a:rPr lang="es-ES" sz="2000" b="1" dirty="0">
                <a:latin typeface="Arial"/>
                <a:ea typeface="+mn-lt"/>
                <a:cs typeface="Arial"/>
              </a:rPr>
              <a:t>COLABORACIÓN CON OTROS EQUIPO</a:t>
            </a:r>
          </a:p>
          <a:p>
            <a:pPr algn="just"/>
            <a:r>
              <a:rPr lang="es-ES" dirty="0">
                <a:latin typeface="Montserrat"/>
                <a:ea typeface="+mn-lt"/>
                <a:cs typeface="Arial"/>
              </a:rPr>
              <a:t>Trabajar estrechamente con equipos de </a:t>
            </a:r>
            <a:r>
              <a:rPr lang="es-ES" dirty="0" err="1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frontend</a:t>
            </a:r>
            <a:r>
              <a:rPr lang="es-ES" dirty="0">
                <a:solidFill>
                  <a:srgbClr val="000000"/>
                </a:solidFill>
                <a:latin typeface="Montserrat"/>
                <a:ea typeface="+mn-lt"/>
                <a:cs typeface="Arial"/>
              </a:rPr>
              <a:t>, DevOps, y QA para asegurar una integración fluida y resolver cualquier problema que surja durante el desarrollo y despliegue.</a:t>
            </a:r>
            <a:endParaRPr lang="es-ES" dirty="0">
              <a:latin typeface="Montserrat"/>
            </a:endParaRPr>
          </a:p>
          <a:p>
            <a:pPr algn="just"/>
            <a:endParaRPr lang="es-ES" sz="2000" b="1">
              <a:latin typeface="Arial"/>
              <a:cs typeface="Arial"/>
            </a:endParaRPr>
          </a:p>
          <a:p>
            <a:pPr algn="just"/>
            <a:endParaRPr lang="es-ES" sz="2000" b="1">
              <a:latin typeface="Arial"/>
              <a:cs typeface="Arial"/>
            </a:endParaRPr>
          </a:p>
          <a:p>
            <a:pPr algn="just"/>
            <a:endParaRPr lang="es-ES" b="1">
              <a:solidFill>
                <a:srgbClr val="000000"/>
              </a:solidFill>
              <a:latin typeface="Arial"/>
            </a:endParaRPr>
          </a:p>
          <a:p>
            <a:pPr algn="just">
              <a:spcBef>
                <a:spcPts val="663"/>
              </a:spcBef>
            </a:pPr>
            <a:endParaRPr lang="es-ES">
              <a:solidFill>
                <a:srgbClr val="5A5A4C"/>
              </a:solidFill>
              <a:ea typeface="+mn-lt"/>
              <a:cs typeface="+mn-lt"/>
            </a:endParaRPr>
          </a:p>
        </p:txBody>
      </p:sp>
      <p:pic>
        <p:nvPicPr>
          <p:cNvPr id="3" name="Imagen 2" descr="Un grupo de personas en un salón de clases&#10;&#10;Descripción generada automáticamente">
            <a:extLst>
              <a:ext uri="{FF2B5EF4-FFF2-40B4-BE49-F238E27FC236}">
                <a16:creationId xmlns:a16="http://schemas.microsoft.com/office/drawing/2014/main" id="{AE5A7917-AEF6-7348-E508-C7424BA1C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2" y="1555723"/>
            <a:ext cx="3483245" cy="374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675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75D5F-3083-1EF5-C86C-E4F5A64AC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8659" y="2569580"/>
            <a:ext cx="3649725" cy="2129742"/>
          </a:xfrm>
        </p:spPr>
        <p:txBody>
          <a:bodyPr>
            <a:normAutofit/>
          </a:bodyPr>
          <a:lstStyle/>
          <a:p>
            <a:r>
              <a:rPr lang="es-ES" sz="2800" dirty="0" err="1">
                <a:latin typeface="Arial"/>
                <a:cs typeface="Arial"/>
              </a:rPr>
              <a:t>Roadmap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708717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10860064" cy="5949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 err="1">
                <a:latin typeface="Arial"/>
                <a:cs typeface="Arial"/>
              </a:rPr>
              <a:t>Roadmap</a:t>
            </a:r>
            <a:endParaRPr lang="es-E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14B708-B034-DE07-667B-0AA1F2B68EEB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502285" y="1329085"/>
            <a:ext cx="4717072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b="1">
                <a:latin typeface="Arial"/>
                <a:cs typeface="Arial"/>
              </a:rPr>
              <a:t>roadmap.sh </a:t>
            </a:r>
            <a:r>
              <a:rPr lang="es-ES" sz="1800">
                <a:latin typeface="Arial"/>
                <a:cs typeface="Arial"/>
              </a:rPr>
              <a:t>es </a:t>
            </a:r>
            <a:r>
              <a:rPr lang="es-ES" sz="1800">
                <a:solidFill>
                  <a:srgbClr val="000000"/>
                </a:solidFill>
                <a:latin typeface="Arial"/>
                <a:cs typeface="Arial"/>
              </a:rPr>
              <a:t>una plataforma </a:t>
            </a:r>
            <a:r>
              <a:rPr lang="es-ES" sz="1800">
                <a:latin typeface="Arial"/>
                <a:cs typeface="Arial"/>
              </a:rPr>
              <a:t>que proporciona </a:t>
            </a:r>
            <a:r>
              <a:rPr lang="es-ES" sz="1800" err="1">
                <a:latin typeface="Arial"/>
                <a:cs typeface="Arial"/>
              </a:rPr>
              <a:t>roadmaps</a:t>
            </a:r>
            <a:r>
              <a:rPr lang="es-ES" sz="1800">
                <a:latin typeface="Arial"/>
                <a:cs typeface="Arial"/>
              </a:rPr>
              <a:t> y</a:t>
            </a:r>
            <a:r>
              <a:rPr lang="es-ES" sz="1800" b="1">
                <a:solidFill>
                  <a:srgbClr val="4E7CDD"/>
                </a:solidFill>
                <a:latin typeface="Arial"/>
                <a:cs typeface="Arial"/>
              </a:rPr>
              <a:t> guías para ayudar a los desarrolladores a aprender y mejorar sus habilidades </a:t>
            </a:r>
            <a:r>
              <a:rPr lang="es-ES" sz="1800">
                <a:latin typeface="Arial"/>
                <a:cs typeface="Arial"/>
              </a:rPr>
              <a:t>en diferentes áreas de la programación.</a:t>
            </a:r>
            <a:endParaRPr lang="es-ES" sz="1800"/>
          </a:p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s-ES" sz="1800">
              <a:latin typeface="Arial"/>
              <a:cs typeface="Arial"/>
            </a:endParaRPr>
          </a:p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b="1">
                <a:solidFill>
                  <a:srgbClr val="4E7CDD"/>
                </a:solidFill>
                <a:latin typeface="Arial"/>
                <a:cs typeface="Arial"/>
              </a:rPr>
              <a:t>Ir a roadmap.sh y ver la ruta de </a:t>
            </a:r>
            <a:r>
              <a:rPr lang="es-ES" sz="1800" b="1" err="1">
                <a:solidFill>
                  <a:srgbClr val="4E7CDD"/>
                </a:solidFill>
                <a:latin typeface="Arial"/>
                <a:cs typeface="Arial"/>
              </a:rPr>
              <a:t>backend</a:t>
            </a:r>
            <a:r>
              <a:rPr lang="es-ES" sz="1800" b="1">
                <a:solidFill>
                  <a:srgbClr val="4E7CDD"/>
                </a:solidFill>
                <a:latin typeface="Arial"/>
                <a:cs typeface="Arial"/>
              </a:rPr>
              <a:t>, </a:t>
            </a:r>
            <a:r>
              <a:rPr lang="es-ES" sz="1800" b="1" err="1">
                <a:solidFill>
                  <a:srgbClr val="4E7CDD"/>
                </a:solidFill>
                <a:latin typeface="Arial"/>
                <a:cs typeface="Arial"/>
              </a:rPr>
              <a:t>frontend</a:t>
            </a:r>
            <a:r>
              <a:rPr lang="es-ES" sz="1800" b="1">
                <a:solidFill>
                  <a:srgbClr val="4E7CDD"/>
                </a:solidFill>
                <a:latin typeface="Arial"/>
                <a:cs typeface="Arial"/>
              </a:rPr>
              <a:t> y </a:t>
            </a:r>
            <a:r>
              <a:rPr lang="es-ES" sz="1800" b="1" err="1">
                <a:solidFill>
                  <a:srgbClr val="4E7CDD"/>
                </a:solidFill>
                <a:latin typeface="Arial"/>
                <a:cs typeface="Arial"/>
              </a:rPr>
              <a:t>fullstack</a:t>
            </a:r>
            <a:r>
              <a:rPr lang="es-ES" sz="1800" b="1">
                <a:solidFill>
                  <a:srgbClr val="4E7CDD"/>
                </a:solidFill>
                <a:latin typeface="Arial"/>
                <a:cs typeface="Arial"/>
              </a:rPr>
              <a:t>.</a:t>
            </a:r>
            <a:endParaRPr lang="es-ES" sz="1800" b="1">
              <a:solidFill>
                <a:srgbClr val="4E7CDD"/>
              </a:solidFill>
            </a:endParaRPr>
          </a:p>
        </p:txBody>
      </p:sp>
      <p:pic>
        <p:nvPicPr>
          <p:cNvPr id="8" name="Imagen 7" descr="Una captura de pantalla de un celular&#10;&#10;Descripción generada automáticamente">
            <a:extLst>
              <a:ext uri="{FF2B5EF4-FFF2-40B4-BE49-F238E27FC236}">
                <a16:creationId xmlns:a16="http://schemas.microsoft.com/office/drawing/2014/main" id="{BB3DFC34-6BBF-F263-41C5-7B22A4EEE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125" y="1163548"/>
            <a:ext cx="6130830" cy="4533490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C3CBD0A-9444-626E-C3C6-10D6358CB755}"/>
              </a:ext>
            </a:extLst>
          </p:cNvPr>
          <p:cNvSpPr/>
          <p:nvPr/>
        </p:nvSpPr>
        <p:spPr>
          <a:xfrm>
            <a:off x="1292037" y="5102874"/>
            <a:ext cx="3138406" cy="761999"/>
          </a:xfrm>
          <a:prstGeom prst="roundRect">
            <a:avLst/>
          </a:prstGeom>
          <a:solidFill>
            <a:srgbClr val="FFC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IR A ROADMAP.SH</a:t>
            </a:r>
          </a:p>
        </p:txBody>
      </p:sp>
    </p:spTree>
    <p:extLst>
      <p:ext uri="{BB962C8B-B14F-4D97-AF65-F5344CB8AC3E}">
        <p14:creationId xmlns:p14="http://schemas.microsoft.com/office/powerpoint/2010/main" val="3414320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F757B03-9327-B144-36A0-D0C118A7A2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6933" y="405838"/>
            <a:ext cx="9950695" cy="100162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CL" dirty="0">
                <a:latin typeface="Arial"/>
                <a:cs typeface="Arial"/>
              </a:rPr>
              <a:t>Reflexiones Finales 	que se pueden incluir o comenzar en la siguiente sesión</a:t>
            </a:r>
            <a:endParaRPr lang="es-E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7F7EEB-2ADB-7C29-8C28-6EBF23714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1649" y="1999761"/>
            <a:ext cx="6667744" cy="3743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</a:pPr>
            <a:r>
              <a:rPr lang="es-ES" sz="1600" b="1" dirty="0">
                <a:latin typeface="Montserrat"/>
                <a:cs typeface="Arial"/>
              </a:rPr>
              <a:t>¿Por qué es importante que un desarrollador </a:t>
            </a:r>
            <a:r>
              <a:rPr lang="es-ES" sz="1600" b="1" dirty="0" err="1">
                <a:latin typeface="Montserrat"/>
                <a:cs typeface="Arial"/>
              </a:rPr>
              <a:t>Fullstack</a:t>
            </a:r>
            <a:r>
              <a:rPr lang="es-ES" sz="1600" b="1" dirty="0">
                <a:latin typeface="Montserrat"/>
                <a:cs typeface="Arial"/>
              </a:rPr>
              <a:t> tenga conocimientos tanto de </a:t>
            </a:r>
            <a:r>
              <a:rPr lang="es-ES" sz="1600" b="1" dirty="0" err="1">
                <a:latin typeface="Montserrat"/>
                <a:cs typeface="Arial"/>
              </a:rPr>
              <a:t>frontend</a:t>
            </a:r>
            <a:r>
              <a:rPr lang="es-ES" sz="1600" b="1" dirty="0">
                <a:latin typeface="Montserrat"/>
                <a:cs typeface="Arial"/>
              </a:rPr>
              <a:t> como de </a:t>
            </a:r>
            <a:r>
              <a:rPr lang="es-ES" sz="1600" b="1" dirty="0" err="1">
                <a:latin typeface="Montserrat"/>
                <a:cs typeface="Arial"/>
              </a:rPr>
              <a:t>backend</a:t>
            </a:r>
            <a:r>
              <a:rPr lang="es-ES" sz="1600" b="1" dirty="0">
                <a:latin typeface="Montserrat"/>
                <a:cs typeface="Arial"/>
              </a:rPr>
              <a:t>?</a:t>
            </a:r>
            <a:endParaRPr lang="es-ES" sz="1600" b="1" dirty="0">
              <a:latin typeface="Montserrat"/>
            </a:endParaRPr>
          </a:p>
          <a:p>
            <a:pPr marL="285750" indent="-28575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</a:pPr>
            <a:r>
              <a:rPr lang="es-ES" sz="1600" b="1" dirty="0">
                <a:latin typeface="Montserrat"/>
                <a:cs typeface="Arial"/>
              </a:rPr>
              <a:t>¿Cuáles son las principales tecnologías y lenguajes utilizados en el desarrollo </a:t>
            </a:r>
            <a:r>
              <a:rPr lang="es-ES" sz="1600" b="1" dirty="0" err="1">
                <a:latin typeface="Montserrat"/>
                <a:cs typeface="Arial"/>
              </a:rPr>
              <a:t>frontend</a:t>
            </a:r>
            <a:r>
              <a:rPr lang="es-ES" sz="1600" b="1" dirty="0">
                <a:latin typeface="Montserrat"/>
                <a:cs typeface="Arial"/>
              </a:rPr>
              <a:t>?</a:t>
            </a:r>
            <a:endParaRPr lang="es-ES" dirty="0"/>
          </a:p>
          <a:p>
            <a:pPr marL="285750" indent="-28575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</a:pPr>
            <a:r>
              <a:rPr lang="es-ES" sz="1600" b="1" dirty="0">
                <a:latin typeface="Montserrat"/>
                <a:cs typeface="Arial"/>
              </a:rPr>
              <a:t>¿Por qué es crucial implementar medidas de seguridad y autenticación en el </a:t>
            </a:r>
            <a:r>
              <a:rPr lang="es-ES" sz="1600" b="1" dirty="0" err="1">
                <a:latin typeface="Montserrat"/>
                <a:cs typeface="Arial"/>
              </a:rPr>
              <a:t>backend</a:t>
            </a:r>
            <a:r>
              <a:rPr lang="es-ES" sz="1600" b="1" dirty="0">
                <a:latin typeface="Montserrat"/>
                <a:cs typeface="Arial"/>
              </a:rPr>
              <a:t>?</a:t>
            </a:r>
            <a:endParaRPr lang="es-ES" sz="1600" b="1" dirty="0">
              <a:latin typeface="Montserrat"/>
            </a:endParaRPr>
          </a:p>
          <a:p>
            <a:pPr marL="28575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</a:pPr>
            <a:r>
              <a:rPr lang="es-ES" sz="1600" b="1" dirty="0">
                <a:latin typeface="Montserrat"/>
                <a:cs typeface="Arial"/>
              </a:rPr>
              <a:t>¿Qué es DevOps?</a:t>
            </a:r>
          </a:p>
          <a:p>
            <a:pPr marL="285750" indent="-28575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</a:pPr>
            <a:r>
              <a:rPr lang="es-ES" sz="1600" b="1" dirty="0">
                <a:latin typeface="Montserrat"/>
                <a:cs typeface="Arial"/>
              </a:rPr>
              <a:t>¿Qué recursos ofrece la plataforma roadmap.sh para los desarrolladores?</a:t>
            </a:r>
          </a:p>
        </p:txBody>
      </p:sp>
      <p:pic>
        <p:nvPicPr>
          <p:cNvPr id="5" name="Imagen 4" descr="Un grupo de personas sentadas en una oficina&#10;&#10;Descripción generada automáticamente">
            <a:extLst>
              <a:ext uri="{FF2B5EF4-FFF2-40B4-BE49-F238E27FC236}">
                <a16:creationId xmlns:a16="http://schemas.microsoft.com/office/drawing/2014/main" id="{9B57D2EF-D4A8-2126-F9E4-423CF2A64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933" y="2173789"/>
            <a:ext cx="3445767" cy="339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9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1246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2DF45AB5C1B6D4D8AD2DBFAA75D8CA5" ma:contentTypeVersion="7" ma:contentTypeDescription="Crear nuevo documento." ma:contentTypeScope="" ma:versionID="cd7b01c927de9591ca865b4942ea6ea8">
  <xsd:schema xmlns:xsd="http://www.w3.org/2001/XMLSchema" xmlns:xs="http://www.w3.org/2001/XMLSchema" xmlns:p="http://schemas.microsoft.com/office/2006/metadata/properties" xmlns:ns2="c9312883-1a57-42e3-a13f-7047fc9b9dd7" targetNamespace="http://schemas.microsoft.com/office/2006/metadata/properties" ma:root="true" ma:fieldsID="4d738323a8d35624891f1985e0b6ddaa" ns2:_="">
    <xsd:import namespace="c9312883-1a57-42e3-a13f-7047fc9b9d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312883-1a57-42e3-a13f-7047fc9b9d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086B06A-DD96-4729-8219-5D0BF19B2D1E}"/>
</file>

<file path=customXml/itemProps2.xml><?xml version="1.0" encoding="utf-8"?>
<ds:datastoreItem xmlns:ds="http://schemas.openxmlformats.org/officeDocument/2006/customXml" ds:itemID="{47BD4256-76F8-4EE6-AF14-F39F3CD068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58CA3E-C0DA-46ED-9440-7D10196C7762}">
  <ds:schemaRefs>
    <ds:schemaRef ds:uri="4215e297-5d6e-42b1-b795-55976a17412c"/>
    <ds:schemaRef ds:uri="dbb86751-ad4c-49ff-a33d-b7314027950b"/>
    <ds:schemaRef ds:uri="e1e7bc46-bed0-459f-9452-a76b1c5b695e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537</Words>
  <Application>Microsoft Office PowerPoint</Application>
  <PresentationFormat>Panorámica</PresentationFormat>
  <Paragraphs>79</Paragraphs>
  <Slides>12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Montserrat</vt:lpstr>
      <vt:lpstr>Tema de Office</vt:lpstr>
      <vt:lpstr>DESARROLLO FULSTACK</vt:lpstr>
      <vt:lpstr>Responsabilidades del backend en microservicios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Roadmap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Daniela Osorio C.</dc:creator>
  <cp:lastModifiedBy>Victor Rosendo</cp:lastModifiedBy>
  <cp:revision>21</cp:revision>
  <dcterms:created xsi:type="dcterms:W3CDTF">2024-03-07T18:55:37Z</dcterms:created>
  <dcterms:modified xsi:type="dcterms:W3CDTF">2025-11-08T17:20:42Z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0x010100C2DF45AB5C1B6D4D8AD2DBFAA75D8CA5</vt:lpwstr>
  </property>
  <property fmtid="{D5CDD505-2E9C-101B-9397-08002B2CF9AE}" pid="3" name="MediaServiceImageTags">
    <vt:lpwstr/>
  </property>
</Properties>
</file>