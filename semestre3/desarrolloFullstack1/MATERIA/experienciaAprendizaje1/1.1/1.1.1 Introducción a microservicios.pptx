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7"/>
  </p:notesMasterIdLst>
  <p:sldIdLst>
    <p:sldId id="272" r:id="rId5"/>
    <p:sldId id="259" r:id="rId6"/>
    <p:sldId id="289" r:id="rId7"/>
    <p:sldId id="263" r:id="rId8"/>
    <p:sldId id="279" r:id="rId9"/>
    <p:sldId id="290" r:id="rId10"/>
    <p:sldId id="295" r:id="rId11"/>
    <p:sldId id="264" r:id="rId12"/>
    <p:sldId id="300" r:id="rId13"/>
    <p:sldId id="298" r:id="rId14"/>
    <p:sldId id="301" r:id="rId15"/>
    <p:sldId id="270" r:id="rId16"/>
    <p:sldId id="293" r:id="rId17"/>
    <p:sldId id="302" r:id="rId18"/>
    <p:sldId id="292" r:id="rId19"/>
    <p:sldId id="283" r:id="rId20"/>
    <p:sldId id="271" r:id="rId21"/>
    <p:sldId id="299" r:id="rId22"/>
    <p:sldId id="307" r:id="rId23"/>
    <p:sldId id="277" r:id="rId24"/>
    <p:sldId id="303" r:id="rId25"/>
    <p:sldId id="261" r:id="rId26"/>
  </p:sldIdLst>
  <p:sldSz cx="12192000" cy="6858000"/>
  <p:notesSz cx="6858000" cy="9144000"/>
  <p:defaultTextStyle>
    <a:defPPr>
      <a:defRPr lang="es-CL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7CDD"/>
    <a:srgbClr val="EE7623"/>
    <a:srgbClr val="BB0034"/>
    <a:srgbClr val="9B50C0"/>
    <a:srgbClr val="F9B7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57" autoAdjust="0"/>
    <p:restoredTop sz="86467" autoAdjust="0"/>
  </p:normalViewPr>
  <p:slideViewPr>
    <p:cSldViewPr snapToGrid="0">
      <p:cViewPr varScale="1">
        <p:scale>
          <a:sx n="96" d="100"/>
          <a:sy n="96" d="100"/>
        </p:scale>
        <p:origin x="294" y="84"/>
      </p:cViewPr>
      <p:guideLst/>
    </p:cSldViewPr>
  </p:slideViewPr>
  <p:outlineViewPr>
    <p:cViewPr>
      <p:scale>
        <a:sx n="33" d="100"/>
        <a:sy n="33" d="100"/>
      </p:scale>
      <p:origin x="0" y="-379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7D1C2F-D463-46C8-9FE5-2118D182F13F}" type="datetimeFigureOut">
              <a:rPr lang="es-CL" smtClean="0"/>
              <a:t>10-01-2026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56354-13B1-4AF8-AD16-88106355DB7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9972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54-13B1-4AF8-AD16-88106355DB72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0025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54-13B1-4AF8-AD16-88106355DB72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36250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  <a:p>
            <a:r>
              <a:rPr lang="es-CL" b="1" dirty="0"/>
              <a:t>Arquitectura de microservicios en AWS</a:t>
            </a:r>
          </a:p>
          <a:p>
            <a:endParaRPr lang="es-CL" b="1" dirty="0"/>
          </a:p>
          <a:p>
            <a:r>
              <a:rPr lang="es-CL" dirty="0"/>
              <a:t>Las aplicaciones monolíticas típicas se crean mediante el uso de diferentes capas: una capa de interfaz de usuario (UI), una capa de negocio y una capa de persistencia. La idea central de una arquitectura basada en microservicios es dividir las funcionalidades en unidades </a:t>
            </a:r>
            <a:r>
              <a:rPr lang="es-CL" i="1" dirty="0"/>
              <a:t>verticales</a:t>
            </a:r>
            <a:r>
              <a:rPr lang="es-CL" dirty="0"/>
              <a:t> cohesivas, no mediante capas tecnológicas, sino a través de la implementación de un dominio específico. La siguiente figura representa una arquitectura de referencia para una aplicación de microservicios típica en AWS.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54-13B1-4AF8-AD16-88106355DB72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15953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54-13B1-4AF8-AD16-88106355DB72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0251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54-13B1-4AF8-AD16-88106355DB72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23299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  <a:p>
            <a:r>
              <a:rPr lang="es-CL" dirty="0"/>
              <a:t>https://news.microsoft.com/es-xl/a-un-ano-de-la-pandemia-pymes-chilenas-aceleraron-su-transformacion-digital/</a:t>
            </a:r>
          </a:p>
          <a:p>
            <a:endParaRPr lang="es-CL" dirty="0"/>
          </a:p>
          <a:p>
            <a:endParaRPr lang="es-CL" dirty="0"/>
          </a:p>
          <a:p>
            <a:r>
              <a:rPr lang="es-CL" dirty="0"/>
              <a:t>https://news.microsoft.com/es-xl/el-93-de-las-pymes-chilenas-han-invertido-en-tecnologia-para-facilitar-el-trabajo-remoto/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54-13B1-4AF8-AD16-88106355DB72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782831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54-13B1-4AF8-AD16-88106355DB72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962007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  <a:p>
            <a:r>
              <a:rPr lang="es-CL"/>
              <a:t>https://descubrecomunicacion.com/que-es-backend-y-frontend/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54-13B1-4AF8-AD16-88106355DB72}" type="slidenum">
              <a:rPr lang="es-CL" smtClean="0"/>
              <a:t>20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532511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  <a:p>
            <a:r>
              <a:rPr lang="es-CL" dirty="0"/>
              <a:t>https://news.microsoft.com/es-xl/a-un-ano-de-la-pandemia-pymes-chilenas-aceleraron-su-transformacion-digital/</a:t>
            </a:r>
          </a:p>
          <a:p>
            <a:endParaRPr lang="es-CL" dirty="0"/>
          </a:p>
          <a:p>
            <a:endParaRPr lang="es-CL" dirty="0"/>
          </a:p>
          <a:p>
            <a:r>
              <a:rPr lang="es-CL" dirty="0"/>
              <a:t>https://news.microsoft.com/es-xl/el-93-de-las-pymes-chilenas-han-invertido-en-tecnologia-para-facilitar-el-trabajo-remoto/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54-13B1-4AF8-AD16-88106355DB72}" type="slidenum">
              <a:rPr lang="es-CL" smtClean="0"/>
              <a:t>21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64896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emf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rincip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9057CAB5-419B-D16F-C185-A2D3C653D2A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859053" y="1796807"/>
            <a:ext cx="70965" cy="3264387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A07B88F-3442-88EF-4332-8188DAED77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944993" y="616688"/>
            <a:ext cx="5674686" cy="56671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C350248-3FB5-3C6F-8D72-BDEA02FE930A}"/>
              </a:ext>
            </a:extLst>
          </p:cNvPr>
          <p:cNvSpPr/>
          <p:nvPr userDrawn="1"/>
        </p:nvSpPr>
        <p:spPr>
          <a:xfrm>
            <a:off x="6398549" y="2788646"/>
            <a:ext cx="294796" cy="2947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1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FF0FCBE2-3DBD-0281-D2F5-F0C94CE8BC2D}"/>
              </a:ext>
            </a:extLst>
          </p:cNvPr>
          <p:cNvCxnSpPr>
            <a:cxnSpLocks/>
          </p:cNvCxnSpPr>
          <p:nvPr userDrawn="1"/>
        </p:nvCxnSpPr>
        <p:spPr>
          <a:xfrm>
            <a:off x="6996223" y="4106486"/>
            <a:ext cx="411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título 1">
            <a:extLst>
              <a:ext uri="{FF2B5EF4-FFF2-40B4-BE49-F238E27FC236}">
                <a16:creationId xmlns:a16="http://schemas.microsoft.com/office/drawing/2014/main" id="{F586EB83-3340-7C71-15A1-A44304B300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15809" y="2601411"/>
            <a:ext cx="4377817" cy="13060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Holder 3">
            <a:extLst>
              <a:ext uri="{FF2B5EF4-FFF2-40B4-BE49-F238E27FC236}">
                <a16:creationId xmlns:a16="http://schemas.microsoft.com/office/drawing/2014/main" id="{3F9325FC-E030-BCB8-203E-374A8BE898B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937285" y="4305507"/>
            <a:ext cx="4356341" cy="614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52E45F7-DBA7-0067-88AC-2B33C1A8CB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168812" y="1206961"/>
            <a:ext cx="3375906" cy="54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120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 dirty="0"/>
              <a:t>01</a:t>
            </a:r>
            <a:endParaRPr lang="es-CL" sz="8000" dirty="0"/>
          </a:p>
        </p:txBody>
      </p:sp>
    </p:spTree>
    <p:extLst>
      <p:ext uri="{BB962C8B-B14F-4D97-AF65-F5344CB8AC3E}">
        <p14:creationId xmlns:p14="http://schemas.microsoft.com/office/powerpoint/2010/main" val="3557603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 dirty="0"/>
              <a:t>02</a:t>
            </a:r>
            <a:endParaRPr lang="es-CL" sz="8000" dirty="0"/>
          </a:p>
        </p:txBody>
      </p:sp>
    </p:spTree>
    <p:extLst>
      <p:ext uri="{BB962C8B-B14F-4D97-AF65-F5344CB8AC3E}">
        <p14:creationId xmlns:p14="http://schemas.microsoft.com/office/powerpoint/2010/main" val="2395459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 dirty="0"/>
              <a:t>03</a:t>
            </a:r>
            <a:endParaRPr lang="es-CL" sz="8000" dirty="0"/>
          </a:p>
        </p:txBody>
      </p:sp>
    </p:spTree>
    <p:extLst>
      <p:ext uri="{BB962C8B-B14F-4D97-AF65-F5344CB8AC3E}">
        <p14:creationId xmlns:p14="http://schemas.microsoft.com/office/powerpoint/2010/main" val="1558819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/>
              <a:t>04</a:t>
            </a:r>
            <a:endParaRPr lang="es-CL" sz="8000" dirty="0"/>
          </a:p>
        </p:txBody>
      </p:sp>
    </p:spTree>
    <p:extLst>
      <p:ext uri="{BB962C8B-B14F-4D97-AF65-F5344CB8AC3E}">
        <p14:creationId xmlns:p14="http://schemas.microsoft.com/office/powerpoint/2010/main" val="787768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26">
            <a:extLst>
              <a:ext uri="{FF2B5EF4-FFF2-40B4-BE49-F238E27FC236}">
                <a16:creationId xmlns:a16="http://schemas.microsoft.com/office/drawing/2014/main" id="{3387B960-FFF9-CB57-ACA9-C9E1213259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4685" y="551041"/>
            <a:ext cx="4916775" cy="469685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MODIFICAR TITULO</a:t>
            </a:r>
            <a:endParaRPr lang="es-CL" dirty="0"/>
          </a:p>
        </p:txBody>
      </p:sp>
      <p:sp>
        <p:nvSpPr>
          <p:cNvPr id="7" name="Marcador de texto 3">
            <a:extLst>
              <a:ext uri="{FF2B5EF4-FFF2-40B4-BE49-F238E27FC236}">
                <a16:creationId xmlns:a16="http://schemas.microsoft.com/office/drawing/2014/main" id="{149A11D1-EAA1-0BB7-CFE5-9056CB346D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715" y="1137571"/>
            <a:ext cx="4930746" cy="553006"/>
          </a:xfrm>
        </p:spPr>
        <p:txBody>
          <a:bodyPr>
            <a:normAutofit/>
          </a:bodyPr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Haz clic para modificar o eliminar bajada</a:t>
            </a:r>
          </a:p>
          <a:p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4BF3825-8CDE-15D1-473C-F04253CD9789}"/>
              </a:ext>
            </a:extLst>
          </p:cNvPr>
          <p:cNvSpPr/>
          <p:nvPr userDrawn="1"/>
        </p:nvSpPr>
        <p:spPr>
          <a:xfrm>
            <a:off x="0" y="0"/>
            <a:ext cx="552893" cy="552893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DBF54666-A2EC-90FE-7052-73357A52AE9A}"/>
              </a:ext>
            </a:extLst>
          </p:cNvPr>
          <p:cNvGrpSpPr/>
          <p:nvPr userDrawn="1"/>
        </p:nvGrpSpPr>
        <p:grpSpPr>
          <a:xfrm>
            <a:off x="10559057" y="6273209"/>
            <a:ext cx="1405082" cy="320986"/>
            <a:chOff x="8941676" y="5879067"/>
            <a:chExt cx="2618425" cy="598170"/>
          </a:xfrm>
        </p:grpSpPr>
        <p:sp>
          <p:nvSpPr>
            <p:cNvPr id="9" name="object 2">
              <a:extLst>
                <a:ext uri="{FF2B5EF4-FFF2-40B4-BE49-F238E27FC236}">
                  <a16:creationId xmlns:a16="http://schemas.microsoft.com/office/drawing/2014/main" id="{371A0572-EF4B-CA79-4539-AA0A2E4CD964}"/>
                </a:ext>
              </a:extLst>
            </p:cNvPr>
            <p:cNvSpPr/>
            <p:nvPr userDrawn="1"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" name="object 3">
              <a:extLst>
                <a:ext uri="{FF2B5EF4-FFF2-40B4-BE49-F238E27FC236}">
                  <a16:creationId xmlns:a16="http://schemas.microsoft.com/office/drawing/2014/main" id="{1BA993DD-B802-B0F6-BB6C-691D8C644DF2}"/>
                </a:ext>
              </a:extLst>
            </p:cNvPr>
            <p:cNvSpPr/>
            <p:nvPr userDrawn="1"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1" name="object 4">
              <a:extLst>
                <a:ext uri="{FF2B5EF4-FFF2-40B4-BE49-F238E27FC236}">
                  <a16:creationId xmlns:a16="http://schemas.microsoft.com/office/drawing/2014/main" id="{C3421982-2587-852B-E105-195C0E7D9D9F}"/>
                </a:ext>
              </a:extLst>
            </p:cNvPr>
            <p:cNvGrpSpPr/>
            <p:nvPr userDrawn="1"/>
          </p:nvGrpSpPr>
          <p:grpSpPr>
            <a:xfrm>
              <a:off x="11114331" y="5879067"/>
              <a:ext cx="445770" cy="598170"/>
              <a:chOff x="18406074" y="10234089"/>
              <a:chExt cx="445770" cy="598170"/>
            </a:xfrm>
          </p:grpSpPr>
          <p:sp>
            <p:nvSpPr>
              <p:cNvPr id="12" name="object 5">
                <a:extLst>
                  <a:ext uri="{FF2B5EF4-FFF2-40B4-BE49-F238E27FC236}">
                    <a16:creationId xmlns:a16="http://schemas.microsoft.com/office/drawing/2014/main" id="{7422255E-C44F-6988-4785-AAC71FA19F3B}"/>
                  </a:ext>
                </a:extLst>
              </p:cNvPr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3" name="object 6">
                <a:extLst>
                  <a:ext uri="{FF2B5EF4-FFF2-40B4-BE49-F238E27FC236}">
                    <a16:creationId xmlns:a16="http://schemas.microsoft.com/office/drawing/2014/main" id="{C9735AE4-9BC0-BA7F-18A3-3B4538726A97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</p:spPr>
          </p:pic>
        </p:grp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0B8A2F42-00CA-3BF5-D8D0-4B68FE7E88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5400000">
            <a:off x="2714468" y="4342374"/>
            <a:ext cx="119408" cy="423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125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97BCC7D-6F08-8B7A-0AE6-494B19B085FA}"/>
              </a:ext>
            </a:extLst>
          </p:cNvPr>
          <p:cNvSpPr/>
          <p:nvPr userDrawn="1"/>
        </p:nvSpPr>
        <p:spPr>
          <a:xfrm>
            <a:off x="0" y="0"/>
            <a:ext cx="4459705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9D0323-C2ED-C0E8-73FE-BEAB8CFEAEB8}"/>
              </a:ext>
            </a:extLst>
          </p:cNvPr>
          <p:cNvSpPr/>
          <p:nvPr userDrawn="1"/>
        </p:nvSpPr>
        <p:spPr>
          <a:xfrm>
            <a:off x="970947" y="900877"/>
            <a:ext cx="3748474" cy="5056245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3A500616-0E5D-9D67-2AD4-83DFD6FEB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 rot="5400000" flipV="1">
            <a:off x="10929134" y="3487483"/>
            <a:ext cx="2392160" cy="133572"/>
          </a:xfrm>
          <a:prstGeom prst="rect">
            <a:avLst/>
          </a:prstGeom>
        </p:spPr>
      </p:pic>
      <p:sp>
        <p:nvSpPr>
          <p:cNvPr id="15" name="Marcador de título 1">
            <a:extLst>
              <a:ext uri="{FF2B5EF4-FFF2-40B4-BE49-F238E27FC236}">
                <a16:creationId xmlns:a16="http://schemas.microsoft.com/office/drawing/2014/main" id="{F57429FB-BAB3-46DE-9370-D3C110C65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77466" y="2219158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4F8D0BB2-7009-A53E-830B-0224847CA3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77466" y="4008906"/>
            <a:ext cx="2805775" cy="746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MX" dirty="0"/>
              <a:t>Haz clic para modificar bajada</a:t>
            </a:r>
            <a:endParaRPr lang="es-CL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30600BA2-FE25-D617-556A-284E126C4526}"/>
              </a:ext>
            </a:extLst>
          </p:cNvPr>
          <p:cNvGrpSpPr/>
          <p:nvPr userDrawn="1"/>
        </p:nvGrpSpPr>
        <p:grpSpPr>
          <a:xfrm>
            <a:off x="10559057" y="6273209"/>
            <a:ext cx="1405082" cy="320986"/>
            <a:chOff x="8941676" y="5879067"/>
            <a:chExt cx="2618425" cy="598170"/>
          </a:xfrm>
        </p:grpSpPr>
        <p:sp>
          <p:nvSpPr>
            <p:cNvPr id="7" name="object 2">
              <a:extLst>
                <a:ext uri="{FF2B5EF4-FFF2-40B4-BE49-F238E27FC236}">
                  <a16:creationId xmlns:a16="http://schemas.microsoft.com/office/drawing/2014/main" id="{214DF2C4-F04D-3C80-781C-59FD036C679C}"/>
                </a:ext>
              </a:extLst>
            </p:cNvPr>
            <p:cNvSpPr/>
            <p:nvPr userDrawn="1"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3">
              <a:extLst>
                <a:ext uri="{FF2B5EF4-FFF2-40B4-BE49-F238E27FC236}">
                  <a16:creationId xmlns:a16="http://schemas.microsoft.com/office/drawing/2014/main" id="{6664B434-EC06-B2A1-112A-CFBBD91843D1}"/>
                </a:ext>
              </a:extLst>
            </p:cNvPr>
            <p:cNvSpPr/>
            <p:nvPr userDrawn="1"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7" name="object 4">
              <a:extLst>
                <a:ext uri="{FF2B5EF4-FFF2-40B4-BE49-F238E27FC236}">
                  <a16:creationId xmlns:a16="http://schemas.microsoft.com/office/drawing/2014/main" id="{78BE0504-3454-CB76-4D2B-96730BFC194F}"/>
                </a:ext>
              </a:extLst>
            </p:cNvPr>
            <p:cNvGrpSpPr/>
            <p:nvPr userDrawn="1"/>
          </p:nvGrpSpPr>
          <p:grpSpPr>
            <a:xfrm>
              <a:off x="11114331" y="5879067"/>
              <a:ext cx="445770" cy="598170"/>
              <a:chOff x="18406074" y="10234089"/>
              <a:chExt cx="445770" cy="598170"/>
            </a:xfrm>
          </p:grpSpPr>
          <p:sp>
            <p:nvSpPr>
              <p:cNvPr id="18" name="object 5">
                <a:extLst>
                  <a:ext uri="{FF2B5EF4-FFF2-40B4-BE49-F238E27FC236}">
                    <a16:creationId xmlns:a16="http://schemas.microsoft.com/office/drawing/2014/main" id="{E08B512B-19D5-31EE-38BB-ECE0FD6B8C78}"/>
                  </a:ext>
                </a:extLst>
              </p:cNvPr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9" name="object 6">
                <a:extLst>
                  <a:ext uri="{FF2B5EF4-FFF2-40B4-BE49-F238E27FC236}">
                    <a16:creationId xmlns:a16="http://schemas.microsoft.com/office/drawing/2014/main" id="{2816031D-2FBD-6D3D-C3AA-EDAC01B1B7B3}"/>
                  </a:ext>
                </a:extLst>
              </p:cNvPr>
              <p:cNvPicPr/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</p:spPr>
          </p:pic>
        </p:grp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9C188DE4-1C8A-750A-9834-317895F22B2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60414" y="1315256"/>
            <a:ext cx="119084" cy="422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869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97BCC7D-6F08-8B7A-0AE6-494B19B085FA}"/>
              </a:ext>
            </a:extLst>
          </p:cNvPr>
          <p:cNvSpPr/>
          <p:nvPr userDrawn="1"/>
        </p:nvSpPr>
        <p:spPr>
          <a:xfrm>
            <a:off x="0" y="0"/>
            <a:ext cx="1155032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CFD1A2D-962B-1B2F-8EFE-116133732487}"/>
              </a:ext>
            </a:extLst>
          </p:cNvPr>
          <p:cNvSpPr/>
          <p:nvPr userDrawn="1"/>
        </p:nvSpPr>
        <p:spPr>
          <a:xfrm>
            <a:off x="485631" y="405838"/>
            <a:ext cx="155636" cy="155636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1"/>
          </a:p>
        </p:txBody>
      </p:sp>
      <p:sp>
        <p:nvSpPr>
          <p:cNvPr id="7" name="Marcador de texto 26">
            <a:extLst>
              <a:ext uri="{FF2B5EF4-FFF2-40B4-BE49-F238E27FC236}">
                <a16:creationId xmlns:a16="http://schemas.microsoft.com/office/drawing/2014/main" id="{FC12E6C9-B6C7-FBEC-A203-87F5181A30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10853" y="405838"/>
            <a:ext cx="4916775" cy="469685"/>
          </a:xfrm>
        </p:spPr>
        <p:txBody>
          <a:bodyPr>
            <a:noAutofit/>
          </a:bodyPr>
          <a:lstStyle>
            <a:lvl1pPr marL="0" indent="0" algn="r">
              <a:buNone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MODIFICAR TITULO</a:t>
            </a:r>
            <a:endParaRPr lang="es-CL" dirty="0"/>
          </a:p>
        </p:txBody>
      </p:sp>
      <p:sp>
        <p:nvSpPr>
          <p:cNvPr id="8" name="Marcador de texto 3">
            <a:extLst>
              <a:ext uri="{FF2B5EF4-FFF2-40B4-BE49-F238E27FC236}">
                <a16:creationId xmlns:a16="http://schemas.microsoft.com/office/drawing/2014/main" id="{1CE8A453-8074-39A1-48E5-2C3C6BECAB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10853" y="976146"/>
            <a:ext cx="4930746" cy="281800"/>
          </a:xfrm>
        </p:spPr>
        <p:txBody>
          <a:bodyPr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Haz clic para modificar o eliminar bajada</a:t>
            </a:r>
          </a:p>
          <a:p>
            <a:endParaRPr lang="es-ES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0D8A9F2-7C34-CC0C-4A65-766C6591434E}"/>
              </a:ext>
            </a:extLst>
          </p:cNvPr>
          <p:cNvSpPr/>
          <p:nvPr userDrawn="1"/>
        </p:nvSpPr>
        <p:spPr>
          <a:xfrm>
            <a:off x="11551912" y="483656"/>
            <a:ext cx="271438" cy="27143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427846E3-6C01-4C3F-2624-7CD8517C9846}"/>
              </a:ext>
            </a:extLst>
          </p:cNvPr>
          <p:cNvGrpSpPr/>
          <p:nvPr userDrawn="1"/>
        </p:nvGrpSpPr>
        <p:grpSpPr>
          <a:xfrm>
            <a:off x="10559057" y="6273209"/>
            <a:ext cx="1405082" cy="320986"/>
            <a:chOff x="8941676" y="5879067"/>
            <a:chExt cx="2618425" cy="598170"/>
          </a:xfrm>
        </p:grpSpPr>
        <p:sp>
          <p:nvSpPr>
            <p:cNvPr id="4" name="object 2">
              <a:extLst>
                <a:ext uri="{FF2B5EF4-FFF2-40B4-BE49-F238E27FC236}">
                  <a16:creationId xmlns:a16="http://schemas.microsoft.com/office/drawing/2014/main" id="{F0FF35D2-A2FC-35AC-0158-8D26446D5854}"/>
                </a:ext>
              </a:extLst>
            </p:cNvPr>
            <p:cNvSpPr/>
            <p:nvPr userDrawn="1"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3">
              <a:extLst>
                <a:ext uri="{FF2B5EF4-FFF2-40B4-BE49-F238E27FC236}">
                  <a16:creationId xmlns:a16="http://schemas.microsoft.com/office/drawing/2014/main" id="{D52EE463-507D-0E89-A698-37B26D93221E}"/>
                </a:ext>
              </a:extLst>
            </p:cNvPr>
            <p:cNvSpPr/>
            <p:nvPr userDrawn="1"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6" name="object 4">
              <a:extLst>
                <a:ext uri="{FF2B5EF4-FFF2-40B4-BE49-F238E27FC236}">
                  <a16:creationId xmlns:a16="http://schemas.microsoft.com/office/drawing/2014/main" id="{6C83F359-2517-926A-B7D0-D64B0F83FC19}"/>
                </a:ext>
              </a:extLst>
            </p:cNvPr>
            <p:cNvGrpSpPr/>
            <p:nvPr userDrawn="1"/>
          </p:nvGrpSpPr>
          <p:grpSpPr>
            <a:xfrm>
              <a:off x="11114331" y="5879067"/>
              <a:ext cx="445770" cy="598170"/>
              <a:chOff x="18406074" y="10234089"/>
              <a:chExt cx="445770" cy="598170"/>
            </a:xfrm>
          </p:grpSpPr>
          <p:sp>
            <p:nvSpPr>
              <p:cNvPr id="18" name="object 5">
                <a:extLst>
                  <a:ext uri="{FF2B5EF4-FFF2-40B4-BE49-F238E27FC236}">
                    <a16:creationId xmlns:a16="http://schemas.microsoft.com/office/drawing/2014/main" id="{21FEE031-C875-38D1-5382-9E6E11778AA5}"/>
                  </a:ext>
                </a:extLst>
              </p:cNvPr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9" name="object 6">
                <a:extLst>
                  <a:ext uri="{FF2B5EF4-FFF2-40B4-BE49-F238E27FC236}">
                    <a16:creationId xmlns:a16="http://schemas.microsoft.com/office/drawing/2014/main" id="{08F0296E-9087-FDE0-9CBF-6E89FE8D4121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</p:spPr>
          </p:pic>
        </p:grp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533ECC16-DB92-D7AB-25D1-63F1F6931C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592" y="2244940"/>
            <a:ext cx="119084" cy="422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603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PA 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95D537A3-771A-B373-471B-2113C671CFBB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9F91E6D1-21AD-8149-634F-39874CDDB05F}"/>
              </a:ext>
            </a:extLst>
          </p:cNvPr>
          <p:cNvGrpSpPr/>
          <p:nvPr userDrawn="1"/>
        </p:nvGrpSpPr>
        <p:grpSpPr>
          <a:xfrm>
            <a:off x="2569595" y="5445627"/>
            <a:ext cx="7052811" cy="563479"/>
            <a:chOff x="1569453" y="5445627"/>
            <a:chExt cx="7052811" cy="563479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5C7F6159-27FC-D37D-6948-67F8EE366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569736" y="5445627"/>
              <a:ext cx="5052528" cy="563479"/>
            </a:xfrm>
            <a:prstGeom prst="rect">
              <a:avLst/>
            </a:prstGeom>
          </p:spPr>
        </p:pic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3051E8F7-021B-497B-A676-8142240D8E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9453" y="5505450"/>
              <a:ext cx="1331493" cy="443831"/>
            </a:xfrm>
            <a:prstGeom prst="rect">
              <a:avLst/>
            </a:prstGeom>
          </p:spPr>
        </p:pic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BA44E097-D359-D78B-4054-E34A9D1A970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097179" y="2291644"/>
            <a:ext cx="3997641" cy="129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390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78C4651-2B5D-EA62-AC04-17BFDE1E2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 dirty="0"/>
              <a:t>Haz clic para modificar el estilo de título del patrón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94B6F9-D351-5B1B-2766-68737957A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L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B60EAB-2F87-323A-DB12-7A3211AAE1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04031C-1D81-E945-A028-78780D1B7DE5}" type="datetimeFigureOut">
              <a:rPr lang="es-CL" smtClean="0"/>
              <a:t>10-01-2026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1700A7-BE34-6E4B-B14E-9AFE52C9C7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9A16B8-55E4-4139-4DE1-4DF901B44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BEC0DC-B55F-A543-ADED-336BFEE3FCE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9302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6" r:id="rId3"/>
    <p:sldLayoutId id="2147483657" r:id="rId4"/>
    <p:sldLayoutId id="2147483655" r:id="rId5"/>
    <p:sldLayoutId id="2147483650" r:id="rId6"/>
    <p:sldLayoutId id="2147483651" r:id="rId7"/>
    <p:sldLayoutId id="2147483653" r:id="rId8"/>
    <p:sldLayoutId id="2147483652" r:id="rId9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jpe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jpe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jpe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DDA3FC-36B2-5E48-53A8-51083BBEE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CL" sz="3600" dirty="0"/>
              <a:t>INTRODUCCIÓN A MICROSERVICIOS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C79772-4F2B-0631-AEB4-ED8B1376406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937285" y="4305507"/>
            <a:ext cx="4356341" cy="793038"/>
          </a:xfrm>
        </p:spPr>
        <p:txBody>
          <a:bodyPr/>
          <a:lstStyle/>
          <a:p>
            <a:pPr marL="0" indent="0">
              <a:buNone/>
            </a:pPr>
            <a:r>
              <a:rPr lang="es-CL" dirty="0"/>
              <a:t>DESARROLLO FULLSTACK I</a:t>
            </a:r>
          </a:p>
          <a:p>
            <a:pPr marL="0" indent="0">
              <a:buNone/>
            </a:pPr>
            <a:r>
              <a:rPr lang="es-CL" dirty="0"/>
              <a:t>DSY1103</a:t>
            </a:r>
          </a:p>
        </p:txBody>
      </p:sp>
    </p:spTree>
    <p:extLst>
      <p:ext uri="{BB962C8B-B14F-4D97-AF65-F5344CB8AC3E}">
        <p14:creationId xmlns:p14="http://schemas.microsoft.com/office/powerpoint/2010/main" val="130920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54050" y="550863"/>
            <a:ext cx="4918075" cy="4699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Contenidos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14B708-B034-DE07-667B-0AA1F2B68EEB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654685" y="1523432"/>
            <a:ext cx="11270093" cy="3330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s-CL" altLang="es-CL" sz="1800" dirty="0">
                <a:latin typeface="Arial"/>
                <a:cs typeface="Arial"/>
              </a:rPr>
              <a:t>¿Qué es la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arquitectura monolítica</a:t>
            </a:r>
            <a:r>
              <a:rPr lang="es-CL" altLang="es-CL" sz="1800" dirty="0">
                <a:latin typeface="Arial"/>
                <a:cs typeface="Arial"/>
              </a:rPr>
              <a:t>?.</a:t>
            </a:r>
            <a:endParaRPr lang="es-CL" altLang="es-CL" sz="1800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28575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s-CL" altLang="es-CL" sz="1800" dirty="0">
                <a:latin typeface="Arial"/>
                <a:cs typeface="Arial"/>
              </a:rPr>
              <a:t>¿Qué es la arquitectura de microservicios?.</a:t>
            </a:r>
            <a:endParaRPr lang="es-ES" sz="1800" dirty="0"/>
          </a:p>
          <a:p>
            <a:pPr marL="285750" indent="-285750" defTabSz="9144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s-CL" altLang="es-CL" sz="1800" dirty="0">
                <a:latin typeface="Arial"/>
                <a:cs typeface="Arial"/>
              </a:rPr>
              <a:t>Ventajas y desventajas de la arquitectura de microservicios.</a:t>
            </a:r>
          </a:p>
          <a:p>
            <a:pPr marL="285750" indent="-285750" defTabSz="9144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s-CL" altLang="es-CL" sz="1800" dirty="0">
                <a:latin typeface="Arial"/>
                <a:cs typeface="Arial"/>
              </a:rPr>
              <a:t>Ventajas y desventajas de la arquitectura monolítica.</a:t>
            </a:r>
          </a:p>
          <a:p>
            <a:pPr marL="28575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s-CL" altLang="es-CL" sz="18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Transición de monolítico a microservicios</a:t>
            </a:r>
          </a:p>
          <a:p>
            <a:pPr marL="28575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s-CL" altLang="es-CL" sz="18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Desarrollador </a:t>
            </a:r>
            <a:r>
              <a:rPr lang="es-CL" altLang="es-CL" sz="1800" b="0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FullStack</a:t>
            </a:r>
            <a:endParaRPr lang="es-CL" altLang="es-CL" sz="18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7106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914B708-B034-DE07-667B-0AA1F2B68EE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976313" y="2198361"/>
            <a:ext cx="10239375" cy="1938992"/>
          </a:xfrm>
          <a:prstGeom prst="rect">
            <a:avLst/>
          </a:prstGeom>
          <a:noFill/>
          <a:ln>
            <a:noFill/>
            <a:prstDash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2800" b="1" i="1" u="none" strike="noStrike" kern="1200" cap="none" spc="0" normalizeH="0" baseline="0" noProof="0" dirty="0">
                <a:ln>
                  <a:noFill/>
                </a:ln>
                <a:solidFill>
                  <a:srgbClr val="4E7CDD"/>
                </a:solidFill>
                <a:effectLst/>
                <a:highlight>
                  <a:srgbClr val="FFFFFF"/>
                </a:highlight>
                <a:uLnTx/>
                <a:uFillTx/>
                <a:latin typeface="Arial"/>
                <a:ea typeface="+mn-ea"/>
                <a:cs typeface="Arial"/>
              </a:rPr>
              <a:t>Desarrollamos rápido para probar</a:t>
            </a:r>
            <a:r>
              <a:rPr kumimoji="0" lang="es-ES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Arial"/>
                <a:ea typeface="+mn-ea"/>
                <a:cs typeface="Arial"/>
              </a:rPr>
              <a:t> los límites de lo que podemos hacer</a:t>
            </a: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NonBreakingSpaceOverride"/>
                <a:ea typeface="+mn-ea"/>
                <a:cs typeface="Arial"/>
              </a:rPr>
              <a:t>. </a:t>
            </a:r>
            <a:endParaRPr kumimoji="0" lang="es-E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NonBreakingSpaceOverride"/>
              <a:ea typeface="+mn-ea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Arial"/>
                <a:ea typeface="+mn-ea"/>
                <a:cs typeface="Arial"/>
              </a:rPr>
              <a:t>– Mark Zuckerberg</a:t>
            </a:r>
            <a:endParaRPr kumimoji="0" lang="es-ES" sz="18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16637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FBB4C7-D01B-3BCB-C12A-831C92914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8872" y="2752716"/>
            <a:ext cx="3807912" cy="1627331"/>
          </a:xfrm>
        </p:spPr>
        <p:txBody>
          <a:bodyPr>
            <a:normAutofit/>
          </a:bodyPr>
          <a:lstStyle/>
          <a:p>
            <a:r>
              <a:rPr lang="es-ES" dirty="0">
                <a:latin typeface="Arial"/>
                <a:cs typeface="Arial"/>
              </a:rPr>
              <a:t>Arquitectura Monolítica</a:t>
            </a:r>
            <a:endParaRPr lang="es-CL" dirty="0"/>
          </a:p>
        </p:txBody>
      </p:sp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0654BC8B-0F61-4D6B-B3E6-E5AE2A5307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0" t="977" r="4750" b="2734"/>
          <a:stretch/>
        </p:blipFill>
        <p:spPr>
          <a:xfrm>
            <a:off x="2576946" y="794993"/>
            <a:ext cx="3807912" cy="5268014"/>
          </a:xfrm>
          <a:prstGeom prst="rect">
            <a:avLst/>
          </a:prstGeom>
          <a:ln w="635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186185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54050" y="550863"/>
            <a:ext cx="6162675" cy="4699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Arquitectura Monolítica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14B708-B034-DE07-667B-0AA1F2B68EEB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303097" y="1207730"/>
            <a:ext cx="11585806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ES" sz="1800" dirty="0"/>
              <a:t>Una aplicación monolítica se caracteriza por tener todos sus </a:t>
            </a:r>
            <a:r>
              <a:rPr lang="es-ES" sz="1800" b="1" dirty="0">
                <a:solidFill>
                  <a:srgbClr val="4E7CDD"/>
                </a:solidFill>
              </a:rPr>
              <a:t>componentes</a:t>
            </a:r>
            <a:r>
              <a:rPr lang="es-ES" sz="1800" dirty="0"/>
              <a:t> integrados en </a:t>
            </a:r>
            <a:r>
              <a:rPr lang="es-ES" sz="1800" b="1" dirty="0">
                <a:solidFill>
                  <a:srgbClr val="4E7CDD"/>
                </a:solidFill>
              </a:rPr>
              <a:t>un solo bloque de código</a:t>
            </a:r>
            <a:r>
              <a:rPr lang="es-ES" sz="1800" dirty="0"/>
              <a:t>.</a:t>
            </a:r>
          </a:p>
          <a:p>
            <a:pPr marL="0" indent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ES" sz="1800" dirty="0"/>
              <a:t>Estas aplicaciones son fáciles de desarrollar, con un despliegue y ejecución sencilla, y su coste de desarrollo es más bajo en comparación con otras arquitecturas.</a:t>
            </a:r>
          </a:p>
          <a:p>
            <a:pPr marL="0" indent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ES" sz="1800" dirty="0"/>
              <a:t>No obstante, presentan desventajas significativas que las hacen una opción cada vez menos preferida en el desarrollo de software moderno.</a:t>
            </a:r>
          </a:p>
          <a:p>
            <a:pPr marL="0" indent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ES" sz="1800" dirty="0"/>
              <a:t>Si un </a:t>
            </a:r>
            <a:r>
              <a:rPr lang="es-ES" sz="1800" b="1" dirty="0">
                <a:solidFill>
                  <a:srgbClr val="4E7CDD"/>
                </a:solidFill>
              </a:rPr>
              <a:t>monolito</a:t>
            </a:r>
            <a:r>
              <a:rPr lang="es-ES" sz="1800" dirty="0"/>
              <a:t> no está bien diseñado en módulos y lo suficientemente desacoplado, según va creciendo el tamaño de la aplicación puede llegar a representar un alto coste por la complejidad del mantenimiento del código (deuda técnica).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1F93741-D6EA-4BF2-9EC4-B735A500C1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000" t="65150"/>
          <a:stretch/>
        </p:blipFill>
        <p:spPr>
          <a:xfrm>
            <a:off x="1224132" y="4832244"/>
            <a:ext cx="9743735" cy="147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246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B911B3A-E75C-DDBD-DCEF-2F45AB1ED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993" y="1803095"/>
            <a:ext cx="3283126" cy="3262250"/>
          </a:xfrm>
          <a:prstGeom prst="rect">
            <a:avLst/>
          </a:prstGeom>
        </p:spPr>
      </p:pic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580FE9D2-D410-D6DB-049E-B24CA0DFA53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975361" y="471210"/>
            <a:ext cx="4916775" cy="46968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Beneficios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5D31DFA-DD02-C147-A0D6-242DAC2AACB2}"/>
              </a:ext>
            </a:extLst>
          </p:cNvPr>
          <p:cNvSpPr/>
          <p:nvPr/>
        </p:nvSpPr>
        <p:spPr>
          <a:xfrm>
            <a:off x="4966013" y="1235775"/>
            <a:ext cx="3941864" cy="2469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</a:pPr>
            <a:r>
              <a:rPr lang="en-US" b="1" dirty="0">
                <a:solidFill>
                  <a:srgbClr val="2A2921"/>
                </a:solidFill>
                <a:latin typeface="Aptos"/>
                <a:ea typeface="+mn-lt"/>
                <a:cs typeface="+mn-lt"/>
              </a:rPr>
              <a:t>FÁCIL DE ENTENDER Y DESARROLLAR</a:t>
            </a:r>
            <a:endParaRPr lang="es-ES" b="1">
              <a:solidFill>
                <a:srgbClr val="5A5A4C"/>
              </a:solidFill>
              <a:latin typeface="Aptos"/>
              <a:ea typeface="+mn-lt"/>
              <a:cs typeface="+mn-lt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DCFF1C61-4ACD-5AAA-4E03-5BF2A25960E2}"/>
              </a:ext>
            </a:extLst>
          </p:cNvPr>
          <p:cNvSpPr/>
          <p:nvPr/>
        </p:nvSpPr>
        <p:spPr>
          <a:xfrm>
            <a:off x="4987657" y="1485435"/>
            <a:ext cx="6489898" cy="6866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ts val="1680"/>
              </a:lnSpc>
              <a:spcBef>
                <a:spcPts val="663"/>
              </a:spcBef>
            </a:pPr>
            <a:r>
              <a:rPr lang="es-ES" sz="1400" dirty="0">
                <a:solidFill>
                  <a:srgbClr val="5A5A4C"/>
                </a:solidFill>
                <a:latin typeface="Montserrat"/>
              </a:rPr>
              <a:t>Las aplicaciones monolíticas son más fáciles de desarrollar, especialmente para equipos pequeños. Todo el código se encuentra en un solo lugar, lo que simplifica la comprensión y el desarrollo.</a:t>
            </a:r>
            <a:endParaRPr lang="es-ES" sz="1400" dirty="0">
              <a:latin typeface="Montserrat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934012E8-21DD-B328-51B8-C45846792FAD}"/>
              </a:ext>
            </a:extLst>
          </p:cNvPr>
          <p:cNvSpPr/>
          <p:nvPr/>
        </p:nvSpPr>
        <p:spPr>
          <a:xfrm>
            <a:off x="4966012" y="2322593"/>
            <a:ext cx="4165982" cy="2469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</a:pPr>
            <a:r>
              <a:rPr lang="en-US" b="1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FACILIDAD DE PRUEBAS Y DEPURACIÓN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A56A3AE4-C850-F9CB-2DB3-B8FE4F7C47F0}"/>
              </a:ext>
            </a:extLst>
          </p:cNvPr>
          <p:cNvSpPr/>
          <p:nvPr/>
        </p:nvSpPr>
        <p:spPr>
          <a:xfrm>
            <a:off x="4977219" y="2593896"/>
            <a:ext cx="6500335" cy="6580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ts val="1680"/>
              </a:lnSpc>
              <a:spcBef>
                <a:spcPts val="663"/>
              </a:spcBef>
            </a:pPr>
            <a:r>
              <a:rPr lang="es-ES" sz="1400" dirty="0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Las pruebas y la depuración suelen ser más sencillas porque todo está en un solo proyecto.</a:t>
            </a:r>
            <a:endParaRPr lang="es-ES" sz="1400" dirty="0">
              <a:latin typeface="Montserrat"/>
              <a:ea typeface="+mn-lt"/>
              <a:cs typeface="+mn-lt"/>
            </a:endParaRPr>
          </a:p>
          <a:p>
            <a:pPr algn="just">
              <a:lnSpc>
                <a:spcPts val="1680"/>
              </a:lnSpc>
              <a:spcBef>
                <a:spcPts val="663"/>
              </a:spcBef>
              <a:buNone/>
            </a:pPr>
            <a:endParaRPr lang="en-US" dirty="0"/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282EFCF5-EAEC-6CCB-AEE6-29F0DAD25AFA}"/>
              </a:ext>
            </a:extLst>
          </p:cNvPr>
          <p:cNvSpPr/>
          <p:nvPr/>
        </p:nvSpPr>
        <p:spPr>
          <a:xfrm>
            <a:off x="4988423" y="3301342"/>
            <a:ext cx="4356482" cy="2469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814"/>
              </a:lnSpc>
            </a:pPr>
            <a:r>
              <a:rPr lang="en-US" b="1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UN SOLO DESPLIEGUE</a:t>
            </a:r>
            <a:endParaRPr lang="en-US" b="1" dirty="0"/>
          </a:p>
        </p:txBody>
      </p:sp>
      <p:sp>
        <p:nvSpPr>
          <p:cNvPr id="16" name="Object 4">
            <a:extLst>
              <a:ext uri="{FF2B5EF4-FFF2-40B4-BE49-F238E27FC236}">
                <a16:creationId xmlns:a16="http://schemas.microsoft.com/office/drawing/2014/main" id="{B7508C90-D9EB-623C-35BC-0A05C62F4922}"/>
              </a:ext>
            </a:extLst>
          </p:cNvPr>
          <p:cNvSpPr/>
          <p:nvPr/>
        </p:nvSpPr>
        <p:spPr>
          <a:xfrm>
            <a:off x="4978754" y="3580781"/>
            <a:ext cx="6500335" cy="7102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ts val="1680"/>
              </a:lnSpc>
              <a:spcBef>
                <a:spcPts val="663"/>
              </a:spcBef>
            </a:pPr>
            <a:r>
              <a:rPr lang="es-ES" sz="1400" dirty="0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Solo necesitas desplegar un solo archivo o conjunto de archivos, lo que simplifica la gestión de versiones y la implementación.</a:t>
            </a:r>
            <a:endParaRPr lang="es-ES" dirty="0">
              <a:latin typeface="Montserrat"/>
              <a:ea typeface="+mn-lt"/>
              <a:cs typeface="+mn-lt"/>
            </a:endParaRPr>
          </a:p>
          <a:p>
            <a:pPr algn="just">
              <a:lnSpc>
                <a:spcPts val="1680"/>
              </a:lnSpc>
              <a:spcBef>
                <a:spcPts val="663"/>
              </a:spcBef>
              <a:buNone/>
            </a:pPr>
            <a:endParaRPr lang="en-US" dirty="0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902C84AB-5856-815A-D7D6-BCC4C3445D73}"/>
              </a:ext>
            </a:extLst>
          </p:cNvPr>
          <p:cNvSpPr/>
          <p:nvPr/>
        </p:nvSpPr>
        <p:spPr>
          <a:xfrm>
            <a:off x="4988421" y="4324301"/>
            <a:ext cx="6500335" cy="191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814"/>
              </a:lnSpc>
            </a:pPr>
            <a:r>
              <a:rPr lang="en-US" b="1" dirty="0"/>
              <a:t>RENDIMIENTO DE MENOR LATENCIA DE COMUNICACIÓN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0624106E-11C8-8858-4C9F-2E7BE06D863F}"/>
              </a:ext>
            </a:extLst>
          </p:cNvPr>
          <p:cNvSpPr/>
          <p:nvPr/>
        </p:nvSpPr>
        <p:spPr>
          <a:xfrm>
            <a:off x="4978753" y="4603740"/>
            <a:ext cx="6500336" cy="7729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ts val="1680"/>
              </a:lnSpc>
              <a:spcBef>
                <a:spcPts val="663"/>
              </a:spcBef>
            </a:pPr>
            <a:r>
              <a:rPr lang="es-ES" sz="1400" dirty="0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Dado que todos los componentes están en el mismo proceso, las llamadas entre módulos son simples invocaciones de funciones, lo que puede resultar en una menor latencia.</a:t>
            </a:r>
            <a:endParaRPr lang="es-ES" dirty="0"/>
          </a:p>
          <a:p>
            <a:pPr algn="just">
              <a:lnSpc>
                <a:spcPts val="1680"/>
              </a:lnSpc>
              <a:spcBef>
                <a:spcPts val="663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706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580FE9D2-D410-D6DB-049E-B24CA0DFA53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975361" y="471210"/>
            <a:ext cx="4916775" cy="46968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7965" marR="0" lvl="0" indent="-227965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Desventajas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5D31DFA-DD02-C147-A0D6-242DAC2AACB2}"/>
              </a:ext>
            </a:extLst>
          </p:cNvPr>
          <p:cNvSpPr/>
          <p:nvPr/>
        </p:nvSpPr>
        <p:spPr>
          <a:xfrm>
            <a:off x="4976451" y="1214898"/>
            <a:ext cx="5163152" cy="590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814"/>
              </a:lnSpc>
            </a:pPr>
            <a:r>
              <a:rPr lang="en-US" b="1" dirty="0">
                <a:latin typeface="Arial"/>
                <a:ea typeface="+mn-lt"/>
                <a:cs typeface="Arial"/>
              </a:rPr>
              <a:t>ESCALABILIDAD HORIZONTAL DIFICIL</a:t>
            </a:r>
            <a:endParaRPr lang="es-ES" b="1">
              <a:latin typeface="Arial"/>
              <a:cs typeface="Arial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DCFF1C61-4ACD-5AAA-4E03-5BF2A25960E2}"/>
              </a:ext>
            </a:extLst>
          </p:cNvPr>
          <p:cNvSpPr/>
          <p:nvPr/>
        </p:nvSpPr>
        <p:spPr>
          <a:xfrm>
            <a:off x="4987657" y="1485435"/>
            <a:ext cx="6395953" cy="15217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/>
            <a:r>
              <a:rPr lang="es-ES" sz="1400" dirty="0">
                <a:solidFill>
                  <a:srgbClr val="5A5A4C"/>
                </a:solidFill>
                <a:latin typeface="Montserrat"/>
              </a:rPr>
              <a:t>Es más difícil escalar una aplicación monolítica horizontalmente, ya que no se puede dividir fácilmente en componentes más pequeños que puedan ser distribuidos entre múltiples servidores.</a:t>
            </a:r>
            <a:endParaRPr lang="es-ES" dirty="0"/>
          </a:p>
          <a:p>
            <a:pPr algn="just"/>
            <a:endParaRPr lang="es-ES"/>
          </a:p>
          <a:p>
            <a:pPr algn="just">
              <a:lnSpc>
                <a:spcPts val="1680"/>
              </a:lnSpc>
              <a:spcBef>
                <a:spcPts val="663"/>
              </a:spcBef>
            </a:pPr>
            <a:endParaRPr lang="es-ES" sz="1400" dirty="0">
              <a:solidFill>
                <a:srgbClr val="5A5A4C"/>
              </a:solidFill>
              <a:latin typeface="Montserrat"/>
            </a:endParaRPr>
          </a:p>
          <a:p>
            <a:pPr algn="just">
              <a:lnSpc>
                <a:spcPts val="1680"/>
              </a:lnSpc>
              <a:spcBef>
                <a:spcPts val="663"/>
              </a:spcBef>
              <a:buNone/>
            </a:pPr>
            <a:endParaRPr lang="en-US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934012E8-21DD-B328-51B8-C45846792FAD}"/>
              </a:ext>
            </a:extLst>
          </p:cNvPr>
          <p:cNvSpPr/>
          <p:nvPr/>
        </p:nvSpPr>
        <p:spPr>
          <a:xfrm>
            <a:off x="4966012" y="2301716"/>
            <a:ext cx="4165982" cy="2469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814"/>
              </a:lnSpc>
            </a:pPr>
            <a:r>
              <a:rPr lang="en-US" b="1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CÓDIGO EXTENSO Y COMPLEJOS</a:t>
            </a:r>
            <a:endParaRPr lang="es-ES" dirty="0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A56A3AE4-C850-F9CB-2DB3-B8FE4F7C47F0}"/>
              </a:ext>
            </a:extLst>
          </p:cNvPr>
          <p:cNvSpPr/>
          <p:nvPr/>
        </p:nvSpPr>
        <p:spPr>
          <a:xfrm>
            <a:off x="4977219" y="2541704"/>
            <a:ext cx="6395952" cy="6580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ts val="1680"/>
              </a:lnSpc>
              <a:spcBef>
                <a:spcPts val="663"/>
              </a:spcBef>
            </a:pPr>
            <a:r>
              <a:rPr lang="es-ES" sz="1400" dirty="0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A medida que la aplicación crece, el código puede volverse muy grande y complejo, dificultando el mantenimiento y la evolución.</a:t>
            </a:r>
            <a:endParaRPr lang="es-ES" dirty="0"/>
          </a:p>
          <a:p>
            <a:pPr algn="just">
              <a:lnSpc>
                <a:spcPts val="1680"/>
              </a:lnSpc>
              <a:spcBef>
                <a:spcPts val="663"/>
              </a:spcBef>
              <a:buNone/>
            </a:pPr>
            <a:endParaRPr lang="en-US" dirty="0"/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282EFCF5-EAEC-6CCB-AEE6-29F0DAD25AFA}"/>
              </a:ext>
            </a:extLst>
          </p:cNvPr>
          <p:cNvSpPr/>
          <p:nvPr/>
        </p:nvSpPr>
        <p:spPr>
          <a:xfrm>
            <a:off x="4977985" y="3144767"/>
            <a:ext cx="4920152" cy="2782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814"/>
              </a:lnSpc>
            </a:pPr>
            <a:r>
              <a:rPr lang="en-US" b="1" dirty="0"/>
              <a:t>DEPENDENCIA FUERTEMENTE ACOPLADAS</a:t>
            </a:r>
          </a:p>
        </p:txBody>
      </p:sp>
      <p:sp>
        <p:nvSpPr>
          <p:cNvPr id="16" name="Object 4">
            <a:extLst>
              <a:ext uri="{FF2B5EF4-FFF2-40B4-BE49-F238E27FC236}">
                <a16:creationId xmlns:a16="http://schemas.microsoft.com/office/drawing/2014/main" id="{B7508C90-D9EB-623C-35BC-0A05C62F4922}"/>
              </a:ext>
            </a:extLst>
          </p:cNvPr>
          <p:cNvSpPr/>
          <p:nvPr/>
        </p:nvSpPr>
        <p:spPr>
          <a:xfrm>
            <a:off x="4978754" y="3434643"/>
            <a:ext cx="6406390" cy="6998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ts val="1680"/>
              </a:lnSpc>
              <a:spcBef>
                <a:spcPts val="663"/>
              </a:spcBef>
            </a:pPr>
            <a:r>
              <a:rPr lang="es-ES" sz="1400" dirty="0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Los componentes están estrechamente acoplados, lo que puede complicar los cambios y actualizaciones en partes específicas del sistema.</a:t>
            </a:r>
            <a:endParaRPr lang="es-ES" dirty="0"/>
          </a:p>
          <a:p>
            <a:pPr algn="just">
              <a:lnSpc>
                <a:spcPts val="1680"/>
              </a:lnSpc>
              <a:spcBef>
                <a:spcPts val="663"/>
              </a:spcBef>
              <a:buNone/>
            </a:pPr>
            <a:endParaRPr lang="en-US" dirty="0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902C84AB-5856-815A-D7D6-BCC4C3445D73}"/>
              </a:ext>
            </a:extLst>
          </p:cNvPr>
          <p:cNvSpPr/>
          <p:nvPr/>
        </p:nvSpPr>
        <p:spPr>
          <a:xfrm>
            <a:off x="4988422" y="4209479"/>
            <a:ext cx="5870044" cy="205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814"/>
              </a:lnSpc>
            </a:pPr>
            <a:r>
              <a:rPr lang="en-US" b="1" dirty="0"/>
              <a:t>TIEMPO DE DESPLIEGUE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0624106E-11C8-8858-4C9F-2E7BE06D863F}"/>
              </a:ext>
            </a:extLst>
          </p:cNvPr>
          <p:cNvSpPr/>
          <p:nvPr/>
        </p:nvSpPr>
        <p:spPr>
          <a:xfrm>
            <a:off x="4978753" y="4436726"/>
            <a:ext cx="6406390" cy="7729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ts val="1680"/>
              </a:lnSpc>
              <a:spcBef>
                <a:spcPts val="663"/>
              </a:spcBef>
            </a:pPr>
            <a:r>
              <a:rPr lang="es-ES" sz="1400" dirty="0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Las aplicaciones grandes pueden tomar mucho tiempo para desplegarse, lo que puede causar tiempos de inactividad significativos.</a:t>
            </a:r>
            <a:endParaRPr lang="es-ES" dirty="0"/>
          </a:p>
          <a:p>
            <a:pPr algn="just">
              <a:lnSpc>
                <a:spcPts val="1680"/>
              </a:lnSpc>
              <a:spcBef>
                <a:spcPts val="663"/>
              </a:spcBef>
              <a:buNone/>
            </a:pPr>
            <a:endParaRPr lang="en-U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08E5072-D990-6109-985F-86C5C7D56F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027" y="1718219"/>
            <a:ext cx="3275425" cy="3254548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171606A4-DD15-E5E9-5D38-28DD99089E1E}"/>
              </a:ext>
            </a:extLst>
          </p:cNvPr>
          <p:cNvSpPr/>
          <p:nvPr/>
        </p:nvSpPr>
        <p:spPr>
          <a:xfrm>
            <a:off x="4977984" y="5096739"/>
            <a:ext cx="5870044" cy="205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814"/>
              </a:lnSpc>
            </a:pPr>
            <a:r>
              <a:rPr lang="en-US" b="1"/>
              <a:t>RESTRICCIONES TECNOLÓGICAS</a:t>
            </a:r>
            <a:endParaRPr lang="en-US" b="1" dirty="0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4FDBA6C2-FAB9-FCA9-F891-81A0EE140A14}"/>
              </a:ext>
            </a:extLst>
          </p:cNvPr>
          <p:cNvSpPr/>
          <p:nvPr/>
        </p:nvSpPr>
        <p:spPr>
          <a:xfrm>
            <a:off x="4989191" y="5334425"/>
            <a:ext cx="6395951" cy="7833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ts val="1680"/>
              </a:lnSpc>
              <a:spcBef>
                <a:spcPts val="663"/>
              </a:spcBef>
            </a:pPr>
            <a:r>
              <a:rPr lang="es-ES" sz="1400" dirty="0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Dado que todos los módulos están en un solo proyecto, todos deben usar la misma tecnología, lo que puede limitar la capacidad de utilizar herramientas o lenguajes más adecuados para ciertos componentes.</a:t>
            </a:r>
            <a:endParaRPr lang="es-ES" dirty="0"/>
          </a:p>
          <a:p>
            <a:pPr algn="just">
              <a:lnSpc>
                <a:spcPts val="1680"/>
              </a:lnSpc>
              <a:spcBef>
                <a:spcPts val="663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615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975D5F-3083-1EF5-C86C-E4F5A64AC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8659" y="2569580"/>
            <a:ext cx="3709159" cy="2129742"/>
          </a:xfrm>
        </p:spPr>
        <p:txBody>
          <a:bodyPr>
            <a:normAutofit/>
          </a:bodyPr>
          <a:lstStyle/>
          <a:p>
            <a:r>
              <a:rPr lang="es-CL" dirty="0"/>
              <a:t>Introducción a los Microservicios</a:t>
            </a:r>
            <a:endParaRPr lang="es-E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8717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54050" y="298044"/>
            <a:ext cx="4918075" cy="4699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Microservicios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14B708-B034-DE07-667B-0AA1F2B68EEB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654050" y="767944"/>
            <a:ext cx="11284274" cy="1524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ES" sz="1600" dirty="0">
                <a:latin typeface="Arial"/>
                <a:cs typeface="Arial"/>
              </a:rPr>
              <a:t>La arquitectura de </a:t>
            </a:r>
            <a:r>
              <a:rPr kumimoji="0" lang="es-ES" sz="1600" b="1" i="0" u="none" strike="noStrike" cap="none" normalizeH="0" baseline="0" dirty="0">
                <a:ln>
                  <a:noFill/>
                </a:ln>
                <a:solidFill>
                  <a:srgbClr val="4E7CDD"/>
                </a:solidFill>
                <a:effectLst/>
                <a:latin typeface="Arial"/>
                <a:cs typeface="Arial"/>
              </a:rPr>
              <a:t>microservicios </a:t>
            </a:r>
            <a:r>
              <a:rPr lang="es-ES" sz="1600" dirty="0">
                <a:latin typeface="Arial"/>
                <a:cs typeface="Arial"/>
              </a:rPr>
              <a:t>es ideal para aplicaciones grandes y complejas </a:t>
            </a:r>
            <a:r>
              <a:rPr kumimoji="0" lang="es-ES" sz="16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que </a:t>
            </a:r>
            <a:r>
              <a:rPr lang="es-ES" sz="1600" dirty="0">
                <a:latin typeface="Arial"/>
                <a:cs typeface="Arial"/>
              </a:rPr>
              <a:t>requieren escalabilidad, flexibilidad </a:t>
            </a:r>
            <a:r>
              <a:rPr kumimoji="0" lang="es-ES" sz="16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y </a:t>
            </a:r>
            <a:r>
              <a:rPr lang="es-ES" sz="1600" dirty="0">
                <a:latin typeface="Arial"/>
                <a:cs typeface="Arial"/>
              </a:rPr>
              <a:t>resiliencia. Sin embargo</a:t>
            </a:r>
            <a:r>
              <a:rPr kumimoji="0" lang="es-ES" sz="16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, </a:t>
            </a:r>
            <a:r>
              <a:rPr lang="es-ES" sz="1600" dirty="0">
                <a:latin typeface="Arial"/>
                <a:cs typeface="Arial"/>
              </a:rPr>
              <a:t>introduce </a:t>
            </a:r>
            <a:r>
              <a:rPr kumimoji="0" lang="es-ES" sz="16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una </a:t>
            </a:r>
            <a:r>
              <a:rPr lang="es-ES" sz="1600" dirty="0">
                <a:latin typeface="Arial"/>
                <a:cs typeface="Arial"/>
              </a:rPr>
              <a:t>mayor complejidad en el desarrollo </a:t>
            </a:r>
            <a:r>
              <a:rPr kumimoji="0" lang="es-ES" sz="16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y </a:t>
            </a:r>
            <a:r>
              <a:rPr lang="es-ES" sz="1600" dirty="0">
                <a:latin typeface="Arial"/>
                <a:cs typeface="Arial"/>
              </a:rPr>
              <a:t>la gestión</a:t>
            </a:r>
            <a:r>
              <a:rPr kumimoji="0" lang="es-ES" sz="16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, </a:t>
            </a:r>
            <a:r>
              <a:rPr lang="es-ES" sz="1600" dirty="0">
                <a:latin typeface="Arial"/>
                <a:cs typeface="Arial"/>
              </a:rPr>
              <a:t>así como posibles costos operacionales adicionales. Es crucial evaluar si </a:t>
            </a:r>
            <a:r>
              <a:rPr kumimoji="0" lang="es-ES" sz="16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los </a:t>
            </a:r>
            <a:r>
              <a:rPr lang="es-ES" sz="1600" dirty="0">
                <a:latin typeface="Arial"/>
                <a:cs typeface="Arial"/>
              </a:rPr>
              <a:t>beneficios superan las desventajas según las necesidades específicas del proyecto</a:t>
            </a:r>
            <a:r>
              <a:rPr kumimoji="0" lang="es-ES" sz="16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.</a:t>
            </a:r>
            <a:endParaRPr lang="es-ES" sz="1600" dirty="0">
              <a:latin typeface="Arial"/>
              <a:cs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F4B4951-A02F-ED21-5FC6-D73C2068D74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478" y="3538384"/>
            <a:ext cx="3527732" cy="278662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F54499B-F608-421E-9A96-CF6F7CE85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4913" y="3647768"/>
            <a:ext cx="5770235" cy="2567854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048611C-8CDC-41F4-B30C-10DEA60EC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2274325"/>
            <a:ext cx="11024171" cy="115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s-ES" altLang="es-CL" sz="1600"/>
              <a:t>Los </a:t>
            </a:r>
            <a:r>
              <a:rPr lang="es-ES" altLang="es-CL" sz="1600" b="1">
                <a:solidFill>
                  <a:srgbClr val="4E7CDD"/>
                </a:solidFill>
              </a:rPr>
              <a:t>microservicios</a:t>
            </a:r>
            <a:r>
              <a:rPr lang="es-ES" altLang="es-CL" sz="1600"/>
              <a:t> son un estilo arquitectónico que estructura una aplicación como un conjunto de servicios pequeños y autónomos, que se comunican a través de </a:t>
            </a:r>
            <a:r>
              <a:rPr lang="es-ES" altLang="es-CL" sz="1600" b="1">
                <a:solidFill>
                  <a:srgbClr val="4E7CDD"/>
                </a:solidFill>
              </a:rPr>
              <a:t>APIs</a:t>
            </a:r>
            <a:r>
              <a:rPr lang="es-ES" altLang="es-CL" sz="1600"/>
              <a:t> bien definidas. Cada </a:t>
            </a:r>
            <a:r>
              <a:rPr lang="es-ES" altLang="es-CL" sz="1600" b="1">
                <a:solidFill>
                  <a:srgbClr val="4E7CDD"/>
                </a:solidFill>
              </a:rPr>
              <a:t>servicio</a:t>
            </a:r>
            <a:r>
              <a:rPr lang="es-ES" altLang="es-CL" sz="1600"/>
              <a:t> está diseñado para realizar una función específica y puede ser desarrollado, desplegado y escalado de manera independiente de los demás servicios. </a:t>
            </a:r>
            <a:endParaRPr lang="es-CL" altLang="es-CL" sz="1600" dirty="0"/>
          </a:p>
        </p:txBody>
      </p:sp>
    </p:spTree>
    <p:extLst>
      <p:ext uri="{BB962C8B-B14F-4D97-AF65-F5344CB8AC3E}">
        <p14:creationId xmlns:p14="http://schemas.microsoft.com/office/powerpoint/2010/main" val="3281554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580FE9D2-D410-D6DB-049E-B24CA0DFA53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964923" y="353712"/>
            <a:ext cx="4916775" cy="46968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7965" marR="0" lvl="0" indent="-227965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Beneficios</a:t>
            </a:r>
            <a:endParaRPr kumimoji="0" lang="es-E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902C84AB-5856-815A-D7D6-BCC4C3445D73}"/>
              </a:ext>
            </a:extLst>
          </p:cNvPr>
          <p:cNvSpPr/>
          <p:nvPr/>
        </p:nvSpPr>
        <p:spPr>
          <a:xfrm>
            <a:off x="4975361" y="940895"/>
            <a:ext cx="5870044" cy="205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b="1" dirty="0">
                <a:solidFill>
                  <a:srgbClr val="2A2921"/>
                </a:solidFill>
                <a:latin typeface="Arial"/>
                <a:ea typeface="+mn-lt"/>
                <a:cs typeface="Arial"/>
              </a:rPr>
              <a:t>ESCALABILIDAD HORIZONTAL</a:t>
            </a:r>
            <a:endParaRPr lang="en-US" b="1" dirty="0">
              <a:latin typeface="Arial"/>
              <a:ea typeface="+mn-lt"/>
              <a:cs typeface="Arial"/>
            </a:endParaRPr>
          </a:p>
          <a:p>
            <a:pPr>
              <a:lnSpc>
                <a:spcPts val="1814"/>
              </a:lnSpc>
            </a:pPr>
            <a:endParaRPr lang="en-US" b="1" dirty="0">
              <a:latin typeface="Arial"/>
              <a:cs typeface="Arial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0624106E-11C8-8858-4C9F-2E7BE06D863F}"/>
              </a:ext>
            </a:extLst>
          </p:cNvPr>
          <p:cNvSpPr/>
          <p:nvPr/>
        </p:nvSpPr>
        <p:spPr>
          <a:xfrm>
            <a:off x="4965692" y="1282964"/>
            <a:ext cx="6500336" cy="7729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/>
            <a:r>
              <a:rPr lang="es-ES" sz="1400" dirty="0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Cada microservicio se puede escalar de manera independiente según la demanda. Esto permite una mejor utilización de recursos y una escalabilidad más eficiente.</a:t>
            </a:r>
          </a:p>
          <a:p>
            <a:pPr algn="just">
              <a:lnSpc>
                <a:spcPts val="1680"/>
              </a:lnSpc>
              <a:spcBef>
                <a:spcPts val="663"/>
              </a:spcBef>
            </a:pPr>
            <a:endParaRPr lang="es-ES" sz="1400" dirty="0">
              <a:solidFill>
                <a:srgbClr val="5A5A4C"/>
              </a:solidFill>
              <a:latin typeface="Montserrat"/>
            </a:endParaRPr>
          </a:p>
          <a:p>
            <a:pPr algn="just">
              <a:lnSpc>
                <a:spcPts val="1680"/>
              </a:lnSpc>
              <a:spcBef>
                <a:spcPts val="663"/>
              </a:spcBef>
              <a:buNone/>
            </a:pPr>
            <a:endParaRPr lang="en-US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83846EC8-F4F7-650C-CAC1-4BDF6A76BE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603" y="1680337"/>
            <a:ext cx="3478061" cy="3498937"/>
          </a:xfrm>
          <a:prstGeom prst="rect">
            <a:avLst/>
          </a:prstGeom>
        </p:spPr>
      </p:pic>
      <p:sp>
        <p:nvSpPr>
          <p:cNvPr id="13" name="Object 3">
            <a:extLst>
              <a:ext uri="{FF2B5EF4-FFF2-40B4-BE49-F238E27FC236}">
                <a16:creationId xmlns:a16="http://schemas.microsoft.com/office/drawing/2014/main" id="{409F1249-EAAF-D050-5F08-338395FDC852}"/>
              </a:ext>
            </a:extLst>
          </p:cNvPr>
          <p:cNvSpPr/>
          <p:nvPr/>
        </p:nvSpPr>
        <p:spPr>
          <a:xfrm>
            <a:off x="4964923" y="1987646"/>
            <a:ext cx="5870044" cy="205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b="1" dirty="0">
                <a:latin typeface="Arial"/>
                <a:ea typeface="+mn-lt"/>
                <a:cs typeface="Arial"/>
              </a:rPr>
              <a:t>INDEPENDENCIA DE COMPONENTES</a:t>
            </a:r>
          </a:p>
          <a:p>
            <a:endParaRPr lang="en-US" b="1" dirty="0">
              <a:latin typeface="Arial"/>
              <a:cs typeface="Arial"/>
            </a:endParaRPr>
          </a:p>
          <a:p>
            <a:pPr>
              <a:lnSpc>
                <a:spcPts val="1814"/>
              </a:lnSpc>
            </a:pPr>
            <a:endParaRPr lang="en-US" b="1" dirty="0">
              <a:latin typeface="Arial"/>
              <a:cs typeface="Arial"/>
            </a:endParaRPr>
          </a:p>
        </p:txBody>
      </p:sp>
      <p:sp>
        <p:nvSpPr>
          <p:cNvPr id="14" name="Object 4">
            <a:extLst>
              <a:ext uri="{FF2B5EF4-FFF2-40B4-BE49-F238E27FC236}">
                <a16:creationId xmlns:a16="http://schemas.microsoft.com/office/drawing/2014/main" id="{6F26B35D-B0A4-D0BF-5640-F9C369CE5D3F}"/>
              </a:ext>
            </a:extLst>
          </p:cNvPr>
          <p:cNvSpPr/>
          <p:nvPr/>
        </p:nvSpPr>
        <p:spPr>
          <a:xfrm>
            <a:off x="4965692" y="2299854"/>
            <a:ext cx="6500336" cy="7729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/>
            <a:r>
              <a:rPr lang="es-ES" sz="1400" dirty="0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Los microservicios pueden desplegarse en diferentes servidores o en la nube, distribuyendo la carga de trabajo de manera más efectiva.</a:t>
            </a:r>
            <a:endParaRPr lang="es-ES" sz="1400" dirty="0">
              <a:solidFill>
                <a:srgbClr val="5A5A4C"/>
              </a:solidFill>
              <a:latin typeface="Montserrat"/>
            </a:endParaRPr>
          </a:p>
          <a:p>
            <a:pPr algn="just"/>
            <a:endParaRPr lang="es-ES" sz="1400" dirty="0">
              <a:solidFill>
                <a:srgbClr val="5A5A4C"/>
              </a:solidFill>
              <a:latin typeface="Montserrat"/>
            </a:endParaRPr>
          </a:p>
          <a:p>
            <a:pPr algn="just">
              <a:lnSpc>
                <a:spcPts val="1680"/>
              </a:lnSpc>
              <a:spcBef>
                <a:spcPts val="663"/>
              </a:spcBef>
              <a:buNone/>
            </a:pPr>
            <a:endParaRPr lang="es-ES" sz="1400" dirty="0">
              <a:solidFill>
                <a:srgbClr val="5A5A4C"/>
              </a:solidFill>
              <a:latin typeface="Montserrat"/>
            </a:endParaRPr>
          </a:p>
          <a:p>
            <a:pPr algn="just">
              <a:lnSpc>
                <a:spcPts val="1680"/>
              </a:lnSpc>
              <a:spcBef>
                <a:spcPts val="663"/>
              </a:spcBef>
            </a:pPr>
            <a:endParaRPr lang="en-US" dirty="0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17" name="Object 3">
            <a:extLst>
              <a:ext uri="{FF2B5EF4-FFF2-40B4-BE49-F238E27FC236}">
                <a16:creationId xmlns:a16="http://schemas.microsoft.com/office/drawing/2014/main" id="{32EB885D-F316-25C4-A56C-795ABFAD7698}"/>
              </a:ext>
            </a:extLst>
          </p:cNvPr>
          <p:cNvSpPr/>
          <p:nvPr/>
        </p:nvSpPr>
        <p:spPr>
          <a:xfrm>
            <a:off x="4964923" y="2760559"/>
            <a:ext cx="4137276" cy="3199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b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CICLO DE VIDA INDEPENDIENTE</a:t>
            </a:r>
          </a:p>
          <a:p>
            <a:pPr>
              <a:lnSpc>
                <a:spcPts val="1814"/>
              </a:lnSpc>
            </a:pPr>
            <a:endParaRPr lang="en-US" b="1" dirty="0">
              <a:latin typeface="Arial"/>
              <a:cs typeface="Arial"/>
            </a:endParaRPr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B0B1C27E-7F6E-823E-E52F-6A25CD93BB3C}"/>
              </a:ext>
            </a:extLst>
          </p:cNvPr>
          <p:cNvSpPr/>
          <p:nvPr/>
        </p:nvSpPr>
        <p:spPr>
          <a:xfrm>
            <a:off x="4975361" y="3095827"/>
            <a:ext cx="6500335" cy="6894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/>
            <a:r>
              <a:rPr lang="es-ES" sz="1400" dirty="0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Cada microservicio puede desarrollarse, probarse y desplegarse de forma independiente, lo que facilita la implementación continua y reduce el riesgo de afectar otras partes del sistema.</a:t>
            </a:r>
          </a:p>
          <a:p>
            <a:pPr algn="just">
              <a:lnSpc>
                <a:spcPts val="1680"/>
              </a:lnSpc>
              <a:spcBef>
                <a:spcPts val="663"/>
              </a:spcBef>
            </a:pPr>
            <a:endParaRPr lang="es-ES" sz="1400" dirty="0">
              <a:solidFill>
                <a:srgbClr val="5A5A4C"/>
              </a:solidFill>
              <a:latin typeface="Montserrat"/>
            </a:endParaRPr>
          </a:p>
          <a:p>
            <a:pPr algn="just">
              <a:lnSpc>
                <a:spcPts val="1680"/>
              </a:lnSpc>
              <a:spcBef>
                <a:spcPts val="663"/>
              </a:spcBef>
              <a:buNone/>
            </a:pPr>
            <a:endParaRPr lang="en-US" dirty="0"/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9D4BC367-F1B8-45B2-8811-43A3D0B28045}"/>
              </a:ext>
            </a:extLst>
          </p:cNvPr>
          <p:cNvSpPr/>
          <p:nvPr/>
        </p:nvSpPr>
        <p:spPr>
          <a:xfrm>
            <a:off x="4974593" y="3785234"/>
            <a:ext cx="5870044" cy="205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814"/>
              </a:lnSpc>
            </a:pPr>
            <a:r>
              <a:rPr lang="en-US" b="1" dirty="0">
                <a:latin typeface="Arial"/>
                <a:cs typeface="Arial"/>
              </a:rPr>
              <a:t>ACTUALIZACIONES  Y MANTENIMIENTO</a:t>
            </a:r>
          </a:p>
        </p:txBody>
      </p:sp>
      <p:sp>
        <p:nvSpPr>
          <p:cNvPr id="16" name="Object 4">
            <a:extLst>
              <a:ext uri="{FF2B5EF4-FFF2-40B4-BE49-F238E27FC236}">
                <a16:creationId xmlns:a16="http://schemas.microsoft.com/office/drawing/2014/main" id="{4672423C-910B-4972-B969-6402FA7569FE}"/>
              </a:ext>
            </a:extLst>
          </p:cNvPr>
          <p:cNvSpPr/>
          <p:nvPr/>
        </p:nvSpPr>
        <p:spPr>
          <a:xfrm>
            <a:off x="4964924" y="4075111"/>
            <a:ext cx="6500336" cy="7729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ts val="1680"/>
              </a:lnSpc>
              <a:spcBef>
                <a:spcPts val="663"/>
              </a:spcBef>
            </a:pPr>
            <a:r>
              <a:rPr lang="es-ES" sz="1400" dirty="0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Las actualizaciones y correcciones pueden realizarse en servicios específicos sin afectar a toda la aplicación.</a:t>
            </a:r>
            <a:endParaRPr lang="es-ES" dirty="0"/>
          </a:p>
          <a:p>
            <a:pPr algn="just">
              <a:lnSpc>
                <a:spcPts val="1680"/>
              </a:lnSpc>
              <a:spcBef>
                <a:spcPts val="663"/>
              </a:spcBef>
              <a:buNone/>
            </a:pPr>
            <a:endParaRPr lang="en-US" dirty="0"/>
          </a:p>
        </p:txBody>
      </p:sp>
      <p:sp>
        <p:nvSpPr>
          <p:cNvPr id="19" name="Object 3">
            <a:extLst>
              <a:ext uri="{FF2B5EF4-FFF2-40B4-BE49-F238E27FC236}">
                <a16:creationId xmlns:a16="http://schemas.microsoft.com/office/drawing/2014/main" id="{0858DFED-2EAB-491C-BB41-B51A14FBEA80}"/>
              </a:ext>
            </a:extLst>
          </p:cNvPr>
          <p:cNvSpPr/>
          <p:nvPr/>
        </p:nvSpPr>
        <p:spPr>
          <a:xfrm>
            <a:off x="4974593" y="4571622"/>
            <a:ext cx="5870044" cy="205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814"/>
              </a:lnSpc>
            </a:pPr>
            <a:r>
              <a:rPr lang="en-US" b="1" dirty="0">
                <a:latin typeface="Arial"/>
                <a:cs typeface="Arial"/>
              </a:rPr>
              <a:t>TECNOLOGÍA APROPIADA PARA CADA SERVICIO</a:t>
            </a:r>
            <a:endParaRPr lang="es-ES" b="1" dirty="0">
              <a:latin typeface="Arial"/>
              <a:cs typeface="Arial"/>
            </a:endParaRPr>
          </a:p>
        </p:txBody>
      </p:sp>
      <p:sp>
        <p:nvSpPr>
          <p:cNvPr id="20" name="Object 4">
            <a:extLst>
              <a:ext uri="{FF2B5EF4-FFF2-40B4-BE49-F238E27FC236}">
                <a16:creationId xmlns:a16="http://schemas.microsoft.com/office/drawing/2014/main" id="{CE5CDB30-C0DF-4530-B789-FEB3AD836B2E}"/>
              </a:ext>
            </a:extLst>
          </p:cNvPr>
          <p:cNvSpPr/>
          <p:nvPr/>
        </p:nvSpPr>
        <p:spPr>
          <a:xfrm>
            <a:off x="4975360" y="4851217"/>
            <a:ext cx="6500336" cy="7729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ts val="1680"/>
              </a:lnSpc>
              <a:spcBef>
                <a:spcPts val="663"/>
              </a:spcBef>
            </a:pPr>
            <a:r>
              <a:rPr lang="es-ES" sz="1400" dirty="0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Se puede elegir la mejor tecnología o lenguaje de programación para cada microservicio, permitiendo una optimización específica para diferentes partes del sistema.</a:t>
            </a:r>
            <a:endParaRPr lang="es-ES" dirty="0"/>
          </a:p>
          <a:p>
            <a:pPr algn="just">
              <a:lnSpc>
                <a:spcPts val="1680"/>
              </a:lnSpc>
              <a:spcBef>
                <a:spcPts val="663"/>
              </a:spcBef>
              <a:buNone/>
            </a:pPr>
            <a:endParaRPr lang="en-US" dirty="0"/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1E78B6D4-FCE5-44E2-8087-A914452AB7CA}"/>
              </a:ext>
            </a:extLst>
          </p:cNvPr>
          <p:cNvSpPr/>
          <p:nvPr/>
        </p:nvSpPr>
        <p:spPr>
          <a:xfrm>
            <a:off x="4974593" y="5535444"/>
            <a:ext cx="4137276" cy="3199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814"/>
              </a:lnSpc>
            </a:pPr>
            <a:r>
              <a:rPr lang="en-US" b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AISLAMIENTO DE FALLOS</a:t>
            </a:r>
            <a:endParaRPr lang="en-US" b="1" dirty="0">
              <a:latin typeface="Arial"/>
              <a:cs typeface="Arial"/>
            </a:endParaRPr>
          </a:p>
        </p:txBody>
      </p:sp>
      <p:sp>
        <p:nvSpPr>
          <p:cNvPr id="22" name="Object 4">
            <a:extLst>
              <a:ext uri="{FF2B5EF4-FFF2-40B4-BE49-F238E27FC236}">
                <a16:creationId xmlns:a16="http://schemas.microsoft.com/office/drawing/2014/main" id="{11C216F0-78F5-4287-838B-04618196C721}"/>
              </a:ext>
            </a:extLst>
          </p:cNvPr>
          <p:cNvSpPr/>
          <p:nvPr/>
        </p:nvSpPr>
        <p:spPr>
          <a:xfrm>
            <a:off x="4975364" y="5814881"/>
            <a:ext cx="6500335" cy="6894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ts val="1680"/>
              </a:lnSpc>
              <a:spcBef>
                <a:spcPts val="663"/>
              </a:spcBef>
            </a:pPr>
            <a:r>
              <a:rPr lang="es-ES" sz="1400" dirty="0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Si un microservicio falla, no necesariamente afecta a los demás, lo que mejora la resiliencia y la disponibilidad del sistema en su conjunto.</a:t>
            </a:r>
            <a:endParaRPr lang="es-ES" dirty="0"/>
          </a:p>
          <a:p>
            <a:pPr algn="just">
              <a:lnSpc>
                <a:spcPts val="1680"/>
              </a:lnSpc>
              <a:spcBef>
                <a:spcPts val="663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385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580FE9D2-D410-D6DB-049E-B24CA0DFA53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975361" y="471210"/>
            <a:ext cx="4916775" cy="46968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7965" marR="0" lvl="0" indent="-227965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Desventajas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5D31DFA-DD02-C147-A0D6-242DAC2AACB2}"/>
              </a:ext>
            </a:extLst>
          </p:cNvPr>
          <p:cNvSpPr/>
          <p:nvPr/>
        </p:nvSpPr>
        <p:spPr>
          <a:xfrm>
            <a:off x="4956342" y="1178533"/>
            <a:ext cx="3941864" cy="2469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814"/>
              </a:lnSpc>
            </a:pPr>
            <a:r>
              <a:rPr lang="en-US" b="1" dirty="0">
                <a:solidFill>
                  <a:srgbClr val="2A2921"/>
                </a:solidFill>
                <a:latin typeface="Arial"/>
                <a:cs typeface="Arial"/>
              </a:rPr>
              <a:t>GESTIÓN DE SERVICIOS</a:t>
            </a: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DCFF1C61-4ACD-5AAA-4E03-5BF2A25960E2}"/>
              </a:ext>
            </a:extLst>
          </p:cNvPr>
          <p:cNvSpPr/>
          <p:nvPr/>
        </p:nvSpPr>
        <p:spPr>
          <a:xfrm>
            <a:off x="4956342" y="1430601"/>
            <a:ext cx="6489898" cy="6866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/>
            <a:r>
              <a:rPr lang="es-ES" sz="1400" dirty="0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Administrar múltiples servicios puede ser complejo y requiere una infraestructura avanzada para orquestación, monitoreo y registro.</a:t>
            </a:r>
            <a:endParaRPr lang="es-ES" dirty="0"/>
          </a:p>
          <a:p>
            <a:pPr algn="just">
              <a:lnSpc>
                <a:spcPts val="1680"/>
              </a:lnSpc>
              <a:spcBef>
                <a:spcPts val="663"/>
              </a:spcBef>
            </a:pPr>
            <a:endParaRPr lang="es-ES" sz="1400" dirty="0">
              <a:solidFill>
                <a:srgbClr val="5A5A4C"/>
              </a:solidFill>
              <a:latin typeface="Montserrat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934012E8-21DD-B328-51B8-C45846792FAD}"/>
              </a:ext>
            </a:extLst>
          </p:cNvPr>
          <p:cNvSpPr/>
          <p:nvPr/>
        </p:nvSpPr>
        <p:spPr>
          <a:xfrm>
            <a:off x="4956342" y="1917560"/>
            <a:ext cx="4165982" cy="2469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814"/>
              </a:lnSpc>
            </a:pPr>
            <a:r>
              <a:rPr lang="en-US" b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DESARROLLO Y PRUEBAS</a:t>
            </a:r>
            <a:endParaRPr lang="en-US" b="1" dirty="0">
              <a:latin typeface="Arial"/>
              <a:cs typeface="Arial"/>
            </a:endParaRP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A56A3AE4-C850-F9CB-2DB3-B8FE4F7C47F0}"/>
              </a:ext>
            </a:extLst>
          </p:cNvPr>
          <p:cNvSpPr/>
          <p:nvPr/>
        </p:nvSpPr>
        <p:spPr>
          <a:xfrm>
            <a:off x="4975361" y="2174085"/>
            <a:ext cx="6500335" cy="6580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ts val="1680"/>
              </a:lnSpc>
              <a:spcBef>
                <a:spcPts val="663"/>
              </a:spcBef>
            </a:pPr>
            <a:r>
              <a:rPr lang="es-ES" sz="1400" dirty="0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El desarrollo y las pruebas de un sistema distribuido pueden ser más complicados debido a la interacción entre servicios y la necesidad de gestionar la consistencia de los datos.</a:t>
            </a:r>
            <a:endParaRPr lang="es-ES" dirty="0"/>
          </a:p>
          <a:p>
            <a:pPr algn="just">
              <a:lnSpc>
                <a:spcPts val="1680"/>
              </a:lnSpc>
              <a:spcBef>
                <a:spcPts val="663"/>
              </a:spcBef>
              <a:buNone/>
            </a:pPr>
            <a:endParaRPr lang="en-US" dirty="0"/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282EFCF5-EAEC-6CCB-AEE6-29F0DAD25AFA}"/>
              </a:ext>
            </a:extLst>
          </p:cNvPr>
          <p:cNvSpPr/>
          <p:nvPr/>
        </p:nvSpPr>
        <p:spPr>
          <a:xfrm>
            <a:off x="4975361" y="2889016"/>
            <a:ext cx="4356482" cy="2469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814"/>
              </a:lnSpc>
            </a:pPr>
            <a:r>
              <a:rPr lang="en-US" b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RECURSOS ADICIONALES</a:t>
            </a:r>
            <a:endParaRPr lang="es-ES" b="1">
              <a:latin typeface="Arial"/>
              <a:cs typeface="Arial"/>
            </a:endParaRPr>
          </a:p>
        </p:txBody>
      </p:sp>
      <p:sp>
        <p:nvSpPr>
          <p:cNvPr id="16" name="Object 4">
            <a:extLst>
              <a:ext uri="{FF2B5EF4-FFF2-40B4-BE49-F238E27FC236}">
                <a16:creationId xmlns:a16="http://schemas.microsoft.com/office/drawing/2014/main" id="{B7508C90-D9EB-623C-35BC-0A05C62F4922}"/>
              </a:ext>
            </a:extLst>
          </p:cNvPr>
          <p:cNvSpPr/>
          <p:nvPr/>
        </p:nvSpPr>
        <p:spPr>
          <a:xfrm>
            <a:off x="4945905" y="3135920"/>
            <a:ext cx="6500335" cy="7102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ts val="1680"/>
              </a:lnSpc>
              <a:spcBef>
                <a:spcPts val="663"/>
              </a:spcBef>
            </a:pPr>
            <a:r>
              <a:rPr lang="es-ES" sz="1400" dirty="0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Solo necesitas desplegar un solo archivo o conjunto de archivos, lo que simplifica la gestión de versiones y la implementación.</a:t>
            </a:r>
            <a:endParaRPr lang="es-ES" dirty="0">
              <a:latin typeface="Montserrat"/>
              <a:ea typeface="+mn-lt"/>
              <a:cs typeface="+mn-lt"/>
            </a:endParaRPr>
          </a:p>
          <a:p>
            <a:pPr algn="just">
              <a:lnSpc>
                <a:spcPts val="1680"/>
              </a:lnSpc>
              <a:spcBef>
                <a:spcPts val="663"/>
              </a:spcBef>
              <a:buNone/>
            </a:pPr>
            <a:endParaRPr lang="en-US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B0344C03-DD7A-6627-EA5D-D715E7B6CCE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530" y="1676270"/>
            <a:ext cx="3481844" cy="3505460"/>
          </a:xfrm>
          <a:prstGeom prst="rect">
            <a:avLst/>
          </a:prstGeom>
        </p:spPr>
      </p:pic>
      <p:sp>
        <p:nvSpPr>
          <p:cNvPr id="12" name="Object 3">
            <a:extLst>
              <a:ext uri="{FF2B5EF4-FFF2-40B4-BE49-F238E27FC236}">
                <a16:creationId xmlns:a16="http://schemas.microsoft.com/office/drawing/2014/main" id="{2293DFA9-6587-49A5-A7A5-845B68B3A1BC}"/>
              </a:ext>
            </a:extLst>
          </p:cNvPr>
          <p:cNvSpPr/>
          <p:nvPr/>
        </p:nvSpPr>
        <p:spPr>
          <a:xfrm>
            <a:off x="4945905" y="3598482"/>
            <a:ext cx="5870044" cy="205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814"/>
              </a:lnSpc>
            </a:pPr>
            <a:r>
              <a:rPr lang="en-US" b="1" dirty="0">
                <a:latin typeface="Arial"/>
                <a:ea typeface="+mn-lt"/>
                <a:cs typeface="Arial"/>
              </a:rPr>
              <a:t>OVERHEAD DE COMUNICACIÓN</a:t>
            </a:r>
            <a:endParaRPr lang="en-US" b="1" dirty="0">
              <a:latin typeface="Arial"/>
              <a:cs typeface="Arial"/>
            </a:endParaRPr>
          </a:p>
        </p:txBody>
      </p:sp>
      <p:sp>
        <p:nvSpPr>
          <p:cNvPr id="14" name="Object 4">
            <a:extLst>
              <a:ext uri="{FF2B5EF4-FFF2-40B4-BE49-F238E27FC236}">
                <a16:creationId xmlns:a16="http://schemas.microsoft.com/office/drawing/2014/main" id="{DDC0F3C9-EAF9-4F3B-B53C-FFEB38281C43}"/>
              </a:ext>
            </a:extLst>
          </p:cNvPr>
          <p:cNvSpPr/>
          <p:nvPr/>
        </p:nvSpPr>
        <p:spPr>
          <a:xfrm>
            <a:off x="4945904" y="3865422"/>
            <a:ext cx="6500336" cy="7729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ts val="1680"/>
              </a:lnSpc>
              <a:spcBef>
                <a:spcPts val="663"/>
              </a:spcBef>
            </a:pPr>
            <a:r>
              <a:rPr lang="es-ES" sz="1400" dirty="0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La comunicación entre microservicios a través de la red puede introducir latencia y requerir un manejo eficiente de las solicitudes y respuestas.</a:t>
            </a:r>
            <a:endParaRPr lang="es-ES" dirty="0"/>
          </a:p>
          <a:p>
            <a:pPr algn="just">
              <a:lnSpc>
                <a:spcPts val="1680"/>
              </a:lnSpc>
              <a:spcBef>
                <a:spcPts val="663"/>
              </a:spcBef>
              <a:buNone/>
            </a:pPr>
            <a:endParaRPr lang="en-US" dirty="0"/>
          </a:p>
        </p:txBody>
      </p:sp>
      <p:sp>
        <p:nvSpPr>
          <p:cNvPr id="17" name="Object 3">
            <a:extLst>
              <a:ext uri="{FF2B5EF4-FFF2-40B4-BE49-F238E27FC236}">
                <a16:creationId xmlns:a16="http://schemas.microsoft.com/office/drawing/2014/main" id="{4B69D186-DFC7-4CBE-AA58-A8C69920F02F}"/>
              </a:ext>
            </a:extLst>
          </p:cNvPr>
          <p:cNvSpPr/>
          <p:nvPr/>
        </p:nvSpPr>
        <p:spPr>
          <a:xfrm>
            <a:off x="4945904" y="4431754"/>
            <a:ext cx="5870044" cy="205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814"/>
              </a:lnSpc>
            </a:pPr>
            <a:r>
              <a:rPr lang="en-US" b="1" dirty="0">
                <a:latin typeface="Arial"/>
                <a:ea typeface="+mn-lt"/>
                <a:cs typeface="Arial"/>
              </a:rPr>
              <a:t>SUPERFICIE DE ATAQUE MAYOR</a:t>
            </a:r>
            <a:endParaRPr lang="en-US" b="1" dirty="0">
              <a:latin typeface="Arial"/>
              <a:cs typeface="Arial"/>
            </a:endParaRPr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CC55CC0A-ADFC-448D-88DB-5EF2979271EE}"/>
              </a:ext>
            </a:extLst>
          </p:cNvPr>
          <p:cNvSpPr/>
          <p:nvPr/>
        </p:nvSpPr>
        <p:spPr>
          <a:xfrm>
            <a:off x="4945904" y="4681009"/>
            <a:ext cx="6500336" cy="7729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ts val="1680"/>
              </a:lnSpc>
              <a:spcBef>
                <a:spcPts val="663"/>
              </a:spcBef>
            </a:pPr>
            <a:r>
              <a:rPr lang="es-ES" sz="1400" dirty="0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Con múltiples puntos de entrada y comunicación entre servicios, la seguridad se vuelve más compleja y puede requerir medidas adicionales para proteger cada microservicio y sus interacciones.</a:t>
            </a:r>
            <a:endParaRPr lang="es-ES" dirty="0"/>
          </a:p>
          <a:p>
            <a:pPr algn="just">
              <a:lnSpc>
                <a:spcPts val="1680"/>
              </a:lnSpc>
              <a:spcBef>
                <a:spcPts val="663"/>
              </a:spcBef>
              <a:buNone/>
            </a:pPr>
            <a:endParaRPr lang="en-US" dirty="0"/>
          </a:p>
        </p:txBody>
      </p:sp>
      <p:sp>
        <p:nvSpPr>
          <p:cNvPr id="19" name="Object 3">
            <a:extLst>
              <a:ext uri="{FF2B5EF4-FFF2-40B4-BE49-F238E27FC236}">
                <a16:creationId xmlns:a16="http://schemas.microsoft.com/office/drawing/2014/main" id="{72C9ADA2-4FBF-443A-AF43-31433E127B4A}"/>
              </a:ext>
            </a:extLst>
          </p:cNvPr>
          <p:cNvSpPr/>
          <p:nvPr/>
        </p:nvSpPr>
        <p:spPr>
          <a:xfrm>
            <a:off x="4945904" y="5381689"/>
            <a:ext cx="5870044" cy="205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814"/>
              </a:lnSpc>
            </a:pPr>
            <a:r>
              <a:rPr lang="en-US" b="1" dirty="0">
                <a:latin typeface="Arial"/>
                <a:ea typeface="+mn-lt"/>
                <a:cs typeface="Arial"/>
              </a:rPr>
              <a:t>GESTIÓN DE TRANSACCIONES</a:t>
            </a:r>
            <a:endParaRPr lang="es-ES" b="1" dirty="0">
              <a:latin typeface="Arial"/>
              <a:cs typeface="Arial"/>
            </a:endParaRPr>
          </a:p>
        </p:txBody>
      </p:sp>
      <p:sp>
        <p:nvSpPr>
          <p:cNvPr id="20" name="Object 4">
            <a:extLst>
              <a:ext uri="{FF2B5EF4-FFF2-40B4-BE49-F238E27FC236}">
                <a16:creationId xmlns:a16="http://schemas.microsoft.com/office/drawing/2014/main" id="{FEF041F5-6E42-4B9F-A5D0-441FBDFD4229}"/>
              </a:ext>
            </a:extLst>
          </p:cNvPr>
          <p:cNvSpPr/>
          <p:nvPr/>
        </p:nvSpPr>
        <p:spPr>
          <a:xfrm>
            <a:off x="4945904" y="5613877"/>
            <a:ext cx="6500336" cy="7729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ts val="1680"/>
              </a:lnSpc>
              <a:spcBef>
                <a:spcPts val="663"/>
              </a:spcBef>
            </a:pPr>
            <a:r>
              <a:rPr lang="es-ES" sz="1400" dirty="0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Mantener la consistencia de datos en un sistema distribuido puede ser un desafío, especialmente en transacciones que abarcan múltiples servicios.</a:t>
            </a:r>
            <a:endParaRPr lang="es-ES" dirty="0"/>
          </a:p>
          <a:p>
            <a:pPr algn="just">
              <a:lnSpc>
                <a:spcPts val="1680"/>
              </a:lnSpc>
              <a:spcBef>
                <a:spcPts val="663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189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A5F066-A122-A7BB-EAE9-7C2793282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Transición de Monolítico a Microservicios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95622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03250" y="550863"/>
            <a:ext cx="10331450" cy="4699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7965" marR="0" lvl="0" indent="-227965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La Pandemia y el Auge de los Microservicios</a:t>
            </a:r>
            <a:endParaRPr kumimoji="0" lang="es-E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F4B8DF5-4506-39E9-655A-4CF7560A69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212" y="1272389"/>
            <a:ext cx="11024171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ES" sz="1800" dirty="0">
                <a:latin typeface="Arial"/>
                <a:cs typeface="Arial"/>
              </a:rPr>
              <a:t>La pandemia del </a:t>
            </a:r>
            <a:r>
              <a:rPr lang="es-ES" sz="1800" b="1" dirty="0">
                <a:solidFill>
                  <a:srgbClr val="4E7CDD"/>
                </a:solidFill>
                <a:latin typeface="Arial"/>
                <a:cs typeface="Arial"/>
              </a:rPr>
              <a:t>COVID-19</a:t>
            </a:r>
            <a:r>
              <a:rPr lang="es-ES" sz="1800" dirty="0">
                <a:latin typeface="Arial"/>
                <a:cs typeface="Arial"/>
              </a:rPr>
              <a:t> marcó un punto de inflexión en el desarrollo de aplicaciones, especialmente en los sectores de delivery y mapas de zonas. La necesidad de adaptarse rápidamente a las nuevas demandas del mercado impulsó a muchas empresas a adoptar arquitecturas de microservicios para mejorar la integración y la experiencia del usuario.</a:t>
            </a:r>
            <a:endParaRPr lang="es-ES">
              <a:latin typeface="Arial"/>
              <a:cs typeface="Arial"/>
            </a:endParaRPr>
          </a:p>
        </p:txBody>
      </p:sp>
      <p:pic>
        <p:nvPicPr>
          <p:cNvPr id="5" name="Imagen 4" descr="Interfaz de usuario gráfica, Aplicación, Mapa&#10;&#10;Descripción generada automáticamente">
            <a:extLst>
              <a:ext uri="{FF2B5EF4-FFF2-40B4-BE49-F238E27FC236}">
                <a16:creationId xmlns:a16="http://schemas.microsoft.com/office/drawing/2014/main" id="{5C3F08DC-E2C5-9C03-D435-2575C376CA6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38" t="6829" r="1365" b="292"/>
          <a:stretch/>
        </p:blipFill>
        <p:spPr>
          <a:xfrm>
            <a:off x="3183073" y="2976140"/>
            <a:ext cx="5822303" cy="3315305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22648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03250" y="550863"/>
            <a:ext cx="10331450" cy="4699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7965" marR="0" lvl="0" indent="-227965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La Pandemia y el Auge de los Microservicios</a:t>
            </a:r>
            <a:endParaRPr kumimoji="0" lang="es-E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F21D7ED-CC74-4B54-3143-E06FD34BB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078" y="1212333"/>
            <a:ext cx="10794945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s-CL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defTabSz="914400">
              <a:lnSpc>
                <a:spcPct val="150000"/>
              </a:lnSpc>
              <a:buNone/>
            </a:pPr>
            <a:r>
              <a:rPr lang="es-ES" sz="1800" b="1" dirty="0">
                <a:latin typeface="Arial"/>
                <a:cs typeface="Arial"/>
              </a:rPr>
              <a:t>Impacto en el Desarrollo de Aplicaciones</a:t>
            </a:r>
            <a:endParaRPr lang="es-ES" b="1" dirty="0"/>
          </a:p>
          <a:p>
            <a:pPr marL="0" indent="0" algn="just" defTabSz="914400">
              <a:lnSpc>
                <a:spcPct val="150000"/>
              </a:lnSpc>
              <a:buNone/>
            </a:pPr>
            <a:r>
              <a:rPr lang="es-ES" sz="1800" dirty="0">
                <a:latin typeface="Arial"/>
                <a:cs typeface="Arial"/>
              </a:rPr>
              <a:t>Durante la pandemia, las aplicaciones móviles se convirtieron en un pilar fundamental para la continuidad de miles de negocios. La rápida adopción de microservicios permitió a estas aplicaciones.</a:t>
            </a:r>
            <a:endParaRPr lang="es-ES" dirty="0"/>
          </a:p>
          <a:p>
            <a:pPr mar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s-ES" sz="1800" dirty="0">
              <a:latin typeface="Arial"/>
              <a:cs typeface="Arial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5C131D1C-AB11-A340-D167-C8A9AAC185F4}"/>
              </a:ext>
            </a:extLst>
          </p:cNvPr>
          <p:cNvSpPr/>
          <p:nvPr/>
        </p:nvSpPr>
        <p:spPr>
          <a:xfrm>
            <a:off x="599025" y="4136637"/>
            <a:ext cx="2949112" cy="2883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814"/>
              </a:lnSpc>
            </a:pPr>
            <a:r>
              <a:rPr lang="en-US" b="1" dirty="0">
                <a:latin typeface="Arial"/>
                <a:cs typeface="Arial"/>
              </a:rPr>
              <a:t>ESCALAR RÁPIDAMENTE</a:t>
            </a:r>
            <a:endParaRPr lang="es-ES" b="1" dirty="0">
              <a:latin typeface="Arial"/>
              <a:cs typeface="Arial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C43B4632-DB23-AA8B-3992-29CC40198AD3}"/>
              </a:ext>
            </a:extLst>
          </p:cNvPr>
          <p:cNvSpPr/>
          <p:nvPr/>
        </p:nvSpPr>
        <p:spPr>
          <a:xfrm>
            <a:off x="599794" y="4633523"/>
            <a:ext cx="2941830" cy="9538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ts val="1680"/>
              </a:lnSpc>
              <a:spcBef>
                <a:spcPts val="663"/>
              </a:spcBef>
            </a:pPr>
            <a:r>
              <a:rPr lang="es-ES" sz="1200" dirty="0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Las aplicaciones de </a:t>
            </a:r>
            <a:r>
              <a:rPr lang="es-ES" sz="1200" err="1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delivery</a:t>
            </a:r>
            <a:r>
              <a:rPr lang="es-ES" sz="1200" dirty="0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 y servicios relacionados pudieron manejar un aumento significativo en la demanda, escalando sus servicios de manera eficiente.</a:t>
            </a:r>
            <a:endParaRPr lang="es-ES" sz="1200" dirty="0"/>
          </a:p>
          <a:p>
            <a:pPr algn="just">
              <a:lnSpc>
                <a:spcPts val="1680"/>
              </a:lnSpc>
              <a:spcBef>
                <a:spcPts val="663"/>
              </a:spcBef>
              <a:buNone/>
            </a:pPr>
            <a:endParaRPr lang="en-US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8B74570E-9FD3-F986-90DC-CDE1793D5424}"/>
              </a:ext>
            </a:extLst>
          </p:cNvPr>
          <p:cNvSpPr/>
          <p:nvPr/>
        </p:nvSpPr>
        <p:spPr>
          <a:xfrm>
            <a:off x="4530944" y="4089646"/>
            <a:ext cx="2959272" cy="2883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814"/>
              </a:lnSpc>
            </a:pPr>
            <a:r>
              <a:rPr lang="en-US" b="1" dirty="0">
                <a:latin typeface="Arial"/>
                <a:cs typeface="Arial"/>
              </a:rPr>
              <a:t>INTEGRARSE CON OTROS SERVICIOS</a:t>
            </a: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DD2F294A-3C8A-1F84-942D-BD2025DCD484}"/>
              </a:ext>
            </a:extLst>
          </p:cNvPr>
          <p:cNvSpPr/>
          <p:nvPr/>
        </p:nvSpPr>
        <p:spPr>
          <a:xfrm>
            <a:off x="4521553" y="4633522"/>
            <a:ext cx="2951990" cy="9436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ts val="1680"/>
              </a:lnSpc>
              <a:spcBef>
                <a:spcPts val="663"/>
              </a:spcBef>
            </a:pPr>
            <a:r>
              <a:rPr lang="es-ES" sz="1200" dirty="0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Los microservicios facilitaron la integración con servicios de terceros, como sistemas de pago, seguimiento de pedidos y notificaciones en tiempo real.</a:t>
            </a:r>
            <a:endParaRPr lang="es-ES" sz="1200" dirty="0"/>
          </a:p>
          <a:p>
            <a:pPr algn="just">
              <a:lnSpc>
                <a:spcPts val="1680"/>
              </a:lnSpc>
              <a:spcBef>
                <a:spcPts val="663"/>
              </a:spcBef>
              <a:buNone/>
            </a:pPr>
            <a:endParaRPr lang="en-US" dirty="0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3EA8CF37-0AA4-70A1-F723-392640F9EC2F}"/>
              </a:ext>
            </a:extLst>
          </p:cNvPr>
          <p:cNvSpPr/>
          <p:nvPr/>
        </p:nvSpPr>
        <p:spPr>
          <a:xfrm>
            <a:off x="8381584" y="4089645"/>
            <a:ext cx="3081192" cy="3899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814"/>
              </a:lnSpc>
            </a:pPr>
            <a:r>
              <a:rPr lang="en-US" b="1" dirty="0">
                <a:latin typeface="Arial"/>
                <a:cs typeface="Arial"/>
              </a:rPr>
              <a:t>MEJORAR LA RESILENCIA Y LA FLEXIBILIDAD</a:t>
            </a: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E3449888-85E5-61B2-501C-EE53C5983C04}"/>
              </a:ext>
            </a:extLst>
          </p:cNvPr>
          <p:cNvSpPr/>
          <p:nvPr/>
        </p:nvSpPr>
        <p:spPr>
          <a:xfrm>
            <a:off x="8382352" y="4633521"/>
            <a:ext cx="3073910" cy="9436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ts val="1680"/>
              </a:lnSpc>
              <a:spcBef>
                <a:spcPts val="663"/>
              </a:spcBef>
            </a:pPr>
            <a:r>
              <a:rPr lang="es-ES" sz="1200" dirty="0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La arquitectura de microservicios permitió a las empresas realizar actualizaciones y mejoras sin interrumpir el servicio, adaptándose rápidamente a los cambios del mercado.</a:t>
            </a:r>
            <a:endParaRPr lang="es-ES" sz="1200" dirty="0"/>
          </a:p>
          <a:p>
            <a:pPr algn="just">
              <a:lnSpc>
                <a:spcPts val="1680"/>
              </a:lnSpc>
              <a:spcBef>
                <a:spcPts val="663"/>
              </a:spcBef>
              <a:buNone/>
            </a:pPr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3AA6D27-41AD-7DDD-4FF7-06E7D0DFB8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0553" y="2709672"/>
            <a:ext cx="1320322" cy="128431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D8E3776-BBF0-DFF3-80DC-3E4D4D5D58F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700" y="2695575"/>
            <a:ext cx="1381125" cy="131445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DF609B1-49FA-E95C-D110-58068E4BC2B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-4887" r="2878" b="2239"/>
          <a:stretch/>
        </p:blipFill>
        <p:spPr>
          <a:xfrm>
            <a:off x="1209675" y="2745086"/>
            <a:ext cx="1341381" cy="1359042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802950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54050" y="550863"/>
            <a:ext cx="10690225" cy="4699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7965" marR="0" lvl="0" indent="-227965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La Pandemia y el Auge de los Microservicios</a:t>
            </a:r>
            <a:endParaRPr kumimoji="0" lang="es-E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27965" marR="0" lvl="0" indent="-227965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CL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FB918C6-E52E-2856-54AC-9684E20B43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685" y="1493616"/>
            <a:ext cx="5932633" cy="2949525"/>
          </a:xfrm>
          <a:prstGeom prst="rect">
            <a:avLst/>
          </a:prstGeom>
          <a:noFill/>
          <a:ln>
            <a:noFill/>
            <a:prstDash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Empresas de todo el mundo, desde pequeñas 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4E7CD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startups 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hasta gigantes tecnológicos, adoptaron 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4E7CD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microservicios 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para responder a las nuevas necesidades. Aplicaciones de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delivery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, mapas interactivos de zonas de riesgo y 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servicios de telemedicina son 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solo algunos ejemplos de cómo los microservicios han sido fundamentales durante la pandemia.</a:t>
            </a:r>
            <a:endParaRPr kumimoji="0" lang="es-E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B331A1E2-CEEF-C952-7639-43BFBF0DA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5120" y="1357917"/>
            <a:ext cx="2864577" cy="2927207"/>
          </a:xfrm>
          <a:prstGeom prst="rect">
            <a:avLst/>
          </a:prstGeom>
        </p:spPr>
      </p:pic>
      <p:pic>
        <p:nvPicPr>
          <p:cNvPr id="3" name="Imagen 2" descr="Forma, Rectángulo&#10;&#10;Descripción generada automáticamente">
            <a:extLst>
              <a:ext uri="{FF2B5EF4-FFF2-40B4-BE49-F238E27FC236}">
                <a16:creationId xmlns:a16="http://schemas.microsoft.com/office/drawing/2014/main" id="{5ABD0CB6-F2D3-D334-8045-1D0FBF700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44441"/>
            <a:ext cx="12192000" cy="1219200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8622357E-BC06-70AC-F6F6-5891CB757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082" y="5016690"/>
            <a:ext cx="11684167" cy="872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ES" sz="1800" dirty="0">
                <a:solidFill>
                  <a:schemeClr val="bg1"/>
                </a:solidFill>
                <a:latin typeface="Montserrat"/>
                <a:cs typeface="Arial"/>
              </a:rPr>
              <a:t> La pandemia aceleró la adopción de nuevas tecnologías en las </a:t>
            </a:r>
            <a:r>
              <a:rPr lang="es-ES" sz="1800" err="1">
                <a:solidFill>
                  <a:schemeClr val="bg1"/>
                </a:solidFill>
                <a:latin typeface="Montserrat"/>
                <a:cs typeface="Arial"/>
              </a:rPr>
              <a:t>PyMEs</a:t>
            </a:r>
            <a:r>
              <a:rPr lang="es-ES" sz="1800" dirty="0">
                <a:solidFill>
                  <a:schemeClr val="bg1"/>
                </a:solidFill>
                <a:latin typeface="Montserrat"/>
                <a:cs typeface="Arial"/>
              </a:rPr>
              <a:t>, </a:t>
            </a:r>
            <a:endParaRPr lang="es-ES">
              <a:solidFill>
                <a:schemeClr val="bg1"/>
              </a:solidFill>
              <a:latin typeface="Montserrat"/>
            </a:endParaRPr>
          </a:p>
          <a:p>
            <a:pPr marL="0" indent="0" algn="ctr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ES" sz="1800" dirty="0">
                <a:solidFill>
                  <a:schemeClr val="bg1"/>
                </a:solidFill>
                <a:latin typeface="Montserrat"/>
                <a:cs typeface="Arial"/>
              </a:rPr>
              <a:t>como la automatización de procesos (35%) y la capacitación en nuevas habilidades (36%)</a:t>
            </a:r>
            <a:endParaRPr lang="es-ES">
              <a:solidFill>
                <a:schemeClr val="bg1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730727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54050" y="550863"/>
            <a:ext cx="10766425" cy="45561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7965" marR="0" lvl="0" indent="-227965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Empresas y Startup que utilizan microservicios</a:t>
            </a:r>
            <a:endParaRPr kumimoji="0" lang="es-E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5CCF052-5ADE-3A1B-6CE8-3A4C2FFD627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9936" y="2881218"/>
            <a:ext cx="2334566" cy="1083627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liExpress - Wikipedia, la enciclopedia libre">
            <a:extLst>
              <a:ext uri="{FF2B5EF4-FFF2-40B4-BE49-F238E27FC236}">
                <a16:creationId xmlns:a16="http://schemas.microsoft.com/office/drawing/2014/main" id="{DD1BB40E-C366-0365-C67D-9735E78AB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152" y="3077358"/>
            <a:ext cx="2243242" cy="706533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WhatsApp lanza un chat oficial de información y tutoriales para sus  usuarios | WIRED">
            <a:extLst>
              <a:ext uri="{FF2B5EF4-FFF2-40B4-BE49-F238E27FC236}">
                <a16:creationId xmlns:a16="http://schemas.microsoft.com/office/drawing/2014/main" id="{6F25F8C6-9532-45A5-19B5-EFD784F85C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01" t="16002" r="31334" b="18603"/>
          <a:stretch/>
        </p:blipFill>
        <p:spPr bwMode="auto">
          <a:xfrm>
            <a:off x="1752956" y="4363369"/>
            <a:ext cx="1140219" cy="1076431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B93DBEE8-730B-4117-6FE2-360223625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3394" y="4360063"/>
            <a:ext cx="2401556" cy="721405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PedidosYa lanza en Chile plataforma de envíos para empresas y  emprendimientos – Cámara de Comercio de Santiago – CCS">
            <a:extLst>
              <a:ext uri="{FF2B5EF4-FFF2-40B4-BE49-F238E27FC236}">
                <a16:creationId xmlns:a16="http://schemas.microsoft.com/office/drawing/2014/main" id="{6967CCF9-1945-6295-8BED-F5299F07E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7974" y="4550401"/>
            <a:ext cx="1567543" cy="1567543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No, Rappi no va a caer-Parte 1">
            <a:extLst>
              <a:ext uri="{FF2B5EF4-FFF2-40B4-BE49-F238E27FC236}">
                <a16:creationId xmlns:a16="http://schemas.microsoft.com/office/drawing/2014/main" id="{692820C1-8246-3B15-4B6B-C8C9EBBC6B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93" t="8217" r="14097" b="4474"/>
          <a:stretch/>
        </p:blipFill>
        <p:spPr bwMode="auto">
          <a:xfrm>
            <a:off x="6731366" y="4632237"/>
            <a:ext cx="1887704" cy="1619394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5E11A8D-6B25-D6FD-4318-28AE6D278FB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069" y="1720610"/>
            <a:ext cx="3009900" cy="80010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" name="Imagen 4" descr="uber logo png, uber icono transparente png 27127451 PNG">
            <a:extLst>
              <a:ext uri="{FF2B5EF4-FFF2-40B4-BE49-F238E27FC236}">
                <a16:creationId xmlns:a16="http://schemas.microsoft.com/office/drawing/2014/main" id="{C78D7CB8-DDF0-6952-D979-F08989B4DDC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81382" y="1937349"/>
            <a:ext cx="2743200" cy="114300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48D6B20-BCA1-3312-EDBF-F154013C93E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44095" y="3196177"/>
            <a:ext cx="2886075" cy="6381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164E3B8-39E4-F68D-AFAE-2BB16874EB8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22384" y="1701021"/>
            <a:ext cx="2809875" cy="66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35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9CB314-CE82-65BE-C60F-1EA15F855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8391" y="2772813"/>
            <a:ext cx="3848519" cy="1627331"/>
          </a:xfrm>
        </p:spPr>
        <p:txBody>
          <a:bodyPr/>
          <a:lstStyle/>
          <a:p>
            <a:r>
              <a:rPr lang="es-CL" dirty="0">
                <a:latin typeface="Arial"/>
                <a:cs typeface="Arial"/>
              </a:rPr>
              <a:t>Desarrollador </a:t>
            </a:r>
            <a:r>
              <a:rPr lang="es-CL" dirty="0" err="1">
                <a:latin typeface="Arial"/>
                <a:cs typeface="Arial"/>
              </a:rPr>
              <a:t>Fullstack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6405076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580FE9D2-D410-D6DB-049E-B24CA0DFA53B}"/>
              </a:ext>
            </a:extLst>
          </p:cNvPr>
          <p:cNvSpPr txBox="1">
            <a:spLocks/>
          </p:cNvSpPr>
          <p:nvPr/>
        </p:nvSpPr>
        <p:spPr>
          <a:xfrm>
            <a:off x="4975361" y="471210"/>
            <a:ext cx="4916775" cy="46968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7965" indent="-227965"/>
            <a:r>
              <a:rPr lang="es-CL" b="1" err="1">
                <a:latin typeface="Arial"/>
                <a:cs typeface="Arial"/>
              </a:rPr>
              <a:t>Frontend</a:t>
            </a:r>
            <a:endParaRPr lang="es-ES" b="1" err="1">
              <a:latin typeface="Arial"/>
              <a:cs typeface="Arial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A82A350B-2473-989B-AF2F-128D85326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0535" y="1007929"/>
            <a:ext cx="6838391" cy="4837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defTabSz="914400">
              <a:lnSpc>
                <a:spcPct val="150000"/>
              </a:lnSpc>
              <a:buNone/>
            </a:pPr>
            <a:r>
              <a:rPr lang="es-ES" sz="1800">
                <a:latin typeface="Arial"/>
                <a:cs typeface="Arial"/>
              </a:rPr>
              <a:t>Se</a:t>
            </a:r>
            <a:r>
              <a:rPr lang="es-ES" sz="1800">
                <a:solidFill>
                  <a:srgbClr val="000000"/>
                </a:solidFill>
                <a:latin typeface="Arial"/>
                <a:cs typeface="Arial"/>
              </a:rPr>
              <a:t> refiere al desarrollador</a:t>
            </a:r>
            <a:r>
              <a:rPr lang="es-ES" sz="1800">
                <a:latin typeface="Arial"/>
                <a:cs typeface="Arial"/>
              </a:rPr>
              <a:t> de la </a:t>
            </a:r>
            <a:r>
              <a:rPr lang="es-ES" sz="1800" b="1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parte visible de una aplicación</a:t>
            </a:r>
            <a:r>
              <a:rPr lang="es-ES" sz="1800">
                <a:solidFill>
                  <a:srgbClr val="000000"/>
                </a:solidFill>
                <a:latin typeface="Arial"/>
                <a:cs typeface="Arial"/>
              </a:rPr>
              <a:t> con </a:t>
            </a:r>
            <a:r>
              <a:rPr lang="es-ES" sz="1800">
                <a:latin typeface="Arial"/>
                <a:cs typeface="Arial"/>
              </a:rPr>
              <a:t>la que los usuarios interactúan directamente.</a:t>
            </a:r>
            <a:endParaRPr lang="es-ES">
              <a:latin typeface="Aptos" panose="02110004020202020204"/>
              <a:cs typeface="Arial"/>
            </a:endParaRPr>
          </a:p>
          <a:p>
            <a:pPr marL="0" indent="0" algn="just" defTabSz="914400">
              <a:lnSpc>
                <a:spcPct val="150000"/>
              </a:lnSpc>
              <a:buNone/>
            </a:pPr>
            <a:r>
              <a:rPr lang="es-ES" sz="1800">
                <a:latin typeface="Arial"/>
                <a:cs typeface="Arial"/>
              </a:rPr>
              <a:t>Un desarrollador </a:t>
            </a:r>
            <a:r>
              <a:rPr lang="es-ES" sz="1800" err="1">
                <a:solidFill>
                  <a:srgbClr val="000000"/>
                </a:solidFill>
                <a:latin typeface="Arial"/>
                <a:cs typeface="Arial"/>
              </a:rPr>
              <a:t>frontend</a:t>
            </a:r>
            <a:r>
              <a:rPr lang="es-ES" sz="1800">
                <a:latin typeface="Arial"/>
                <a:cs typeface="Arial"/>
              </a:rPr>
              <a:t> en este </a:t>
            </a:r>
            <a:r>
              <a:rPr lang="es-ES" sz="1800">
                <a:solidFill>
                  <a:srgbClr val="000000"/>
                </a:solidFill>
                <a:latin typeface="Arial"/>
                <a:cs typeface="Arial"/>
              </a:rPr>
              <a:t>ámbito </a:t>
            </a:r>
            <a:r>
              <a:rPr lang="es-ES" sz="1800">
                <a:latin typeface="Arial"/>
                <a:cs typeface="Arial"/>
              </a:rPr>
              <a:t>debe tener habilidades en:</a:t>
            </a:r>
            <a:endParaRPr lang="es-ES"/>
          </a:p>
          <a:p>
            <a:pPr marL="227965" indent="-227965" algn="just" defTabSz="914400">
              <a:lnSpc>
                <a:spcPct val="150000"/>
              </a:lnSpc>
            </a:pPr>
            <a:r>
              <a:rPr lang="es-ES" sz="1800" b="1">
                <a:latin typeface="Arial"/>
                <a:cs typeface="Arial"/>
              </a:rPr>
              <a:t>HTML</a:t>
            </a:r>
            <a:r>
              <a:rPr lang="es-ES" sz="1800">
                <a:latin typeface="Arial"/>
                <a:cs typeface="Arial"/>
              </a:rPr>
              <a:t>: para estructurar el contenido</a:t>
            </a:r>
            <a:r>
              <a:rPr lang="es-ES" sz="1800">
                <a:solidFill>
                  <a:srgbClr val="000000"/>
                </a:solidFill>
                <a:latin typeface="Arial"/>
                <a:cs typeface="Arial"/>
              </a:rPr>
              <a:t>.</a:t>
            </a:r>
            <a:endParaRPr lang="es-ES"/>
          </a:p>
          <a:p>
            <a:pPr marL="227965" indent="-227965" algn="just" defTabSz="914400">
              <a:lnSpc>
                <a:spcPct val="150000"/>
              </a:lnSpc>
            </a:pPr>
            <a:r>
              <a:rPr lang="es-ES" sz="1800" b="1">
                <a:solidFill>
                  <a:srgbClr val="000000"/>
                </a:solidFill>
                <a:latin typeface="Arial"/>
                <a:cs typeface="Arial"/>
              </a:rPr>
              <a:t>CSS</a:t>
            </a:r>
            <a:r>
              <a:rPr lang="es-ES" sz="1800">
                <a:solidFill>
                  <a:srgbClr val="000000"/>
                </a:solidFill>
                <a:latin typeface="Arial"/>
                <a:cs typeface="Arial"/>
              </a:rPr>
              <a:t>: para estilizar </a:t>
            </a:r>
            <a:r>
              <a:rPr lang="es-ES" sz="1800">
                <a:latin typeface="Arial"/>
                <a:cs typeface="Arial"/>
              </a:rPr>
              <a:t>y </a:t>
            </a:r>
            <a:r>
              <a:rPr lang="es-ES" sz="1800">
                <a:solidFill>
                  <a:srgbClr val="000000"/>
                </a:solidFill>
                <a:latin typeface="Arial"/>
                <a:cs typeface="Arial"/>
              </a:rPr>
              <a:t>diseñar </a:t>
            </a:r>
            <a:r>
              <a:rPr lang="es-ES" sz="1800">
                <a:latin typeface="Arial"/>
                <a:cs typeface="Arial"/>
              </a:rPr>
              <a:t>el </a:t>
            </a:r>
            <a:r>
              <a:rPr lang="es-ES" sz="1800">
                <a:solidFill>
                  <a:srgbClr val="000000"/>
                </a:solidFill>
                <a:latin typeface="Arial"/>
                <a:cs typeface="Arial"/>
              </a:rPr>
              <a:t>contenido</a:t>
            </a:r>
            <a:r>
              <a:rPr lang="es-ES" sz="1800">
                <a:latin typeface="Arial"/>
                <a:cs typeface="Arial"/>
              </a:rPr>
              <a:t>.</a:t>
            </a:r>
            <a:endParaRPr lang="es-ES"/>
          </a:p>
          <a:p>
            <a:pPr marL="227965" indent="-227965" algn="just" defTabSz="914400">
              <a:lnSpc>
                <a:spcPct val="150000"/>
              </a:lnSpc>
            </a:pPr>
            <a:r>
              <a:rPr lang="es-ES" sz="1800" b="1">
                <a:solidFill>
                  <a:srgbClr val="000000"/>
                </a:solidFill>
                <a:latin typeface="Arial"/>
                <a:cs typeface="Arial"/>
              </a:rPr>
              <a:t>JavaScript</a:t>
            </a:r>
            <a:r>
              <a:rPr lang="es-ES" sz="1800">
                <a:solidFill>
                  <a:srgbClr val="000000"/>
                </a:solidFill>
                <a:latin typeface="Arial"/>
                <a:cs typeface="Arial"/>
              </a:rPr>
              <a:t>: para </a:t>
            </a:r>
            <a:r>
              <a:rPr lang="es-ES" sz="1800">
                <a:latin typeface="Arial"/>
                <a:cs typeface="Arial"/>
              </a:rPr>
              <a:t>añadir interactividad</a:t>
            </a:r>
            <a:r>
              <a:rPr lang="es-ES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800">
                <a:latin typeface="Arial"/>
                <a:cs typeface="Arial"/>
              </a:rPr>
              <a:t>y dinamismo.</a:t>
            </a:r>
            <a:endParaRPr lang="es-ES"/>
          </a:p>
          <a:p>
            <a:pPr marL="227965" indent="-227965" algn="just" defTabSz="914400">
              <a:lnSpc>
                <a:spcPct val="150000"/>
              </a:lnSpc>
            </a:pPr>
            <a:r>
              <a:rPr lang="es-ES" sz="1800" b="1" err="1">
                <a:latin typeface="Arial"/>
                <a:cs typeface="Arial"/>
              </a:rPr>
              <a:t>Frameworks</a:t>
            </a:r>
            <a:r>
              <a:rPr lang="es-ES" sz="1800" b="1">
                <a:latin typeface="Arial"/>
                <a:cs typeface="Arial"/>
              </a:rPr>
              <a:t> y librerías: </a:t>
            </a:r>
            <a:r>
              <a:rPr lang="es-ES" sz="1800">
                <a:latin typeface="Arial"/>
                <a:cs typeface="Arial"/>
              </a:rPr>
              <a:t>como </a:t>
            </a:r>
            <a:r>
              <a:rPr lang="es-ES" sz="1800" err="1">
                <a:latin typeface="Arial"/>
                <a:cs typeface="Arial"/>
              </a:rPr>
              <a:t>React</a:t>
            </a:r>
            <a:r>
              <a:rPr lang="es-ES" sz="1800">
                <a:latin typeface="Arial"/>
                <a:cs typeface="Arial"/>
              </a:rPr>
              <a:t>, Angular o Vue.js para construir interfaces de usuario modernas y eficientes.</a:t>
            </a:r>
            <a:endParaRPr lang="es-ES"/>
          </a:p>
          <a:p>
            <a:pPr mar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s-ES" sz="1800">
              <a:latin typeface="Arial"/>
              <a:cs typeface="Arial"/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5CC02A8E-89FE-FA13-5D4A-66EBC88B5A40}"/>
              </a:ext>
            </a:extLst>
          </p:cNvPr>
          <p:cNvGrpSpPr/>
          <p:nvPr/>
        </p:nvGrpSpPr>
        <p:grpSpPr>
          <a:xfrm>
            <a:off x="7083467" y="5767991"/>
            <a:ext cx="2336105" cy="969167"/>
            <a:chOff x="2093934" y="2218951"/>
            <a:chExt cx="8870515" cy="4163302"/>
          </a:xfrm>
        </p:grpSpPr>
        <p:pic>
          <p:nvPicPr>
            <p:cNvPr id="11" name="Imagen 10" descr="html 5&quot; Icon - Download for free – Iconduck">
              <a:extLst>
                <a:ext uri="{FF2B5EF4-FFF2-40B4-BE49-F238E27FC236}">
                  <a16:creationId xmlns:a16="http://schemas.microsoft.com/office/drawing/2014/main" id="{1E7BBFE1-B63A-0804-C1ED-E0B093B9B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93934" y="2412978"/>
              <a:ext cx="2691009" cy="3796128"/>
            </a:xfrm>
            <a:prstGeom prst="rect">
              <a:avLst/>
            </a:prstGeom>
          </p:spPr>
        </p:pic>
        <p:pic>
          <p:nvPicPr>
            <p:cNvPr id="15" name="Imagen 14" descr="css 3&quot; Icon - Download for free – Iconduck">
              <a:extLst>
                <a:ext uri="{FF2B5EF4-FFF2-40B4-BE49-F238E27FC236}">
                  <a16:creationId xmlns:a16="http://schemas.microsoft.com/office/drawing/2014/main" id="{F3EDA95C-C533-0B87-D94C-59E8B4995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00181" y="2360786"/>
              <a:ext cx="2743200" cy="3869196"/>
            </a:xfrm>
            <a:prstGeom prst="rect">
              <a:avLst/>
            </a:prstGeom>
          </p:spPr>
        </p:pic>
        <p:pic>
          <p:nvPicPr>
            <p:cNvPr id="19" name="Imagen 18" descr="Js Icon #243156 - Free Icons Library">
              <a:extLst>
                <a:ext uri="{FF2B5EF4-FFF2-40B4-BE49-F238E27FC236}">
                  <a16:creationId xmlns:a16="http://schemas.microsoft.com/office/drawing/2014/main" id="{700B4910-3068-373B-ABF9-5D6528B125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60291" y="2218951"/>
              <a:ext cx="3004158" cy="4163302"/>
            </a:xfrm>
            <a:prstGeom prst="rect">
              <a:avLst/>
            </a:prstGeom>
          </p:spPr>
        </p:pic>
      </p:grpSp>
      <p:pic>
        <p:nvPicPr>
          <p:cNvPr id="23" name="Imagen 22">
            <a:extLst>
              <a:ext uri="{FF2B5EF4-FFF2-40B4-BE49-F238E27FC236}">
                <a16:creationId xmlns:a16="http://schemas.microsoft.com/office/drawing/2014/main" id="{7A851108-69EC-646D-59FD-FD31B96B55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129" y="1448870"/>
            <a:ext cx="3476625" cy="394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3056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580FE9D2-D410-D6DB-049E-B24CA0DFA53B}"/>
              </a:ext>
            </a:extLst>
          </p:cNvPr>
          <p:cNvSpPr txBox="1">
            <a:spLocks/>
          </p:cNvSpPr>
          <p:nvPr/>
        </p:nvSpPr>
        <p:spPr>
          <a:xfrm>
            <a:off x="4975361" y="471210"/>
            <a:ext cx="4916775" cy="46968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7965" indent="-227965"/>
            <a:r>
              <a:rPr lang="es-CL" b="1" err="1">
                <a:latin typeface="Arial"/>
                <a:cs typeface="Arial"/>
              </a:rPr>
              <a:t>Backend</a:t>
            </a:r>
            <a:endParaRPr lang="es-ES" b="1" err="1">
              <a:latin typeface="Arial"/>
              <a:cs typeface="Arial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A82A350B-2473-989B-AF2F-128D85326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0535" y="936897"/>
            <a:ext cx="6838391" cy="5668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defTabSz="914400">
              <a:lnSpc>
                <a:spcPct val="150000"/>
              </a:lnSpc>
              <a:buNone/>
            </a:pPr>
            <a:r>
              <a:rPr lang="es-ES" sz="1800">
                <a:latin typeface="Arial"/>
                <a:cs typeface="Arial"/>
              </a:rPr>
              <a:t>El </a:t>
            </a:r>
            <a:r>
              <a:rPr lang="es-ES" sz="1800" err="1">
                <a:latin typeface="Arial"/>
                <a:cs typeface="Arial"/>
              </a:rPr>
              <a:t>backend</a:t>
            </a:r>
            <a:r>
              <a:rPr lang="es-ES" sz="1800">
                <a:latin typeface="Arial"/>
                <a:cs typeface="Arial"/>
              </a:rPr>
              <a:t> se </a:t>
            </a:r>
            <a:r>
              <a:rPr lang="es-ES" sz="1800">
                <a:solidFill>
                  <a:srgbClr val="000000"/>
                </a:solidFill>
                <a:latin typeface="Arial"/>
                <a:cs typeface="Arial"/>
              </a:rPr>
              <a:t>refiere a </a:t>
            </a:r>
            <a:r>
              <a:rPr lang="es-ES" sz="1800">
                <a:latin typeface="Arial"/>
                <a:cs typeface="Arial"/>
              </a:rPr>
              <a:t>la </a:t>
            </a:r>
            <a:r>
              <a:rPr lang="es-ES" sz="1800">
                <a:solidFill>
                  <a:srgbClr val="000000"/>
                </a:solidFill>
                <a:latin typeface="Arial"/>
                <a:cs typeface="Arial"/>
              </a:rPr>
              <a:t>lógica del servidor, </a:t>
            </a:r>
            <a:r>
              <a:rPr lang="es-ES" sz="1800">
                <a:latin typeface="Arial"/>
                <a:cs typeface="Arial"/>
              </a:rPr>
              <a:t>la base de datos y otras infraestructuras que soportan la aplicación. Un desarrollador </a:t>
            </a:r>
            <a:r>
              <a:rPr lang="es-ES" sz="1800" err="1">
                <a:solidFill>
                  <a:srgbClr val="000000"/>
                </a:solidFill>
                <a:latin typeface="Arial"/>
                <a:cs typeface="Arial"/>
              </a:rPr>
              <a:t>fullstack</a:t>
            </a:r>
            <a:r>
              <a:rPr lang="es-ES" sz="1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s-ES" sz="1800">
                <a:latin typeface="Arial"/>
                <a:cs typeface="Arial"/>
              </a:rPr>
              <a:t>debe estar familiarizado con:</a:t>
            </a:r>
            <a:endParaRPr lang="es-ES"/>
          </a:p>
          <a:p>
            <a:pPr marL="285750" indent="-285750" algn="just" defTabSz="914400">
              <a:lnSpc>
                <a:spcPct val="150000"/>
              </a:lnSpc>
            </a:pPr>
            <a:r>
              <a:rPr lang="es-ES" sz="1800" b="1">
                <a:latin typeface="Arial"/>
                <a:cs typeface="Arial"/>
              </a:rPr>
              <a:t>Lenguajes de programación: </a:t>
            </a:r>
            <a:r>
              <a:rPr lang="es-ES" sz="1800">
                <a:latin typeface="Arial"/>
                <a:cs typeface="Arial"/>
              </a:rPr>
              <a:t>como Java, Python, Ruby, PHP, o Node.js</a:t>
            </a:r>
            <a:r>
              <a:rPr lang="es-ES" sz="1800">
                <a:solidFill>
                  <a:srgbClr val="000000"/>
                </a:solidFill>
                <a:latin typeface="Arial"/>
                <a:cs typeface="Arial"/>
              </a:rPr>
              <a:t>.</a:t>
            </a:r>
            <a:endParaRPr lang="es-ES"/>
          </a:p>
          <a:p>
            <a:pPr marL="285750" indent="-285750" algn="just" defTabSz="914400">
              <a:lnSpc>
                <a:spcPct val="150000"/>
              </a:lnSpc>
            </a:pPr>
            <a:r>
              <a:rPr lang="es-ES" sz="1800" b="1">
                <a:solidFill>
                  <a:srgbClr val="000000"/>
                </a:solidFill>
                <a:latin typeface="Arial"/>
                <a:cs typeface="Arial"/>
              </a:rPr>
              <a:t>Bases de datos: </a:t>
            </a:r>
            <a:r>
              <a:rPr lang="es-ES" sz="1800">
                <a:solidFill>
                  <a:srgbClr val="000000"/>
                </a:solidFill>
                <a:latin typeface="Arial"/>
                <a:cs typeface="Arial"/>
              </a:rPr>
              <a:t>tanto relacionales (MySQL, PostgreSQL</a:t>
            </a:r>
            <a:r>
              <a:rPr lang="es-ES" sz="1800">
                <a:latin typeface="Arial"/>
                <a:cs typeface="Arial"/>
              </a:rPr>
              <a:t>) </a:t>
            </a:r>
            <a:r>
              <a:rPr lang="es-ES" sz="1800">
                <a:solidFill>
                  <a:srgbClr val="000000"/>
                </a:solidFill>
                <a:latin typeface="Arial"/>
                <a:cs typeface="Arial"/>
              </a:rPr>
              <a:t>como no relacionales (MongoDB</a:t>
            </a:r>
            <a:r>
              <a:rPr lang="es-ES" sz="1800">
                <a:latin typeface="Arial"/>
                <a:cs typeface="Arial"/>
              </a:rPr>
              <a:t>).</a:t>
            </a:r>
            <a:endParaRPr lang="es-ES"/>
          </a:p>
          <a:p>
            <a:pPr marL="285750" indent="-285750" algn="just" defTabSz="914400">
              <a:lnSpc>
                <a:spcPct val="150000"/>
              </a:lnSpc>
            </a:pPr>
            <a:r>
              <a:rPr lang="es-ES" sz="1800" b="1" err="1">
                <a:latin typeface="Arial"/>
                <a:cs typeface="Arial"/>
              </a:rPr>
              <a:t>APIs</a:t>
            </a:r>
            <a:r>
              <a:rPr lang="es-ES" sz="1800" b="1">
                <a:latin typeface="Arial"/>
                <a:cs typeface="Arial"/>
              </a:rPr>
              <a:t> y servicios web</a:t>
            </a:r>
            <a:r>
              <a:rPr lang="es-ES" sz="1800" b="1">
                <a:solidFill>
                  <a:srgbClr val="000000"/>
                </a:solidFill>
                <a:latin typeface="Arial"/>
                <a:cs typeface="Arial"/>
              </a:rPr>
              <a:t>: </a:t>
            </a:r>
            <a:r>
              <a:rPr lang="es-ES" sz="1800">
                <a:solidFill>
                  <a:srgbClr val="000000"/>
                </a:solidFill>
                <a:latin typeface="Arial"/>
                <a:cs typeface="Arial"/>
              </a:rPr>
              <a:t>para </a:t>
            </a:r>
            <a:r>
              <a:rPr lang="es-ES" sz="1800">
                <a:latin typeface="Arial"/>
                <a:cs typeface="Arial"/>
              </a:rPr>
              <a:t>la comunicación entre el cliente y el servidor.</a:t>
            </a:r>
            <a:endParaRPr lang="es-ES"/>
          </a:p>
          <a:p>
            <a:pPr marL="285750" indent="-285750" algn="just" defTabSz="914400">
              <a:lnSpc>
                <a:spcPct val="150000"/>
              </a:lnSpc>
            </a:pPr>
            <a:r>
              <a:rPr lang="es-ES" sz="1800" b="1">
                <a:latin typeface="Arial"/>
                <a:cs typeface="Arial"/>
              </a:rPr>
              <a:t>Seguridad y autenticación: </a:t>
            </a:r>
            <a:r>
              <a:rPr lang="es-ES" sz="1800">
                <a:latin typeface="Arial"/>
                <a:cs typeface="Arial"/>
              </a:rPr>
              <a:t>para proteger datos y gestionar el acceso.</a:t>
            </a:r>
            <a:endParaRPr lang="es-ES"/>
          </a:p>
          <a:p>
            <a:pPr marL="0" indent="0" algn="just" defTabSz="914400">
              <a:lnSpc>
                <a:spcPct val="150000"/>
              </a:lnSpc>
              <a:buFont typeface="Arial" panose="020B0604020202020204" pitchFamily="34" charset="0"/>
              <a:buNone/>
            </a:pPr>
            <a:endParaRPr lang="es-ES" sz="1800">
              <a:latin typeface="Arial"/>
              <a:cs typeface="Arial"/>
            </a:endParaRPr>
          </a:p>
        </p:txBody>
      </p:sp>
      <p:pic>
        <p:nvPicPr>
          <p:cNvPr id="2" name="Imagen 1" descr="Qué es JAVA? - Tutoriales de programación Java lenguaje programación">
            <a:extLst>
              <a:ext uri="{FF2B5EF4-FFF2-40B4-BE49-F238E27FC236}">
                <a16:creationId xmlns:a16="http://schemas.microsoft.com/office/drawing/2014/main" id="{FEB7EBCE-9771-3EFA-2093-9084B8AE7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996" y="6136118"/>
            <a:ext cx="1177445" cy="606468"/>
          </a:xfrm>
          <a:prstGeom prst="rect">
            <a:avLst/>
          </a:prstGeom>
        </p:spPr>
      </p:pic>
      <p:pic>
        <p:nvPicPr>
          <p:cNvPr id="4" name="Imagen 3" descr="PHP - Wikipedia, la enciclopedia libre">
            <a:extLst>
              <a:ext uri="{FF2B5EF4-FFF2-40B4-BE49-F238E27FC236}">
                <a16:creationId xmlns:a16="http://schemas.microsoft.com/office/drawing/2014/main" id="{900B23BE-93F7-7A79-FABD-9573BE5B7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2808" y="6291450"/>
            <a:ext cx="832981" cy="416616"/>
          </a:xfrm>
          <a:prstGeom prst="rect">
            <a:avLst/>
          </a:prstGeom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B4D3B612-0EA0-CB97-FE9C-161C274D1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0480" y="6289935"/>
            <a:ext cx="1189533" cy="424098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8" name="Imagen 7" descr="GUÍA Python: qué es y por qué deberías aprenderlo">
            <a:extLst>
              <a:ext uri="{FF2B5EF4-FFF2-40B4-BE49-F238E27FC236}">
                <a16:creationId xmlns:a16="http://schemas.microsoft.com/office/drawing/2014/main" id="{9A683026-D07C-9C68-0C7A-085CD76A36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7286" y="6291323"/>
            <a:ext cx="1481526" cy="421322"/>
          </a:xfrm>
          <a:prstGeom prst="rect">
            <a:avLst/>
          </a:prstGeom>
        </p:spPr>
      </p:pic>
      <p:pic>
        <p:nvPicPr>
          <p:cNvPr id="9" name="Imagen 8" descr="MySQL | Sistema de gestión de bases de datos relacionales">
            <a:extLst>
              <a:ext uri="{FF2B5EF4-FFF2-40B4-BE49-F238E27FC236}">
                <a16:creationId xmlns:a16="http://schemas.microsoft.com/office/drawing/2014/main" id="{131FAF00-26F2-3F28-2330-41799D6010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8761" y="6141843"/>
            <a:ext cx="769495" cy="47044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5DEC5B5-3C86-DDAB-8834-517234FADB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4788" y="1692823"/>
            <a:ext cx="3476625" cy="367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95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4685" y="551041"/>
            <a:ext cx="6012802" cy="46968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27965" indent="-227965"/>
            <a:r>
              <a:rPr lang="es-CL">
                <a:latin typeface="Arial"/>
                <a:cs typeface="Arial"/>
              </a:rPr>
              <a:t>Desarrollador </a:t>
            </a:r>
            <a:r>
              <a:rPr lang="es-CL" err="1">
                <a:latin typeface="Arial"/>
                <a:cs typeface="Arial"/>
              </a:rPr>
              <a:t>Fullstack</a:t>
            </a:r>
            <a:endParaRPr lang="es-ES" err="1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14B708-B034-DE07-667B-0AA1F2B68EEB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659495" y="1188758"/>
            <a:ext cx="11024171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ES" sz="1800" dirty="0">
                <a:latin typeface="Arial"/>
                <a:cs typeface="Arial"/>
              </a:rPr>
              <a:t>Es </a:t>
            </a:r>
            <a:r>
              <a:rPr kumimoji="0" lang="es-ES" sz="18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un </a:t>
            </a:r>
            <a:r>
              <a:rPr lang="es-ES" sz="1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profesional </a:t>
            </a:r>
            <a:r>
              <a:rPr lang="es-ES" sz="1800" dirty="0">
                <a:latin typeface="Arial"/>
                <a:cs typeface="Arial"/>
              </a:rPr>
              <a:t>en el ámbito de la </a:t>
            </a:r>
            <a:r>
              <a:rPr lang="es-ES" sz="1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programación </a:t>
            </a:r>
            <a:r>
              <a:rPr lang="es-ES" sz="1800" dirty="0">
                <a:latin typeface="Arial"/>
                <a:cs typeface="Arial"/>
              </a:rPr>
              <a:t>y </a:t>
            </a:r>
            <a:r>
              <a:rPr lang="es-ES" sz="1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desarrollo </a:t>
            </a:r>
            <a:r>
              <a:rPr lang="es-ES" sz="1800" dirty="0">
                <a:latin typeface="Arial"/>
                <a:cs typeface="Arial"/>
              </a:rPr>
              <a:t>de software </a:t>
            </a:r>
            <a:r>
              <a:rPr kumimoji="0" lang="es-ES" sz="18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que </a:t>
            </a:r>
            <a:r>
              <a:rPr lang="es-ES" sz="1800" dirty="0">
                <a:latin typeface="Arial"/>
                <a:cs typeface="Arial"/>
              </a:rPr>
              <a:t>posee la habilidad de trabajar tanto en el </a:t>
            </a:r>
            <a:r>
              <a:rPr lang="es-ES" sz="18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frontend</a:t>
            </a:r>
            <a:r>
              <a:rPr lang="es-ES" sz="1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 </a:t>
            </a:r>
            <a:r>
              <a:rPr lang="es-ES" sz="1800" dirty="0">
                <a:latin typeface="Arial"/>
                <a:cs typeface="Arial"/>
              </a:rPr>
              <a:t>como en el </a:t>
            </a:r>
            <a:r>
              <a:rPr lang="es-ES" sz="18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backend</a:t>
            </a:r>
            <a:r>
              <a:rPr lang="es-ES" sz="1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 </a:t>
            </a:r>
            <a:r>
              <a:rPr lang="es-ES" sz="1800" dirty="0">
                <a:latin typeface="Arial"/>
                <a:cs typeface="Arial"/>
              </a:rPr>
              <a:t>de </a:t>
            </a:r>
            <a:r>
              <a:rPr kumimoji="0" lang="es-ES" sz="18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una aplicación </a:t>
            </a:r>
            <a:r>
              <a:rPr lang="es-ES" sz="1800" dirty="0">
                <a:latin typeface="Arial"/>
                <a:cs typeface="Arial"/>
              </a:rPr>
              <a:t>o sitio web. Esto significa que tiene </a:t>
            </a:r>
            <a:r>
              <a:rPr kumimoji="0" lang="es-ES" sz="18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un </a:t>
            </a:r>
            <a:r>
              <a:rPr lang="es-ES" sz="1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conocimiento integral </a:t>
            </a:r>
            <a:r>
              <a:rPr kumimoji="0" lang="es-ES" sz="18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y </a:t>
            </a:r>
            <a:r>
              <a:rPr lang="es-ES" sz="1800" dirty="0">
                <a:latin typeface="Arial"/>
                <a:cs typeface="Arial"/>
              </a:rPr>
              <a:t>una</a:t>
            </a:r>
            <a:r>
              <a:rPr lang="es-ES" sz="1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 comprensión profunda </a:t>
            </a:r>
            <a:r>
              <a:rPr kumimoji="0" lang="es-E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/>
                <a:cs typeface="Arial"/>
              </a:rPr>
              <a:t>de </a:t>
            </a:r>
            <a:r>
              <a:rPr lang="es-ES" sz="1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las tecnologías</a:t>
            </a:r>
            <a:r>
              <a:rPr lang="es-ES" sz="18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 </a:t>
            </a:r>
            <a:r>
              <a:rPr lang="es-ES" sz="1800" dirty="0">
                <a:latin typeface="Arial"/>
                <a:cs typeface="Arial"/>
              </a:rPr>
              <a:t>y </a:t>
            </a:r>
            <a:r>
              <a:rPr lang="es-ES" sz="1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herramientas </a:t>
            </a:r>
            <a:r>
              <a:rPr lang="es-ES" sz="1800" dirty="0">
                <a:latin typeface="Arial"/>
                <a:cs typeface="Arial"/>
              </a:rPr>
              <a:t>necesarias </a:t>
            </a:r>
            <a:r>
              <a:rPr kumimoji="0" lang="es-ES" sz="18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para </a:t>
            </a:r>
            <a:r>
              <a:rPr lang="es-ES" sz="1800" dirty="0">
                <a:latin typeface="Arial"/>
                <a:cs typeface="Arial"/>
              </a:rPr>
              <a:t>construir </a:t>
            </a:r>
            <a:r>
              <a:rPr kumimoji="0" lang="es-ES" sz="18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una </a:t>
            </a:r>
            <a:r>
              <a:rPr lang="es-ES" sz="1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aplicación completa</a:t>
            </a:r>
            <a:r>
              <a:rPr kumimoji="0" lang="es-ES" sz="18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, </a:t>
            </a:r>
            <a:r>
              <a:rPr lang="es-ES" sz="1800" dirty="0">
                <a:latin typeface="Arial"/>
                <a:cs typeface="Arial"/>
              </a:rPr>
              <a:t>desde la interfaz </a:t>
            </a:r>
            <a:r>
              <a:rPr kumimoji="0" lang="es-ES" sz="18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de </a:t>
            </a:r>
            <a:r>
              <a:rPr lang="es-ES" sz="1800" dirty="0">
                <a:latin typeface="Arial"/>
                <a:cs typeface="Arial"/>
              </a:rPr>
              <a:t>usuario hasta la lógica del servidor y la base </a:t>
            </a:r>
            <a:r>
              <a:rPr kumimoji="0" lang="es-ES" sz="18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de </a:t>
            </a:r>
            <a:r>
              <a:rPr lang="es-ES" sz="1800" dirty="0">
                <a:latin typeface="Arial"/>
                <a:cs typeface="Arial"/>
              </a:rPr>
              <a:t>datos</a:t>
            </a:r>
            <a:r>
              <a:rPr kumimoji="0" lang="es-ES" sz="18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.</a:t>
            </a:r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0B7A271-3629-09FE-FCFF-42A20C62E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6450" y="3427697"/>
            <a:ext cx="6546708" cy="263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1444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54050" y="550863"/>
            <a:ext cx="10690225" cy="4699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7965" marR="0" lvl="0" indent="-227965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CL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ACTIVIDAD</a:t>
            </a:r>
          </a:p>
          <a:p>
            <a:pPr marL="227965" marR="0" lvl="0" indent="-227965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CL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FB918C6-E52E-2856-54AC-9684E20B43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794" y="2594911"/>
            <a:ext cx="639325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ES" sz="1800" dirty="0">
                <a:latin typeface="Montserrat"/>
                <a:cs typeface="Arial"/>
              </a:rPr>
              <a:t>Desarrolla la guía practica sobre las responsabilidades del </a:t>
            </a:r>
            <a:r>
              <a:rPr lang="es-ES" sz="1800" dirty="0" err="1">
                <a:latin typeface="Montserrat"/>
                <a:cs typeface="Arial"/>
              </a:rPr>
              <a:t>Backend</a:t>
            </a:r>
            <a:r>
              <a:rPr lang="es-ES" sz="1800" dirty="0">
                <a:latin typeface="Montserrat"/>
                <a:cs typeface="Arial"/>
              </a:rPr>
              <a:t> en microservicios.</a:t>
            </a:r>
          </a:p>
          <a:p>
            <a:pPr mar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s-ES" sz="1800" dirty="0">
              <a:latin typeface="Montserrat"/>
            </a:endParaRPr>
          </a:p>
          <a:p>
            <a:pPr mar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ES" sz="1800">
                <a:latin typeface="Montserrat"/>
                <a:cs typeface="Arial"/>
              </a:rPr>
              <a:t>Comparte </a:t>
            </a:r>
            <a:r>
              <a:rPr lang="es-ES" sz="1800" smtClean="0">
                <a:latin typeface="Montserrat"/>
                <a:cs typeface="Arial"/>
              </a:rPr>
              <a:t>los </a:t>
            </a:r>
            <a:r>
              <a:rPr lang="es-ES" sz="1800" dirty="0">
                <a:latin typeface="Montserrat"/>
                <a:cs typeface="Arial"/>
              </a:rPr>
              <a:t>resultados con tus compañeros.</a:t>
            </a:r>
            <a:endParaRPr lang="es-ES" dirty="0">
              <a:latin typeface="Montserra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E6D9B7F-8A4F-7EF2-4726-44504C195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4871" y="1201354"/>
            <a:ext cx="4919336" cy="455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1800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EE2218-94ED-1EA2-B6E7-A728789F0DA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CL" dirty="0"/>
              <a:t>DuocUC</a:t>
            </a:r>
          </a:p>
        </p:txBody>
      </p:sp>
    </p:spTree>
    <p:extLst>
      <p:ext uri="{BB962C8B-B14F-4D97-AF65-F5344CB8AC3E}">
        <p14:creationId xmlns:p14="http://schemas.microsoft.com/office/powerpoint/2010/main" val="19921246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2DF45AB5C1B6D4D8AD2DBFAA75D8CA5" ma:contentTypeVersion="7" ma:contentTypeDescription="Crear nuevo documento." ma:contentTypeScope="" ma:versionID="cd7b01c927de9591ca865b4942ea6ea8">
  <xsd:schema xmlns:xsd="http://www.w3.org/2001/XMLSchema" xmlns:xs="http://www.w3.org/2001/XMLSchema" xmlns:p="http://schemas.microsoft.com/office/2006/metadata/properties" xmlns:ns2="c9312883-1a57-42e3-a13f-7047fc9b9dd7" targetNamespace="http://schemas.microsoft.com/office/2006/metadata/properties" ma:root="true" ma:fieldsID="4d738323a8d35624891f1985e0b6ddaa" ns2:_="">
    <xsd:import namespace="c9312883-1a57-42e3-a13f-7047fc9b9dd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312883-1a57-42e3-a13f-7047fc9b9d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C97838-B1CA-46B5-8F4A-5698AB5AFD4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312883-1a57-42e3-a13f-7047fc9b9d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C58CA3E-C0DA-46ED-9440-7D10196C7762}">
  <ds:schemaRefs>
    <ds:schemaRef ds:uri="http://schemas.microsoft.com/office/2006/metadata/properties"/>
    <ds:schemaRef ds:uri="http://schemas.microsoft.com/office/infopath/2007/PartnerControls"/>
    <ds:schemaRef ds:uri="4215e297-5d6e-42b1-b795-55976a17412c"/>
    <ds:schemaRef ds:uri="dbb86751-ad4c-49ff-a33d-b7314027950b"/>
    <ds:schemaRef ds:uri="e1e7bc46-bed0-459f-9452-a76b1c5b695e"/>
  </ds:schemaRefs>
</ds:datastoreItem>
</file>

<file path=customXml/itemProps3.xml><?xml version="1.0" encoding="utf-8"?>
<ds:datastoreItem xmlns:ds="http://schemas.openxmlformats.org/officeDocument/2006/customXml" ds:itemID="{47BD4256-76F8-4EE6-AF14-F39F3CD068A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1610</TotalTime>
  <Words>1338</Words>
  <Application>Microsoft Office PowerPoint</Application>
  <PresentationFormat>Panorámica</PresentationFormat>
  <Paragraphs>138</Paragraphs>
  <Slides>22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Montserrat</vt:lpstr>
      <vt:lpstr>NonBreakingSpaceOverride</vt:lpstr>
      <vt:lpstr>Tema de Office</vt:lpstr>
      <vt:lpstr>INTRODUCCIÓN A MICROSERVICIOS</vt:lpstr>
      <vt:lpstr>Contenidos</vt:lpstr>
      <vt:lpstr>Desarrollamos rápido para probar los límites de lo que podemos hacer.  – Mark Zuckerberg</vt:lpstr>
      <vt:lpstr>Arquitectura Monolítica</vt:lpstr>
      <vt:lpstr>Arquitectura Monolítica</vt:lpstr>
      <vt:lpstr>Beneficios</vt:lpstr>
      <vt:lpstr>Desventajas</vt:lpstr>
      <vt:lpstr>Introducción a los Microservicios</vt:lpstr>
      <vt:lpstr>Microservicios</vt:lpstr>
      <vt:lpstr>Beneficios</vt:lpstr>
      <vt:lpstr>Desventajas</vt:lpstr>
      <vt:lpstr>Transición de Monolítico a Microservicios</vt:lpstr>
      <vt:lpstr>La Pandemia y el Auge de los Microservicios</vt:lpstr>
      <vt:lpstr>La Pandemia y el Auge de los Microservicios</vt:lpstr>
      <vt:lpstr>La Pandemia y el Auge de los Microservicios </vt:lpstr>
      <vt:lpstr>Empresas y Startup que utilizan microservicios</vt:lpstr>
      <vt:lpstr>Desarrollador Fullstack</vt:lpstr>
      <vt:lpstr>Presentación de PowerPoint</vt:lpstr>
      <vt:lpstr>Presentación de PowerPoint</vt:lpstr>
      <vt:lpstr>Presentación de PowerPoint</vt:lpstr>
      <vt:lpstr>ACTIVIDAD </vt:lpstr>
      <vt:lpstr>DuocUC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Daniela Osorio C.</dc:creator>
  <cp:lastModifiedBy>pc</cp:lastModifiedBy>
  <cp:revision>743</cp:revision>
  <dcterms:created xsi:type="dcterms:W3CDTF">2024-03-07T18:55:37Z</dcterms:created>
  <dcterms:modified xsi:type="dcterms:W3CDTF">2026-01-10T20:24:19Z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0x010100C2DF45AB5C1B6D4D8AD2DBFAA75D8CA5</vt:lpwstr>
  </property>
  <property fmtid="{D5CDD505-2E9C-101B-9397-08002B2CF9AE}" pid="3" name="MediaServiceImageTags">
    <vt:lpwstr/>
  </property>
</Properties>
</file>