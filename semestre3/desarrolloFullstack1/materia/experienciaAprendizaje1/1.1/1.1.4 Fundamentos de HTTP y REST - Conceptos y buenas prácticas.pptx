
<file path=[Content_Types].xml><?xml version="1.0" encoding="utf-8"?>
<Types xmlns="http://schemas.openxmlformats.org/package/2006/content-types">
  <Default Extension="png" ContentType="image/png"/>
  <Default Extension="svg" ContentType="image/svg+xml"/>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4"/>
  </p:notesMasterIdLst>
  <p:sldIdLst>
    <p:sldId id="272" r:id="rId5"/>
    <p:sldId id="381" r:id="rId6"/>
    <p:sldId id="259" r:id="rId7"/>
    <p:sldId id="289" r:id="rId8"/>
    <p:sldId id="263" r:id="rId9"/>
    <p:sldId id="305" r:id="rId10"/>
    <p:sldId id="277" r:id="rId11"/>
    <p:sldId id="308" r:id="rId12"/>
    <p:sldId id="304" r:id="rId13"/>
    <p:sldId id="353" r:id="rId14"/>
    <p:sldId id="351" r:id="rId15"/>
    <p:sldId id="307" r:id="rId16"/>
    <p:sldId id="309" r:id="rId17"/>
    <p:sldId id="311" r:id="rId18"/>
    <p:sldId id="350" r:id="rId19"/>
    <p:sldId id="313" r:id="rId20"/>
    <p:sldId id="346" r:id="rId21"/>
    <p:sldId id="347" r:id="rId22"/>
    <p:sldId id="348" r:id="rId23"/>
    <p:sldId id="363" r:id="rId24"/>
    <p:sldId id="364" r:id="rId25"/>
    <p:sldId id="366" r:id="rId26"/>
    <p:sldId id="367" r:id="rId27"/>
    <p:sldId id="368" r:id="rId28"/>
    <p:sldId id="352" r:id="rId29"/>
    <p:sldId id="354" r:id="rId30"/>
    <p:sldId id="355" r:id="rId31"/>
    <p:sldId id="356" r:id="rId32"/>
    <p:sldId id="357" r:id="rId33"/>
    <p:sldId id="358" r:id="rId34"/>
    <p:sldId id="359" r:id="rId35"/>
    <p:sldId id="369" r:id="rId36"/>
    <p:sldId id="373" r:id="rId37"/>
    <p:sldId id="374" r:id="rId38"/>
    <p:sldId id="377" r:id="rId39"/>
    <p:sldId id="378" r:id="rId40"/>
    <p:sldId id="379" r:id="rId41"/>
    <p:sldId id="370" r:id="rId42"/>
    <p:sldId id="380" r:id="rId43"/>
    <p:sldId id="345" r:id="rId44"/>
    <p:sldId id="271" r:id="rId45"/>
    <p:sldId id="382" r:id="rId46"/>
    <p:sldId id="390" r:id="rId47"/>
    <p:sldId id="391" r:id="rId48"/>
    <p:sldId id="393" r:id="rId49"/>
    <p:sldId id="392" r:id="rId50"/>
    <p:sldId id="394" r:id="rId51"/>
    <p:sldId id="395" r:id="rId52"/>
    <p:sldId id="261" r:id="rId53"/>
  </p:sldIdLst>
  <p:sldSz cx="12192000" cy="6858000"/>
  <p:notesSz cx="6858000" cy="9144000"/>
  <p:defaultTextStyle>
    <a:defPPr>
      <a:defRPr lang="es-CL"/>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E7CDD"/>
    <a:srgbClr val="9B50C0"/>
    <a:srgbClr val="EE7623"/>
    <a:srgbClr val="BB0034"/>
    <a:srgbClr val="F9B7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97D74C-4466-4F73-A4ED-7A0B7437FC53}" v="23" dt="2024-07-19T16:21:25.577"/>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7292A2E-F333-43FB-9621-5CBBE7FDCDCB}" styleName="Estilo claro 2 - Acento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EBBBCC-DAD2-459C-BE2E-F6DE35CF9A28}" styleName="Estilo oscuro 2 - Énfasis 3/Énfasis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Estilo medio 1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Estilo medio 1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Estilo claro 3 - Acento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323" autoAdjust="0"/>
  </p:normalViewPr>
  <p:slideViewPr>
    <p:cSldViewPr snapToGrid="0">
      <p:cViewPr varScale="1">
        <p:scale>
          <a:sx n="112" d="100"/>
          <a:sy n="112" d="100"/>
        </p:scale>
        <p:origin x="43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7D1C2F-D463-46C8-9FE5-2118D182F13F}" type="datetimeFigureOut">
              <a:rPr lang="es-CL" smtClean="0"/>
              <a:t>10-01-2026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956354-13B1-4AF8-AD16-88106355DB72}" type="slidenum">
              <a:rPr lang="es-CL" smtClean="0"/>
              <a:t>‹Nº›</a:t>
            </a:fld>
            <a:endParaRPr lang="es-CL"/>
          </a:p>
        </p:txBody>
      </p:sp>
    </p:spTree>
    <p:extLst>
      <p:ext uri="{BB962C8B-B14F-4D97-AF65-F5344CB8AC3E}">
        <p14:creationId xmlns:p14="http://schemas.microsoft.com/office/powerpoint/2010/main" val="31199728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es.semrush.com/blog/codigos-de-estado-http/"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vicente-aguilera-perez.medium.com/las-10-mejores-pr%C3%A1cticas-para-nombrar-api-rest-endpoints-48b8bcbd1397" TargetMode="External"/><Relationship Id="rId2" Type="http://schemas.openxmlformats.org/officeDocument/2006/relationships/slide" Target="../slides/slide32.xml"/><Relationship Id="rId1" Type="http://schemas.openxmlformats.org/officeDocument/2006/relationships/notesMaster" Target="../notesMasters/notesMaster1.xml"/><Relationship Id="rId5" Type="http://schemas.openxmlformats.org/officeDocument/2006/relationships/hyperlink" Target="https://www.izertis.com/es/-/blog/mejores-practicas-para-su-api-rest" TargetMode="External"/><Relationship Id="rId4" Type="http://schemas.openxmlformats.org/officeDocument/2006/relationships/hyperlink" Target="https://wssilva-willian.medium.com/design-de-api-rest-9807a5b16c9f" TargetMode="Externa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mvitinnovaciontecnologica.wordpress.com/2020/02/06/guia-de-anotaciones-de-spring-framework/"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endParaRPr lang="es-CL"/>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4</a:t>
            </a:fld>
            <a:endParaRPr lang="es-CL"/>
          </a:p>
        </p:txBody>
      </p:sp>
    </p:spTree>
    <p:extLst>
      <p:ext uri="{BB962C8B-B14F-4D97-AF65-F5344CB8AC3E}">
        <p14:creationId xmlns:p14="http://schemas.microsoft.com/office/powerpoint/2010/main" val="1150025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endParaRPr lang="es-CL"/>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6</a:t>
            </a:fld>
            <a:endParaRPr lang="es-CL"/>
          </a:p>
        </p:txBody>
      </p:sp>
    </p:spTree>
    <p:extLst>
      <p:ext uri="{BB962C8B-B14F-4D97-AF65-F5344CB8AC3E}">
        <p14:creationId xmlns:p14="http://schemas.microsoft.com/office/powerpoint/2010/main" val="3466683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7</a:t>
            </a:fld>
            <a:endParaRPr lang="es-CL"/>
          </a:p>
        </p:txBody>
      </p:sp>
    </p:spTree>
    <p:extLst>
      <p:ext uri="{BB962C8B-B14F-4D97-AF65-F5344CB8AC3E}">
        <p14:creationId xmlns:p14="http://schemas.microsoft.com/office/powerpoint/2010/main" val="2053251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endParaRPr lang="es-CL"/>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8</a:t>
            </a:fld>
            <a:endParaRPr lang="es-CL"/>
          </a:p>
        </p:txBody>
      </p:sp>
    </p:spTree>
    <p:extLst>
      <p:ext uri="{BB962C8B-B14F-4D97-AF65-F5344CB8AC3E}">
        <p14:creationId xmlns:p14="http://schemas.microsoft.com/office/powerpoint/2010/main" val="4123484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9</a:t>
            </a:fld>
            <a:endParaRPr lang="es-CL"/>
          </a:p>
        </p:txBody>
      </p:sp>
    </p:spTree>
    <p:extLst>
      <p:ext uri="{BB962C8B-B14F-4D97-AF65-F5344CB8AC3E}">
        <p14:creationId xmlns:p14="http://schemas.microsoft.com/office/powerpoint/2010/main" val="35387720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r>
              <a:rPr lang="es-CL"/>
              <a:t>Nota docente: preguntar a los estudiantes</a:t>
            </a:r>
          </a:p>
        </p:txBody>
      </p:sp>
      <p:sp>
        <p:nvSpPr>
          <p:cNvPr id="4" name="Marcador de número de diapositiva 3"/>
          <p:cNvSpPr>
            <a:spLocks noGrp="1"/>
          </p:cNvSpPr>
          <p:nvPr>
            <p:ph type="sldNum" sz="quarter" idx="5"/>
          </p:nvPr>
        </p:nvSpPr>
        <p:spPr/>
        <p:txBody>
          <a:bodyPr/>
          <a:lstStyle/>
          <a:p>
            <a:fld id="{9E956354-13B1-4AF8-AD16-88106355DB72}" type="slidenum">
              <a:rPr lang="es-CL" smtClean="0"/>
              <a:t>10</a:t>
            </a:fld>
            <a:endParaRPr lang="es-CL"/>
          </a:p>
        </p:txBody>
      </p:sp>
    </p:spTree>
    <p:extLst>
      <p:ext uri="{BB962C8B-B14F-4D97-AF65-F5344CB8AC3E}">
        <p14:creationId xmlns:p14="http://schemas.microsoft.com/office/powerpoint/2010/main" val="1253841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b="1"/>
          </a:p>
          <a:p>
            <a:r>
              <a:rPr lang="es-CL"/>
              <a:t>Nota para el docente:</a:t>
            </a:r>
          </a:p>
          <a:p>
            <a:r>
              <a:rPr lang="es-CL"/>
              <a:t>No entraremos en detalle sobre HTML, ya que nos centraremos en dar un base al contexto de REST</a:t>
            </a:r>
          </a:p>
        </p:txBody>
      </p:sp>
      <p:sp>
        <p:nvSpPr>
          <p:cNvPr id="4" name="Marcador de número de diapositiva 3"/>
          <p:cNvSpPr>
            <a:spLocks noGrp="1"/>
          </p:cNvSpPr>
          <p:nvPr>
            <p:ph type="sldNum" sz="quarter" idx="5"/>
          </p:nvPr>
        </p:nvSpPr>
        <p:spPr/>
        <p:txBody>
          <a:bodyPr/>
          <a:lstStyle/>
          <a:p>
            <a:fld id="{9E956354-13B1-4AF8-AD16-88106355DB72}" type="slidenum">
              <a:rPr lang="es-CL" smtClean="0"/>
              <a:t>11</a:t>
            </a:fld>
            <a:endParaRPr lang="es-CL"/>
          </a:p>
        </p:txBody>
      </p:sp>
    </p:spTree>
    <p:extLst>
      <p:ext uri="{BB962C8B-B14F-4D97-AF65-F5344CB8AC3E}">
        <p14:creationId xmlns:p14="http://schemas.microsoft.com/office/powerpoint/2010/main" val="2064943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13</a:t>
            </a:fld>
            <a:endParaRPr lang="es-CL"/>
          </a:p>
        </p:txBody>
      </p:sp>
    </p:spTree>
    <p:extLst>
      <p:ext uri="{BB962C8B-B14F-4D97-AF65-F5344CB8AC3E}">
        <p14:creationId xmlns:p14="http://schemas.microsoft.com/office/powerpoint/2010/main" val="33578123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14</a:t>
            </a:fld>
            <a:endParaRPr lang="es-CL"/>
          </a:p>
        </p:txBody>
      </p:sp>
    </p:spTree>
    <p:extLst>
      <p:ext uri="{BB962C8B-B14F-4D97-AF65-F5344CB8AC3E}">
        <p14:creationId xmlns:p14="http://schemas.microsoft.com/office/powerpoint/2010/main" val="8985300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15</a:t>
            </a:fld>
            <a:endParaRPr lang="es-CL"/>
          </a:p>
        </p:txBody>
      </p:sp>
    </p:spTree>
    <p:extLst>
      <p:ext uri="{BB962C8B-B14F-4D97-AF65-F5344CB8AC3E}">
        <p14:creationId xmlns:p14="http://schemas.microsoft.com/office/powerpoint/2010/main" val="345251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16</a:t>
            </a:fld>
            <a:endParaRPr lang="es-CL"/>
          </a:p>
        </p:txBody>
      </p:sp>
    </p:spTree>
    <p:extLst>
      <p:ext uri="{BB962C8B-B14F-4D97-AF65-F5344CB8AC3E}">
        <p14:creationId xmlns:p14="http://schemas.microsoft.com/office/powerpoint/2010/main" val="8995950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17</a:t>
            </a:fld>
            <a:endParaRPr lang="es-CL"/>
          </a:p>
        </p:txBody>
      </p:sp>
    </p:spTree>
    <p:extLst>
      <p:ext uri="{BB962C8B-B14F-4D97-AF65-F5344CB8AC3E}">
        <p14:creationId xmlns:p14="http://schemas.microsoft.com/office/powerpoint/2010/main" val="3912896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18</a:t>
            </a:fld>
            <a:endParaRPr lang="es-CL"/>
          </a:p>
        </p:txBody>
      </p:sp>
    </p:spTree>
    <p:extLst>
      <p:ext uri="{BB962C8B-B14F-4D97-AF65-F5344CB8AC3E}">
        <p14:creationId xmlns:p14="http://schemas.microsoft.com/office/powerpoint/2010/main" val="3868898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19</a:t>
            </a:fld>
            <a:endParaRPr lang="es-CL"/>
          </a:p>
        </p:txBody>
      </p:sp>
    </p:spTree>
    <p:extLst>
      <p:ext uri="{BB962C8B-B14F-4D97-AF65-F5344CB8AC3E}">
        <p14:creationId xmlns:p14="http://schemas.microsoft.com/office/powerpoint/2010/main" val="9136165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r>
              <a:rPr lang="es-CL" dirty="0">
                <a:hlinkClick r:id="rId3"/>
              </a:rPr>
              <a:t>https://es.semrush.com/blog/codigos-de-estado-http/</a:t>
            </a:r>
          </a:p>
          <a:p>
            <a:endParaRPr lang="es-CL" dirty="0"/>
          </a:p>
        </p:txBody>
      </p:sp>
      <p:sp>
        <p:nvSpPr>
          <p:cNvPr id="4" name="Marcador de número de diapositiva 3"/>
          <p:cNvSpPr>
            <a:spLocks noGrp="1"/>
          </p:cNvSpPr>
          <p:nvPr>
            <p:ph type="sldNum" sz="quarter" idx="5"/>
          </p:nvPr>
        </p:nvSpPr>
        <p:spPr/>
        <p:txBody>
          <a:bodyPr/>
          <a:lstStyle/>
          <a:p>
            <a:fld id="{9E956354-13B1-4AF8-AD16-88106355DB72}" type="slidenum">
              <a:rPr lang="es-CL" smtClean="0"/>
              <a:t>20</a:t>
            </a:fld>
            <a:endParaRPr lang="es-CL"/>
          </a:p>
        </p:txBody>
      </p:sp>
    </p:spTree>
    <p:extLst>
      <p:ext uri="{BB962C8B-B14F-4D97-AF65-F5344CB8AC3E}">
        <p14:creationId xmlns:p14="http://schemas.microsoft.com/office/powerpoint/2010/main" val="1201668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21</a:t>
            </a:fld>
            <a:endParaRPr lang="es-CL"/>
          </a:p>
        </p:txBody>
      </p:sp>
    </p:spTree>
    <p:extLst>
      <p:ext uri="{BB962C8B-B14F-4D97-AF65-F5344CB8AC3E}">
        <p14:creationId xmlns:p14="http://schemas.microsoft.com/office/powerpoint/2010/main" val="13026880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22</a:t>
            </a:fld>
            <a:endParaRPr lang="es-CL"/>
          </a:p>
        </p:txBody>
      </p:sp>
    </p:spTree>
    <p:extLst>
      <p:ext uri="{BB962C8B-B14F-4D97-AF65-F5344CB8AC3E}">
        <p14:creationId xmlns:p14="http://schemas.microsoft.com/office/powerpoint/2010/main" val="34555601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23</a:t>
            </a:fld>
            <a:endParaRPr lang="es-CL"/>
          </a:p>
        </p:txBody>
      </p:sp>
    </p:spTree>
    <p:extLst>
      <p:ext uri="{BB962C8B-B14F-4D97-AF65-F5344CB8AC3E}">
        <p14:creationId xmlns:p14="http://schemas.microsoft.com/office/powerpoint/2010/main" val="17399569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24</a:t>
            </a:fld>
            <a:endParaRPr lang="es-CL"/>
          </a:p>
        </p:txBody>
      </p:sp>
    </p:spTree>
    <p:extLst>
      <p:ext uri="{BB962C8B-B14F-4D97-AF65-F5344CB8AC3E}">
        <p14:creationId xmlns:p14="http://schemas.microsoft.com/office/powerpoint/2010/main" val="6402134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r>
              <a:rPr lang="es-CL"/>
              <a:t>Nota docente: preguntar a los estudiantes</a:t>
            </a:r>
          </a:p>
        </p:txBody>
      </p:sp>
      <p:sp>
        <p:nvSpPr>
          <p:cNvPr id="4" name="Marcador de número de diapositiva 3"/>
          <p:cNvSpPr>
            <a:spLocks noGrp="1"/>
          </p:cNvSpPr>
          <p:nvPr>
            <p:ph type="sldNum" sz="quarter" idx="5"/>
          </p:nvPr>
        </p:nvSpPr>
        <p:spPr/>
        <p:txBody>
          <a:bodyPr/>
          <a:lstStyle/>
          <a:p>
            <a:fld id="{9E956354-13B1-4AF8-AD16-88106355DB72}" type="slidenum">
              <a:rPr lang="es-CL" smtClean="0"/>
              <a:t>26</a:t>
            </a:fld>
            <a:endParaRPr lang="es-CL"/>
          </a:p>
        </p:txBody>
      </p:sp>
    </p:spTree>
    <p:extLst>
      <p:ext uri="{BB962C8B-B14F-4D97-AF65-F5344CB8AC3E}">
        <p14:creationId xmlns:p14="http://schemas.microsoft.com/office/powerpoint/2010/main" val="4151784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b="1"/>
          </a:p>
          <a:p>
            <a:r>
              <a:rPr lang="es-CL"/>
              <a:t>Nota para el docente:</a:t>
            </a:r>
          </a:p>
          <a:p>
            <a:r>
              <a:rPr lang="es-CL"/>
              <a:t>No entraremos en detalle sobre HTML, ya que nos centraremos en dar un base al contexto de REST</a:t>
            </a:r>
          </a:p>
        </p:txBody>
      </p:sp>
      <p:sp>
        <p:nvSpPr>
          <p:cNvPr id="4" name="Marcador de número de diapositiva 3"/>
          <p:cNvSpPr>
            <a:spLocks noGrp="1"/>
          </p:cNvSpPr>
          <p:nvPr>
            <p:ph type="sldNum" sz="quarter" idx="5"/>
          </p:nvPr>
        </p:nvSpPr>
        <p:spPr/>
        <p:txBody>
          <a:bodyPr/>
          <a:lstStyle/>
          <a:p>
            <a:fld id="{9E956354-13B1-4AF8-AD16-88106355DB72}" type="slidenum">
              <a:rPr lang="es-CL" smtClean="0"/>
              <a:t>27</a:t>
            </a:fld>
            <a:endParaRPr lang="es-CL"/>
          </a:p>
        </p:txBody>
      </p:sp>
    </p:spTree>
    <p:extLst>
      <p:ext uri="{BB962C8B-B14F-4D97-AF65-F5344CB8AC3E}">
        <p14:creationId xmlns:p14="http://schemas.microsoft.com/office/powerpoint/2010/main" val="21676769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a:p>
            <a:r>
              <a:rPr lang="es-CL"/>
              <a:t>Nota docente: preguntar a los estudiantes</a:t>
            </a:r>
          </a:p>
        </p:txBody>
      </p:sp>
      <p:sp>
        <p:nvSpPr>
          <p:cNvPr id="4" name="Marcador de número de diapositiva 3"/>
          <p:cNvSpPr>
            <a:spLocks noGrp="1"/>
          </p:cNvSpPr>
          <p:nvPr>
            <p:ph type="sldNum" sz="quarter" idx="5"/>
          </p:nvPr>
        </p:nvSpPr>
        <p:spPr/>
        <p:txBody>
          <a:bodyPr/>
          <a:lstStyle/>
          <a:p>
            <a:fld id="{9E956354-13B1-4AF8-AD16-88106355DB72}" type="slidenum">
              <a:rPr lang="es-CL" smtClean="0"/>
              <a:t>29</a:t>
            </a:fld>
            <a:endParaRPr lang="es-CL"/>
          </a:p>
        </p:txBody>
      </p:sp>
    </p:spTree>
    <p:extLst>
      <p:ext uri="{BB962C8B-B14F-4D97-AF65-F5344CB8AC3E}">
        <p14:creationId xmlns:p14="http://schemas.microsoft.com/office/powerpoint/2010/main" val="36358831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b="1"/>
          </a:p>
          <a:p>
            <a:r>
              <a:rPr lang="es-CL"/>
              <a:t>Nota para el docente:</a:t>
            </a:r>
          </a:p>
          <a:p>
            <a:r>
              <a:rPr lang="es-CL"/>
              <a:t>No entraremos en detalle sobre HTML, ya que nos centraremos en dar un base al contexto de REST</a:t>
            </a:r>
          </a:p>
        </p:txBody>
      </p:sp>
      <p:sp>
        <p:nvSpPr>
          <p:cNvPr id="4" name="Marcador de número de diapositiva 3"/>
          <p:cNvSpPr>
            <a:spLocks noGrp="1"/>
          </p:cNvSpPr>
          <p:nvPr>
            <p:ph type="sldNum" sz="quarter" idx="5"/>
          </p:nvPr>
        </p:nvSpPr>
        <p:spPr/>
        <p:txBody>
          <a:bodyPr/>
          <a:lstStyle/>
          <a:p>
            <a:fld id="{9E956354-13B1-4AF8-AD16-88106355DB72}" type="slidenum">
              <a:rPr lang="es-CL" smtClean="0"/>
              <a:t>30</a:t>
            </a:fld>
            <a:endParaRPr lang="es-CL"/>
          </a:p>
        </p:txBody>
      </p:sp>
    </p:spTree>
    <p:extLst>
      <p:ext uri="{BB962C8B-B14F-4D97-AF65-F5344CB8AC3E}">
        <p14:creationId xmlns:p14="http://schemas.microsoft.com/office/powerpoint/2010/main" val="14873612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b="1"/>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31</a:t>
            </a:fld>
            <a:endParaRPr lang="es-CL"/>
          </a:p>
        </p:txBody>
      </p:sp>
    </p:spTree>
    <p:extLst>
      <p:ext uri="{BB962C8B-B14F-4D97-AF65-F5344CB8AC3E}">
        <p14:creationId xmlns:p14="http://schemas.microsoft.com/office/powerpoint/2010/main" val="26736139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hlinkClick r:id="rId3"/>
              </a:rPr>
              <a:t>https://vicente-aguilera-perez.medium.com/las-10-mejores-pr%C3%A1cticas-para-nombrar-api-rest-endpoints-48b8bcbd1397</a:t>
            </a:r>
            <a:endParaRPr lang="es-ES" dirty="0"/>
          </a:p>
          <a:p>
            <a:endParaRPr lang="es-ES" dirty="0"/>
          </a:p>
          <a:p>
            <a:r>
              <a:rPr lang="es-ES" dirty="0">
                <a:hlinkClick r:id="rId4"/>
              </a:rPr>
              <a:t>https://wssilva-willian.medium.com/design-de-api-rest-9807a5b16c9f</a:t>
            </a:r>
          </a:p>
          <a:p>
            <a:endParaRPr lang="es-ES" dirty="0"/>
          </a:p>
          <a:p>
            <a:r>
              <a:rPr lang="es-CL" dirty="0">
                <a:hlinkClick r:id="rId5"/>
              </a:rPr>
              <a:t>https://www.izertis.com/es/-/blog/mejores-practicas-para-su-api-rest</a:t>
            </a:r>
          </a:p>
          <a:p>
            <a:endParaRPr lang="es-CL" dirty="0"/>
          </a:p>
        </p:txBody>
      </p:sp>
      <p:sp>
        <p:nvSpPr>
          <p:cNvPr id="4" name="Marcador de número de diapositiva 3"/>
          <p:cNvSpPr>
            <a:spLocks noGrp="1"/>
          </p:cNvSpPr>
          <p:nvPr>
            <p:ph type="sldNum" sz="quarter" idx="5"/>
          </p:nvPr>
        </p:nvSpPr>
        <p:spPr/>
        <p:txBody>
          <a:bodyPr/>
          <a:lstStyle/>
          <a:p>
            <a:fld id="{9E956354-13B1-4AF8-AD16-88106355DB72}" type="slidenum">
              <a:rPr lang="es-CL" smtClean="0"/>
              <a:t>32</a:t>
            </a:fld>
            <a:endParaRPr lang="es-CL"/>
          </a:p>
        </p:txBody>
      </p:sp>
    </p:spTree>
    <p:extLst>
      <p:ext uri="{BB962C8B-B14F-4D97-AF65-F5344CB8AC3E}">
        <p14:creationId xmlns:p14="http://schemas.microsoft.com/office/powerpoint/2010/main" val="32335497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https://vicente-aguilera-perez.medium.com/las-10-mejores-pr%C3%A1cticas-para-nombrar-api-rest-endpoints-48b8bcbd1397</a:t>
            </a:r>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33</a:t>
            </a:fld>
            <a:endParaRPr lang="es-CL"/>
          </a:p>
        </p:txBody>
      </p:sp>
    </p:spTree>
    <p:extLst>
      <p:ext uri="{BB962C8B-B14F-4D97-AF65-F5344CB8AC3E}">
        <p14:creationId xmlns:p14="http://schemas.microsoft.com/office/powerpoint/2010/main" val="287263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https://vicente-aguilera-perez.medium.com/las-10-mejores-pr%C3%A1cticas-para-nombrar-api-rest-endpoints-48b8bcbd1397</a:t>
            </a:r>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34</a:t>
            </a:fld>
            <a:endParaRPr lang="es-CL"/>
          </a:p>
        </p:txBody>
      </p:sp>
    </p:spTree>
    <p:extLst>
      <p:ext uri="{BB962C8B-B14F-4D97-AF65-F5344CB8AC3E}">
        <p14:creationId xmlns:p14="http://schemas.microsoft.com/office/powerpoint/2010/main" val="41934816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https://vicente-aguilera-perez.medium.com/las-10-mejores-pr%C3%A1cticas-para-nombrar-api-rest-endpoints-48b8bcbd1397</a:t>
            </a:r>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35</a:t>
            </a:fld>
            <a:endParaRPr lang="es-CL"/>
          </a:p>
        </p:txBody>
      </p:sp>
    </p:spTree>
    <p:extLst>
      <p:ext uri="{BB962C8B-B14F-4D97-AF65-F5344CB8AC3E}">
        <p14:creationId xmlns:p14="http://schemas.microsoft.com/office/powerpoint/2010/main" val="10255668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https://vicente-aguilera-perez.medium.com/las-10-mejores-pr%C3%A1cticas-para-nombrar-api-rest-endpoints-48b8bcbd1397</a:t>
            </a:r>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36</a:t>
            </a:fld>
            <a:endParaRPr lang="es-CL"/>
          </a:p>
        </p:txBody>
      </p:sp>
    </p:spTree>
    <p:extLst>
      <p:ext uri="{BB962C8B-B14F-4D97-AF65-F5344CB8AC3E}">
        <p14:creationId xmlns:p14="http://schemas.microsoft.com/office/powerpoint/2010/main" val="14126000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https://vicente-aguilera-perez.medium.com/las-10-mejores-pr%C3%A1cticas-para-nombrar-api-rest-endpoints-48b8bcbd1397</a:t>
            </a:r>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37</a:t>
            </a:fld>
            <a:endParaRPr lang="es-CL"/>
          </a:p>
        </p:txBody>
      </p:sp>
    </p:spTree>
    <p:extLst>
      <p:ext uri="{BB962C8B-B14F-4D97-AF65-F5344CB8AC3E}">
        <p14:creationId xmlns:p14="http://schemas.microsoft.com/office/powerpoint/2010/main" val="11453216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https://vicente-aguilera-perez.medium.com/las-10-mejores-pr%C3%A1cticas-para-nombrar-api-rest-endpoints-48b8bcbd1397</a:t>
            </a:r>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38</a:t>
            </a:fld>
            <a:endParaRPr lang="es-CL"/>
          </a:p>
        </p:txBody>
      </p:sp>
    </p:spTree>
    <p:extLst>
      <p:ext uri="{BB962C8B-B14F-4D97-AF65-F5344CB8AC3E}">
        <p14:creationId xmlns:p14="http://schemas.microsoft.com/office/powerpoint/2010/main" val="1227484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https://vicente-aguilera-perez.medium.com/las-10-mejores-pr%C3%A1cticas-para-nombrar-api-rest-endpoints-48b8bcbd1397</a:t>
            </a:r>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39</a:t>
            </a:fld>
            <a:endParaRPr lang="es-CL"/>
          </a:p>
        </p:txBody>
      </p:sp>
    </p:spTree>
    <p:extLst>
      <p:ext uri="{BB962C8B-B14F-4D97-AF65-F5344CB8AC3E}">
        <p14:creationId xmlns:p14="http://schemas.microsoft.com/office/powerpoint/2010/main" val="30660137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b="1"/>
          </a:p>
          <a:p>
            <a:endParaRPr lang="es-CL"/>
          </a:p>
        </p:txBody>
      </p:sp>
      <p:sp>
        <p:nvSpPr>
          <p:cNvPr id="4" name="Marcador de número de diapositiva 3"/>
          <p:cNvSpPr>
            <a:spLocks noGrp="1"/>
          </p:cNvSpPr>
          <p:nvPr>
            <p:ph type="sldNum" sz="quarter" idx="5"/>
          </p:nvPr>
        </p:nvSpPr>
        <p:spPr/>
        <p:txBody>
          <a:bodyPr/>
          <a:lstStyle/>
          <a:p>
            <a:fld id="{9E956354-13B1-4AF8-AD16-88106355DB72}" type="slidenum">
              <a:rPr lang="es-CL" smtClean="0"/>
              <a:t>40</a:t>
            </a:fld>
            <a:endParaRPr lang="es-CL"/>
          </a:p>
        </p:txBody>
      </p:sp>
    </p:spTree>
    <p:extLst>
      <p:ext uri="{BB962C8B-B14F-4D97-AF65-F5344CB8AC3E}">
        <p14:creationId xmlns:p14="http://schemas.microsoft.com/office/powerpoint/2010/main" val="36516883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b="1"/>
          </a:p>
          <a:p>
            <a:r>
              <a:rPr lang="es-CL"/>
              <a:t>Nota para el docente:</a:t>
            </a:r>
          </a:p>
          <a:p>
            <a:r>
              <a:rPr lang="es-CL"/>
              <a:t>No entraremos en detalle sobre HTML, ya que nos centraremos en dar un base al contexto de REST</a:t>
            </a:r>
          </a:p>
        </p:txBody>
      </p:sp>
      <p:sp>
        <p:nvSpPr>
          <p:cNvPr id="4" name="Marcador de número de diapositiva 3"/>
          <p:cNvSpPr>
            <a:spLocks noGrp="1"/>
          </p:cNvSpPr>
          <p:nvPr>
            <p:ph type="sldNum" sz="quarter" idx="5"/>
          </p:nvPr>
        </p:nvSpPr>
        <p:spPr/>
        <p:txBody>
          <a:bodyPr/>
          <a:lstStyle/>
          <a:p>
            <a:fld id="{9E956354-13B1-4AF8-AD16-88106355DB72}" type="slidenum">
              <a:rPr lang="es-CL" smtClean="0"/>
              <a:t>42</a:t>
            </a:fld>
            <a:endParaRPr lang="es-CL"/>
          </a:p>
        </p:txBody>
      </p:sp>
    </p:spTree>
    <p:extLst>
      <p:ext uri="{BB962C8B-B14F-4D97-AF65-F5344CB8AC3E}">
        <p14:creationId xmlns:p14="http://schemas.microsoft.com/office/powerpoint/2010/main" val="26760557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a:t>Docente, fomente la reflexión de los estudiantes. Puede encontrarse con varias respuestas correctas por cada caso. En las diapositivas se muestra solo una de las opciones posibles.</a:t>
            </a:r>
          </a:p>
          <a:p>
            <a:endParaRPr lang="es-CL" dirty="0"/>
          </a:p>
          <a:p>
            <a:r>
              <a:rPr lang="es-CL" dirty="0"/>
              <a:t>Nota docente: preguntar a los estudiantes</a:t>
            </a:r>
          </a:p>
          <a:p>
            <a:endParaRPr lang="es-CL" dirty="0"/>
          </a:p>
          <a:p>
            <a:r>
              <a:rPr lang="es-CL" dirty="0">
                <a:hlinkClick r:id="rId3"/>
              </a:rPr>
              <a:t>https://mvitinnovaciontecnologica.wordpress.com/2020/02/06/guia-de-anotaciones-de-spring-framework/</a:t>
            </a:r>
            <a:r>
              <a:rPr lang="es-CL" dirty="0">
                <a:cs typeface="+mn-lt"/>
              </a:rPr>
              <a:t/>
            </a:r>
            <a:br>
              <a:rPr lang="es-CL" dirty="0">
                <a:cs typeface="+mn-lt"/>
              </a:rPr>
            </a:br>
            <a:r>
              <a:rPr lang="es-CL" dirty="0">
                <a:cs typeface="+mn-lt"/>
              </a:rPr>
              <a:t/>
            </a:r>
            <a:br>
              <a:rPr lang="es-CL" dirty="0">
                <a:cs typeface="+mn-lt"/>
              </a:rPr>
            </a:br>
            <a:r>
              <a:rPr lang="es-CL" dirty="0"/>
              <a:t>Las anotaciones en Spring son una parte integral del marco de trabajo y se utilizan para simplificar la configuración y el manejo de las dependencias en las aplicaciones Java. Proporcionan una forma declarativa de definir el comportamiento, la configuración y los aspectos del ciclo de vida de los componentes de la aplicación.</a:t>
            </a:r>
          </a:p>
          <a:p>
            <a:endParaRPr lang="es-CL" dirty="0"/>
          </a:p>
        </p:txBody>
      </p:sp>
      <p:sp>
        <p:nvSpPr>
          <p:cNvPr id="4" name="Marcador de número de diapositiva 3"/>
          <p:cNvSpPr>
            <a:spLocks noGrp="1"/>
          </p:cNvSpPr>
          <p:nvPr>
            <p:ph type="sldNum" sz="quarter" idx="5"/>
          </p:nvPr>
        </p:nvSpPr>
        <p:spPr/>
        <p:txBody>
          <a:bodyPr/>
          <a:lstStyle/>
          <a:p>
            <a:fld id="{9E956354-13B1-4AF8-AD16-88106355DB72}" type="slidenum">
              <a:rPr lang="es-CL" smtClean="0"/>
              <a:t>43</a:t>
            </a:fld>
            <a:endParaRPr lang="es-CL"/>
          </a:p>
        </p:txBody>
      </p:sp>
    </p:spTree>
    <p:extLst>
      <p:ext uri="{BB962C8B-B14F-4D97-AF65-F5344CB8AC3E}">
        <p14:creationId xmlns:p14="http://schemas.microsoft.com/office/powerpoint/2010/main" val="9593223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b="1"/>
          </a:p>
          <a:p>
            <a:r>
              <a:rPr lang="es-CL"/>
              <a:t>Nota para el docente:</a:t>
            </a:r>
          </a:p>
          <a:p>
            <a:r>
              <a:rPr lang="es-CL"/>
              <a:t>No entraremos en detalle sobre HTML, ya que nos centraremos en dar un base al contexto de REST</a:t>
            </a:r>
          </a:p>
        </p:txBody>
      </p:sp>
      <p:sp>
        <p:nvSpPr>
          <p:cNvPr id="4" name="Marcador de número de diapositiva 3"/>
          <p:cNvSpPr>
            <a:spLocks noGrp="1"/>
          </p:cNvSpPr>
          <p:nvPr>
            <p:ph type="sldNum" sz="quarter" idx="5"/>
          </p:nvPr>
        </p:nvSpPr>
        <p:spPr/>
        <p:txBody>
          <a:bodyPr/>
          <a:lstStyle/>
          <a:p>
            <a:fld id="{9E956354-13B1-4AF8-AD16-88106355DB72}" type="slidenum">
              <a:rPr lang="es-CL" smtClean="0"/>
              <a:t>44</a:t>
            </a:fld>
            <a:endParaRPr lang="es-CL"/>
          </a:p>
        </p:txBody>
      </p:sp>
    </p:spTree>
    <p:extLst>
      <p:ext uri="{BB962C8B-B14F-4D97-AF65-F5344CB8AC3E}">
        <p14:creationId xmlns:p14="http://schemas.microsoft.com/office/powerpoint/2010/main" val="15005565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b="1"/>
          </a:p>
          <a:p>
            <a:r>
              <a:rPr lang="es-CL"/>
              <a:t>Nota para el docente:</a:t>
            </a:r>
          </a:p>
          <a:p>
            <a:r>
              <a:rPr lang="es-CL"/>
              <a:t>No entraremos en detalle sobre HTML, ya que nos centraremos en dar un base al contexto de REST</a:t>
            </a:r>
          </a:p>
        </p:txBody>
      </p:sp>
      <p:sp>
        <p:nvSpPr>
          <p:cNvPr id="4" name="Marcador de número de diapositiva 3"/>
          <p:cNvSpPr>
            <a:spLocks noGrp="1"/>
          </p:cNvSpPr>
          <p:nvPr>
            <p:ph type="sldNum" sz="quarter" idx="5"/>
          </p:nvPr>
        </p:nvSpPr>
        <p:spPr/>
        <p:txBody>
          <a:bodyPr/>
          <a:lstStyle/>
          <a:p>
            <a:fld id="{9E956354-13B1-4AF8-AD16-88106355DB72}" type="slidenum">
              <a:rPr lang="es-CL" smtClean="0"/>
              <a:t>45</a:t>
            </a:fld>
            <a:endParaRPr lang="es-CL"/>
          </a:p>
        </p:txBody>
      </p:sp>
    </p:spTree>
    <p:extLst>
      <p:ext uri="{BB962C8B-B14F-4D97-AF65-F5344CB8AC3E}">
        <p14:creationId xmlns:p14="http://schemas.microsoft.com/office/powerpoint/2010/main" val="39295364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b="1"/>
          </a:p>
          <a:p>
            <a:r>
              <a:rPr lang="es-CL"/>
              <a:t>Nota para el docente:</a:t>
            </a:r>
          </a:p>
          <a:p>
            <a:r>
              <a:rPr lang="es-CL"/>
              <a:t>No entraremos en detalle sobre HTML, ya que nos centraremos en dar un base al contexto de REST</a:t>
            </a:r>
          </a:p>
        </p:txBody>
      </p:sp>
      <p:sp>
        <p:nvSpPr>
          <p:cNvPr id="4" name="Marcador de número de diapositiva 3"/>
          <p:cNvSpPr>
            <a:spLocks noGrp="1"/>
          </p:cNvSpPr>
          <p:nvPr>
            <p:ph type="sldNum" sz="quarter" idx="5"/>
          </p:nvPr>
        </p:nvSpPr>
        <p:spPr/>
        <p:txBody>
          <a:bodyPr/>
          <a:lstStyle/>
          <a:p>
            <a:fld id="{9E956354-13B1-4AF8-AD16-88106355DB72}" type="slidenum">
              <a:rPr lang="es-CL" smtClean="0"/>
              <a:t>46</a:t>
            </a:fld>
            <a:endParaRPr lang="es-CL"/>
          </a:p>
        </p:txBody>
      </p:sp>
    </p:spTree>
    <p:extLst>
      <p:ext uri="{BB962C8B-B14F-4D97-AF65-F5344CB8AC3E}">
        <p14:creationId xmlns:p14="http://schemas.microsoft.com/office/powerpoint/2010/main" val="424562213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b="1"/>
          </a:p>
          <a:p>
            <a:r>
              <a:rPr lang="es-CL"/>
              <a:t>Nota para el docente:</a:t>
            </a:r>
          </a:p>
          <a:p>
            <a:r>
              <a:rPr lang="es-CL"/>
              <a:t>No entraremos en detalle sobre HTML, ya que nos centraremos en dar un base al contexto de REST</a:t>
            </a:r>
          </a:p>
        </p:txBody>
      </p:sp>
      <p:sp>
        <p:nvSpPr>
          <p:cNvPr id="4" name="Marcador de número de diapositiva 3"/>
          <p:cNvSpPr>
            <a:spLocks noGrp="1"/>
          </p:cNvSpPr>
          <p:nvPr>
            <p:ph type="sldNum" sz="quarter" idx="5"/>
          </p:nvPr>
        </p:nvSpPr>
        <p:spPr/>
        <p:txBody>
          <a:bodyPr/>
          <a:lstStyle/>
          <a:p>
            <a:fld id="{9E956354-13B1-4AF8-AD16-88106355DB72}" type="slidenum">
              <a:rPr lang="es-CL" smtClean="0"/>
              <a:t>47</a:t>
            </a:fld>
            <a:endParaRPr lang="es-CL"/>
          </a:p>
        </p:txBody>
      </p:sp>
    </p:spTree>
    <p:extLst>
      <p:ext uri="{BB962C8B-B14F-4D97-AF65-F5344CB8AC3E}">
        <p14:creationId xmlns:p14="http://schemas.microsoft.com/office/powerpoint/2010/main" val="18064066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5"/>
          </p:nvPr>
        </p:nvSpPr>
        <p:spPr/>
        <p:txBody>
          <a:bodyPr/>
          <a:lstStyle/>
          <a:p>
            <a:fld id="{9E956354-13B1-4AF8-AD16-88106355DB72}" type="slidenum">
              <a:rPr lang="es-CL" smtClean="0"/>
              <a:t>48</a:t>
            </a:fld>
            <a:endParaRPr lang="es-CL"/>
          </a:p>
        </p:txBody>
      </p:sp>
    </p:spTree>
    <p:extLst>
      <p:ext uri="{BB962C8B-B14F-4D97-AF65-F5344CB8AC3E}">
        <p14:creationId xmlns:p14="http://schemas.microsoft.com/office/powerpoint/2010/main" val="11971680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1.emf"/><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rincip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9057CAB5-419B-D16F-C185-A2D3C653D2A9}"/>
              </a:ext>
            </a:extLst>
          </p:cNvPr>
          <p:cNvPicPr>
            <a:picLocks noChangeAspect="1"/>
          </p:cNvPicPr>
          <p:nvPr userDrawn="1"/>
        </p:nvPicPr>
        <p:blipFill>
          <a:blip r:embed="rId3"/>
          <a:stretch>
            <a:fillRect/>
          </a:stretch>
        </p:blipFill>
        <p:spPr>
          <a:xfrm>
            <a:off x="11859053" y="1796807"/>
            <a:ext cx="70965" cy="3264387"/>
          </a:xfrm>
          <a:prstGeom prst="rect">
            <a:avLst/>
          </a:prstGeom>
        </p:spPr>
      </p:pic>
      <p:sp>
        <p:nvSpPr>
          <p:cNvPr id="5" name="Rectángulo 4">
            <a:extLst>
              <a:ext uri="{FF2B5EF4-FFF2-40B4-BE49-F238E27FC236}">
                <a16:creationId xmlns:a16="http://schemas.microsoft.com/office/drawing/2014/main" id="{EA07B88F-3442-88EF-4332-8188DAED77CC}"/>
              </a:ext>
            </a:extLst>
          </p:cNvPr>
          <p:cNvSpPr>
            <a:spLocks noGrp="1" noRot="1" noMove="1" noResize="1" noEditPoints="1" noAdjustHandles="1" noChangeArrowheads="1" noChangeShapeType="1"/>
          </p:cNvSpPr>
          <p:nvPr userDrawn="1"/>
        </p:nvSpPr>
        <p:spPr>
          <a:xfrm>
            <a:off x="5944993" y="616688"/>
            <a:ext cx="5674686" cy="56671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 name="Rectángulo 5">
            <a:extLst>
              <a:ext uri="{FF2B5EF4-FFF2-40B4-BE49-F238E27FC236}">
                <a16:creationId xmlns:a16="http://schemas.microsoft.com/office/drawing/2014/main" id="{FC350248-3FB5-3C6F-8D72-BDEA02FE930A}"/>
              </a:ext>
            </a:extLst>
          </p:cNvPr>
          <p:cNvSpPr/>
          <p:nvPr userDrawn="1"/>
        </p:nvSpPr>
        <p:spPr>
          <a:xfrm>
            <a:off x="6398549" y="2788646"/>
            <a:ext cx="294796" cy="2947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351"/>
          </a:p>
        </p:txBody>
      </p:sp>
      <p:cxnSp>
        <p:nvCxnSpPr>
          <p:cNvPr id="7" name="Conector recto 6">
            <a:extLst>
              <a:ext uri="{FF2B5EF4-FFF2-40B4-BE49-F238E27FC236}">
                <a16:creationId xmlns:a16="http://schemas.microsoft.com/office/drawing/2014/main" id="{FF0FCBE2-3DBD-0281-D2F5-F0C94CE8BC2D}"/>
              </a:ext>
            </a:extLst>
          </p:cNvPr>
          <p:cNvCxnSpPr>
            <a:cxnSpLocks/>
          </p:cNvCxnSpPr>
          <p:nvPr userDrawn="1"/>
        </p:nvCxnSpPr>
        <p:spPr>
          <a:xfrm>
            <a:off x="6996223" y="4106486"/>
            <a:ext cx="411480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3" name="Marcador de título 1">
            <a:extLst>
              <a:ext uri="{FF2B5EF4-FFF2-40B4-BE49-F238E27FC236}">
                <a16:creationId xmlns:a16="http://schemas.microsoft.com/office/drawing/2014/main" id="{F586EB83-3340-7C71-15A1-A44304B30029}"/>
              </a:ext>
            </a:extLst>
          </p:cNvPr>
          <p:cNvSpPr>
            <a:spLocks noGrp="1"/>
          </p:cNvSpPr>
          <p:nvPr>
            <p:ph type="title" hasCustomPrompt="1"/>
          </p:nvPr>
        </p:nvSpPr>
        <p:spPr>
          <a:xfrm>
            <a:off x="6915809" y="2601411"/>
            <a:ext cx="4377817" cy="1306054"/>
          </a:xfrm>
          <a:prstGeom prst="rect">
            <a:avLst/>
          </a:prstGeom>
        </p:spPr>
        <p:txBody>
          <a:bodyPr vert="horz" lIns="91440" tIns="45720" rIns="91440" bIns="45720" rtlCol="0" anchor="ctr">
            <a:normAutofit/>
          </a:bodyPr>
          <a:lstStyle>
            <a:lvl1pPr>
              <a:defRPr b="1">
                <a:solidFill>
                  <a:schemeClr val="bg1"/>
                </a:solidFill>
                <a:latin typeface="Arial" panose="020B0604020202020204" pitchFamily="34" charset="0"/>
                <a:cs typeface="Arial" panose="020B0604020202020204" pitchFamily="34" charset="0"/>
              </a:defRPr>
            </a:lvl1pPr>
          </a:lstStyle>
          <a:p>
            <a:r>
              <a:rPr lang="es-MX"/>
              <a:t>Haz clic para modificar título</a:t>
            </a:r>
            <a:endParaRPr lang="es-CL"/>
          </a:p>
        </p:txBody>
      </p:sp>
      <p:sp>
        <p:nvSpPr>
          <p:cNvPr id="12" name="Holder 3">
            <a:extLst>
              <a:ext uri="{FF2B5EF4-FFF2-40B4-BE49-F238E27FC236}">
                <a16:creationId xmlns:a16="http://schemas.microsoft.com/office/drawing/2014/main" id="{3F9325FC-E030-BCB8-203E-374A8BE898B6}"/>
              </a:ext>
            </a:extLst>
          </p:cNvPr>
          <p:cNvSpPr>
            <a:spLocks noGrp="1"/>
          </p:cNvSpPr>
          <p:nvPr>
            <p:ph type="subTitle" idx="4"/>
          </p:nvPr>
        </p:nvSpPr>
        <p:spPr>
          <a:xfrm>
            <a:off x="6937285" y="4305507"/>
            <a:ext cx="4356341" cy="614285"/>
          </a:xfrm>
          <a:prstGeom prst="rect">
            <a:avLst/>
          </a:prstGeom>
        </p:spPr>
        <p:txBody>
          <a:bodyPr wrap="square" lIns="0" tIns="0" rIns="0" bIns="0">
            <a:spAutoFit/>
          </a:bodyPr>
          <a:lstStyle>
            <a:lvl1pPr>
              <a:defRPr sz="2400">
                <a:solidFill>
                  <a:schemeClr val="bg1"/>
                </a:solidFill>
                <a:latin typeface="Arial" panose="020B0604020202020204" pitchFamily="34" charset="0"/>
                <a:cs typeface="Arial" panose="020B0604020202020204" pitchFamily="34" charset="0"/>
              </a:defRPr>
            </a:lvl1pPr>
          </a:lstStyle>
          <a:p>
            <a:endParaRPr/>
          </a:p>
        </p:txBody>
      </p:sp>
      <p:pic>
        <p:nvPicPr>
          <p:cNvPr id="4" name="Imagen 3">
            <a:extLst>
              <a:ext uri="{FF2B5EF4-FFF2-40B4-BE49-F238E27FC236}">
                <a16:creationId xmlns:a16="http://schemas.microsoft.com/office/drawing/2014/main" id="{952E45F7-DBA7-0067-88AC-2B33C1A8CB98}"/>
              </a:ext>
            </a:extLst>
          </p:cNvPr>
          <p:cNvPicPr>
            <a:picLocks noChangeAspect="1"/>
          </p:cNvPicPr>
          <p:nvPr userDrawn="1"/>
        </p:nvPicPr>
        <p:blipFill>
          <a:blip r:embed="rId4"/>
          <a:stretch>
            <a:fillRect/>
          </a:stretch>
        </p:blipFill>
        <p:spPr>
          <a:xfrm>
            <a:off x="7168812" y="1206961"/>
            <a:ext cx="3375906" cy="542314"/>
          </a:xfrm>
          <a:prstGeom prst="rect">
            <a:avLst/>
          </a:prstGeom>
        </p:spPr>
      </p:pic>
    </p:spTree>
    <p:extLst>
      <p:ext uri="{BB962C8B-B14F-4D97-AF65-F5344CB8AC3E}">
        <p14:creationId xmlns:p14="http://schemas.microsoft.com/office/powerpoint/2010/main" val="2606120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ORTADA interior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5C49BC9-326E-334D-C876-57A5EE8112C6}"/>
              </a:ext>
            </a:extLst>
          </p:cNvPr>
          <p:cNvSpPr/>
          <p:nvPr userDrawn="1"/>
        </p:nvSpPr>
        <p:spPr>
          <a:xfrm>
            <a:off x="7765159" y="2143668"/>
            <a:ext cx="3936955" cy="2845428"/>
          </a:xfrm>
          <a:prstGeom prst="rect">
            <a:avLst/>
          </a:prstGeom>
          <a:solidFill>
            <a:srgbClr val="FFFF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Rectángulo 6">
            <a:extLst>
              <a:ext uri="{FF2B5EF4-FFF2-40B4-BE49-F238E27FC236}">
                <a16:creationId xmlns:a16="http://schemas.microsoft.com/office/drawing/2014/main" id="{40797CDF-FB5B-73C1-E558-E89BA99B7029}"/>
              </a:ext>
            </a:extLst>
          </p:cNvPr>
          <p:cNvSpPr/>
          <p:nvPr userDrawn="1"/>
        </p:nvSpPr>
        <p:spPr>
          <a:xfrm>
            <a:off x="7765160" y="2143669"/>
            <a:ext cx="342858" cy="34285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Marcador de título 1">
            <a:extLst>
              <a:ext uri="{FF2B5EF4-FFF2-40B4-BE49-F238E27FC236}">
                <a16:creationId xmlns:a16="http://schemas.microsoft.com/office/drawing/2014/main" id="{4EC80F0E-E5C9-2939-2CF2-AD7A392F0075}"/>
              </a:ext>
            </a:extLst>
          </p:cNvPr>
          <p:cNvSpPr>
            <a:spLocks noGrp="1"/>
          </p:cNvSpPr>
          <p:nvPr>
            <p:ph type="title" hasCustomPrompt="1"/>
          </p:nvPr>
        </p:nvSpPr>
        <p:spPr>
          <a:xfrm>
            <a:off x="8458521" y="2752716"/>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a:t>Haz clic para modificar título</a:t>
            </a:r>
            <a:endParaRPr lang="es-CL"/>
          </a:p>
        </p:txBody>
      </p:sp>
      <p:sp>
        <p:nvSpPr>
          <p:cNvPr id="12" name="Rectángulo 11">
            <a:extLst>
              <a:ext uri="{FF2B5EF4-FFF2-40B4-BE49-F238E27FC236}">
                <a16:creationId xmlns:a16="http://schemas.microsoft.com/office/drawing/2014/main" id="{EF32CCDA-7D4E-CFAF-567E-53011A66186E}"/>
              </a:ext>
            </a:extLst>
          </p:cNvPr>
          <p:cNvSpPr/>
          <p:nvPr userDrawn="1"/>
        </p:nvSpPr>
        <p:spPr>
          <a:xfrm>
            <a:off x="0" y="2695073"/>
            <a:ext cx="1459832" cy="14678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Marcador de título 1">
            <a:extLst>
              <a:ext uri="{FF2B5EF4-FFF2-40B4-BE49-F238E27FC236}">
                <a16:creationId xmlns:a16="http://schemas.microsoft.com/office/drawing/2014/main" id="{3A54758D-9CC7-9A21-A8E1-CD5CA7F3C268}"/>
              </a:ext>
            </a:extLst>
          </p:cNvPr>
          <p:cNvSpPr txBox="1">
            <a:spLocks/>
          </p:cNvSpPr>
          <p:nvPr userDrawn="1"/>
        </p:nvSpPr>
        <p:spPr>
          <a:xfrm>
            <a:off x="-1" y="2752716"/>
            <a:ext cx="1459833" cy="137718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200" b="1" kern="1200">
                <a:solidFill>
                  <a:schemeClr val="bg1"/>
                </a:solidFill>
                <a:latin typeface="Arial" panose="020B0604020202020204" pitchFamily="34" charset="0"/>
                <a:ea typeface="+mj-ea"/>
                <a:cs typeface="Arial" panose="020B0604020202020204" pitchFamily="34" charset="0"/>
              </a:defRPr>
            </a:lvl1pPr>
          </a:lstStyle>
          <a:p>
            <a:pPr algn="ctr"/>
            <a:r>
              <a:rPr lang="es-MX" sz="8000"/>
              <a:t>01</a:t>
            </a:r>
            <a:endParaRPr lang="es-CL" sz="8000"/>
          </a:p>
        </p:txBody>
      </p:sp>
    </p:spTree>
    <p:extLst>
      <p:ext uri="{BB962C8B-B14F-4D97-AF65-F5344CB8AC3E}">
        <p14:creationId xmlns:p14="http://schemas.microsoft.com/office/powerpoint/2010/main" val="35576035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ADA interio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5C49BC9-326E-334D-C876-57A5EE8112C6}"/>
              </a:ext>
            </a:extLst>
          </p:cNvPr>
          <p:cNvSpPr/>
          <p:nvPr userDrawn="1"/>
        </p:nvSpPr>
        <p:spPr>
          <a:xfrm>
            <a:off x="7765159" y="2143668"/>
            <a:ext cx="3936955" cy="2845428"/>
          </a:xfrm>
          <a:prstGeom prst="rect">
            <a:avLst/>
          </a:prstGeom>
          <a:solidFill>
            <a:srgbClr val="FFFF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Rectángulo 6">
            <a:extLst>
              <a:ext uri="{FF2B5EF4-FFF2-40B4-BE49-F238E27FC236}">
                <a16:creationId xmlns:a16="http://schemas.microsoft.com/office/drawing/2014/main" id="{40797CDF-FB5B-73C1-E558-E89BA99B7029}"/>
              </a:ext>
            </a:extLst>
          </p:cNvPr>
          <p:cNvSpPr/>
          <p:nvPr userDrawn="1"/>
        </p:nvSpPr>
        <p:spPr>
          <a:xfrm>
            <a:off x="7765160" y="2143669"/>
            <a:ext cx="342858" cy="34285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Marcador de título 1">
            <a:extLst>
              <a:ext uri="{FF2B5EF4-FFF2-40B4-BE49-F238E27FC236}">
                <a16:creationId xmlns:a16="http://schemas.microsoft.com/office/drawing/2014/main" id="{4EC80F0E-E5C9-2939-2CF2-AD7A392F0075}"/>
              </a:ext>
            </a:extLst>
          </p:cNvPr>
          <p:cNvSpPr>
            <a:spLocks noGrp="1"/>
          </p:cNvSpPr>
          <p:nvPr>
            <p:ph type="title" hasCustomPrompt="1"/>
          </p:nvPr>
        </p:nvSpPr>
        <p:spPr>
          <a:xfrm>
            <a:off x="8458521" y="2752716"/>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a:t>Haz clic para modificar título</a:t>
            </a:r>
            <a:endParaRPr lang="es-CL"/>
          </a:p>
        </p:txBody>
      </p:sp>
      <p:sp>
        <p:nvSpPr>
          <p:cNvPr id="12" name="Rectángulo 11">
            <a:extLst>
              <a:ext uri="{FF2B5EF4-FFF2-40B4-BE49-F238E27FC236}">
                <a16:creationId xmlns:a16="http://schemas.microsoft.com/office/drawing/2014/main" id="{EF32CCDA-7D4E-CFAF-567E-53011A66186E}"/>
              </a:ext>
            </a:extLst>
          </p:cNvPr>
          <p:cNvSpPr/>
          <p:nvPr userDrawn="1"/>
        </p:nvSpPr>
        <p:spPr>
          <a:xfrm>
            <a:off x="0" y="2695073"/>
            <a:ext cx="1459832" cy="14678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Marcador de título 1">
            <a:extLst>
              <a:ext uri="{FF2B5EF4-FFF2-40B4-BE49-F238E27FC236}">
                <a16:creationId xmlns:a16="http://schemas.microsoft.com/office/drawing/2014/main" id="{3A54758D-9CC7-9A21-A8E1-CD5CA7F3C268}"/>
              </a:ext>
            </a:extLst>
          </p:cNvPr>
          <p:cNvSpPr txBox="1">
            <a:spLocks/>
          </p:cNvSpPr>
          <p:nvPr userDrawn="1"/>
        </p:nvSpPr>
        <p:spPr>
          <a:xfrm>
            <a:off x="-1" y="2752716"/>
            <a:ext cx="1459833" cy="137718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200" b="1" kern="1200">
                <a:solidFill>
                  <a:schemeClr val="bg1"/>
                </a:solidFill>
                <a:latin typeface="Arial" panose="020B0604020202020204" pitchFamily="34" charset="0"/>
                <a:ea typeface="+mj-ea"/>
                <a:cs typeface="Arial" panose="020B0604020202020204" pitchFamily="34" charset="0"/>
              </a:defRPr>
            </a:lvl1pPr>
          </a:lstStyle>
          <a:p>
            <a:pPr algn="ctr"/>
            <a:r>
              <a:rPr lang="es-MX" sz="8000"/>
              <a:t>02</a:t>
            </a:r>
            <a:endParaRPr lang="es-CL" sz="8000"/>
          </a:p>
        </p:txBody>
      </p:sp>
    </p:spTree>
    <p:extLst>
      <p:ext uri="{BB962C8B-B14F-4D97-AF65-F5344CB8AC3E}">
        <p14:creationId xmlns:p14="http://schemas.microsoft.com/office/powerpoint/2010/main" val="2395459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RTADA interior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5C49BC9-326E-334D-C876-57A5EE8112C6}"/>
              </a:ext>
            </a:extLst>
          </p:cNvPr>
          <p:cNvSpPr/>
          <p:nvPr userDrawn="1"/>
        </p:nvSpPr>
        <p:spPr>
          <a:xfrm>
            <a:off x="7765159" y="2143668"/>
            <a:ext cx="3936955" cy="2845428"/>
          </a:xfrm>
          <a:prstGeom prst="rect">
            <a:avLst/>
          </a:prstGeom>
          <a:solidFill>
            <a:srgbClr val="FFFF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Rectángulo 6">
            <a:extLst>
              <a:ext uri="{FF2B5EF4-FFF2-40B4-BE49-F238E27FC236}">
                <a16:creationId xmlns:a16="http://schemas.microsoft.com/office/drawing/2014/main" id="{40797CDF-FB5B-73C1-E558-E89BA99B7029}"/>
              </a:ext>
            </a:extLst>
          </p:cNvPr>
          <p:cNvSpPr/>
          <p:nvPr userDrawn="1"/>
        </p:nvSpPr>
        <p:spPr>
          <a:xfrm>
            <a:off x="7765160" y="2143669"/>
            <a:ext cx="342858" cy="34285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Marcador de título 1">
            <a:extLst>
              <a:ext uri="{FF2B5EF4-FFF2-40B4-BE49-F238E27FC236}">
                <a16:creationId xmlns:a16="http://schemas.microsoft.com/office/drawing/2014/main" id="{4EC80F0E-E5C9-2939-2CF2-AD7A392F0075}"/>
              </a:ext>
            </a:extLst>
          </p:cNvPr>
          <p:cNvSpPr>
            <a:spLocks noGrp="1"/>
          </p:cNvSpPr>
          <p:nvPr>
            <p:ph type="title" hasCustomPrompt="1"/>
          </p:nvPr>
        </p:nvSpPr>
        <p:spPr>
          <a:xfrm>
            <a:off x="8458521" y="2752716"/>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a:t>Haz clic para modificar título</a:t>
            </a:r>
            <a:endParaRPr lang="es-CL"/>
          </a:p>
        </p:txBody>
      </p:sp>
      <p:sp>
        <p:nvSpPr>
          <p:cNvPr id="12" name="Rectángulo 11">
            <a:extLst>
              <a:ext uri="{FF2B5EF4-FFF2-40B4-BE49-F238E27FC236}">
                <a16:creationId xmlns:a16="http://schemas.microsoft.com/office/drawing/2014/main" id="{EF32CCDA-7D4E-CFAF-567E-53011A66186E}"/>
              </a:ext>
            </a:extLst>
          </p:cNvPr>
          <p:cNvSpPr/>
          <p:nvPr userDrawn="1"/>
        </p:nvSpPr>
        <p:spPr>
          <a:xfrm>
            <a:off x="0" y="2695073"/>
            <a:ext cx="1459832" cy="14678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Marcador de título 1">
            <a:extLst>
              <a:ext uri="{FF2B5EF4-FFF2-40B4-BE49-F238E27FC236}">
                <a16:creationId xmlns:a16="http://schemas.microsoft.com/office/drawing/2014/main" id="{3A54758D-9CC7-9A21-A8E1-CD5CA7F3C268}"/>
              </a:ext>
            </a:extLst>
          </p:cNvPr>
          <p:cNvSpPr txBox="1">
            <a:spLocks/>
          </p:cNvSpPr>
          <p:nvPr userDrawn="1"/>
        </p:nvSpPr>
        <p:spPr>
          <a:xfrm>
            <a:off x="-1" y="2752716"/>
            <a:ext cx="1459833" cy="137718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200" b="1" kern="1200">
                <a:solidFill>
                  <a:schemeClr val="bg1"/>
                </a:solidFill>
                <a:latin typeface="Arial" panose="020B0604020202020204" pitchFamily="34" charset="0"/>
                <a:ea typeface="+mj-ea"/>
                <a:cs typeface="Arial" panose="020B0604020202020204" pitchFamily="34" charset="0"/>
              </a:defRPr>
            </a:lvl1pPr>
          </a:lstStyle>
          <a:p>
            <a:pPr algn="ctr"/>
            <a:r>
              <a:rPr lang="es-MX" sz="8000"/>
              <a:t>03</a:t>
            </a:r>
            <a:endParaRPr lang="es-CL" sz="8000"/>
          </a:p>
        </p:txBody>
      </p:sp>
    </p:spTree>
    <p:extLst>
      <p:ext uri="{BB962C8B-B14F-4D97-AF65-F5344CB8AC3E}">
        <p14:creationId xmlns:p14="http://schemas.microsoft.com/office/powerpoint/2010/main" val="1558819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ORTADA interio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35C49BC9-326E-334D-C876-57A5EE8112C6}"/>
              </a:ext>
            </a:extLst>
          </p:cNvPr>
          <p:cNvSpPr/>
          <p:nvPr userDrawn="1"/>
        </p:nvSpPr>
        <p:spPr>
          <a:xfrm>
            <a:off x="7765159" y="2143668"/>
            <a:ext cx="3936955" cy="2845428"/>
          </a:xfrm>
          <a:prstGeom prst="rect">
            <a:avLst/>
          </a:prstGeom>
          <a:solidFill>
            <a:srgbClr val="FFFFFF">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Rectángulo 6">
            <a:extLst>
              <a:ext uri="{FF2B5EF4-FFF2-40B4-BE49-F238E27FC236}">
                <a16:creationId xmlns:a16="http://schemas.microsoft.com/office/drawing/2014/main" id="{40797CDF-FB5B-73C1-E558-E89BA99B7029}"/>
              </a:ext>
            </a:extLst>
          </p:cNvPr>
          <p:cNvSpPr/>
          <p:nvPr userDrawn="1"/>
        </p:nvSpPr>
        <p:spPr>
          <a:xfrm>
            <a:off x="7765160" y="2143669"/>
            <a:ext cx="342858" cy="34285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Marcador de título 1">
            <a:extLst>
              <a:ext uri="{FF2B5EF4-FFF2-40B4-BE49-F238E27FC236}">
                <a16:creationId xmlns:a16="http://schemas.microsoft.com/office/drawing/2014/main" id="{4EC80F0E-E5C9-2939-2CF2-AD7A392F0075}"/>
              </a:ext>
            </a:extLst>
          </p:cNvPr>
          <p:cNvSpPr>
            <a:spLocks noGrp="1"/>
          </p:cNvSpPr>
          <p:nvPr>
            <p:ph type="title" hasCustomPrompt="1"/>
          </p:nvPr>
        </p:nvSpPr>
        <p:spPr>
          <a:xfrm>
            <a:off x="8458521" y="2752716"/>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a:t>Haz clic para modificar título</a:t>
            </a:r>
            <a:endParaRPr lang="es-CL"/>
          </a:p>
        </p:txBody>
      </p:sp>
      <p:sp>
        <p:nvSpPr>
          <p:cNvPr id="12" name="Rectángulo 11">
            <a:extLst>
              <a:ext uri="{FF2B5EF4-FFF2-40B4-BE49-F238E27FC236}">
                <a16:creationId xmlns:a16="http://schemas.microsoft.com/office/drawing/2014/main" id="{EF32CCDA-7D4E-CFAF-567E-53011A66186E}"/>
              </a:ext>
            </a:extLst>
          </p:cNvPr>
          <p:cNvSpPr/>
          <p:nvPr userDrawn="1"/>
        </p:nvSpPr>
        <p:spPr>
          <a:xfrm>
            <a:off x="0" y="2695073"/>
            <a:ext cx="1459832" cy="1467854"/>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Marcador de título 1">
            <a:extLst>
              <a:ext uri="{FF2B5EF4-FFF2-40B4-BE49-F238E27FC236}">
                <a16:creationId xmlns:a16="http://schemas.microsoft.com/office/drawing/2014/main" id="{3A54758D-9CC7-9A21-A8E1-CD5CA7F3C268}"/>
              </a:ext>
            </a:extLst>
          </p:cNvPr>
          <p:cNvSpPr txBox="1">
            <a:spLocks/>
          </p:cNvSpPr>
          <p:nvPr userDrawn="1"/>
        </p:nvSpPr>
        <p:spPr>
          <a:xfrm>
            <a:off x="-1" y="2752716"/>
            <a:ext cx="1459833" cy="1377184"/>
          </a:xfrm>
          <a:prstGeom prst="rect">
            <a:avLst/>
          </a:prstGeom>
        </p:spPr>
        <p:txBody>
          <a:bodyPr vert="horz" lIns="91440" tIns="45720" rIns="91440" bIns="45720" rtlCol="0" anchor="ctr">
            <a:normAutofit/>
          </a:bodyPr>
          <a:lstStyle>
            <a:lvl1pPr algn="l" defTabSz="914377" rtl="0" eaLnBrk="1" latinLnBrk="0" hangingPunct="1">
              <a:lnSpc>
                <a:spcPct val="90000"/>
              </a:lnSpc>
              <a:spcBef>
                <a:spcPct val="0"/>
              </a:spcBef>
              <a:buNone/>
              <a:defRPr sz="3200" b="1" kern="1200">
                <a:solidFill>
                  <a:schemeClr val="bg1"/>
                </a:solidFill>
                <a:latin typeface="Arial" panose="020B0604020202020204" pitchFamily="34" charset="0"/>
                <a:ea typeface="+mj-ea"/>
                <a:cs typeface="Arial" panose="020B0604020202020204" pitchFamily="34" charset="0"/>
              </a:defRPr>
            </a:lvl1pPr>
          </a:lstStyle>
          <a:p>
            <a:pPr algn="ctr"/>
            <a:r>
              <a:rPr lang="es-MX" sz="8000"/>
              <a:t>04</a:t>
            </a:r>
            <a:endParaRPr lang="es-CL" sz="8000"/>
          </a:p>
        </p:txBody>
      </p:sp>
    </p:spTree>
    <p:extLst>
      <p:ext uri="{BB962C8B-B14F-4D97-AF65-F5344CB8AC3E}">
        <p14:creationId xmlns:p14="http://schemas.microsoft.com/office/powerpoint/2010/main" val="787768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TERIOR 1">
    <p:spTree>
      <p:nvGrpSpPr>
        <p:cNvPr id="1" name=""/>
        <p:cNvGrpSpPr/>
        <p:nvPr/>
      </p:nvGrpSpPr>
      <p:grpSpPr>
        <a:xfrm>
          <a:off x="0" y="0"/>
          <a:ext cx="0" cy="0"/>
          <a:chOff x="0" y="0"/>
          <a:chExt cx="0" cy="0"/>
        </a:xfrm>
      </p:grpSpPr>
      <p:sp>
        <p:nvSpPr>
          <p:cNvPr id="6" name="Marcador de texto 26">
            <a:extLst>
              <a:ext uri="{FF2B5EF4-FFF2-40B4-BE49-F238E27FC236}">
                <a16:creationId xmlns:a16="http://schemas.microsoft.com/office/drawing/2014/main" id="{3387B960-FFF9-CB57-ACA9-C9E1213259F5}"/>
              </a:ext>
            </a:extLst>
          </p:cNvPr>
          <p:cNvSpPr>
            <a:spLocks noGrp="1"/>
          </p:cNvSpPr>
          <p:nvPr>
            <p:ph type="body" sz="quarter" idx="13" hasCustomPrompt="1"/>
          </p:nvPr>
        </p:nvSpPr>
        <p:spPr>
          <a:xfrm>
            <a:off x="654685" y="551041"/>
            <a:ext cx="4916775" cy="469685"/>
          </a:xfrm>
        </p:spPr>
        <p:txBody>
          <a:bodyPr>
            <a:noAutofit/>
          </a:bodyPr>
          <a:lstStyle>
            <a:lvl1pPr algn="l">
              <a:defRPr sz="3200" b="1">
                <a:solidFill>
                  <a:schemeClr val="tx1"/>
                </a:solidFill>
                <a:latin typeface="Arial" panose="020B0604020202020204" pitchFamily="34" charset="0"/>
                <a:cs typeface="Arial" panose="020B0604020202020204" pitchFamily="34" charset="0"/>
              </a:defRPr>
            </a:lvl1pPr>
          </a:lstStyle>
          <a:p>
            <a:r>
              <a:rPr lang="es-ES"/>
              <a:t>MODIFICAR TITULO</a:t>
            </a:r>
            <a:endParaRPr lang="es-CL"/>
          </a:p>
        </p:txBody>
      </p:sp>
      <p:sp>
        <p:nvSpPr>
          <p:cNvPr id="7" name="Marcador de texto 3">
            <a:extLst>
              <a:ext uri="{FF2B5EF4-FFF2-40B4-BE49-F238E27FC236}">
                <a16:creationId xmlns:a16="http://schemas.microsoft.com/office/drawing/2014/main" id="{149A11D1-EAA1-0BB7-CFE5-9056CB346D13}"/>
              </a:ext>
            </a:extLst>
          </p:cNvPr>
          <p:cNvSpPr>
            <a:spLocks noGrp="1"/>
          </p:cNvSpPr>
          <p:nvPr>
            <p:ph type="body" sz="quarter" idx="14" hasCustomPrompt="1"/>
          </p:nvPr>
        </p:nvSpPr>
        <p:spPr>
          <a:xfrm>
            <a:off x="640715" y="1137571"/>
            <a:ext cx="4930746" cy="553006"/>
          </a:xfrm>
        </p:spPr>
        <p:txBody>
          <a:bodyPr>
            <a:normAutofit/>
          </a:bodyPr>
          <a:lstStyle>
            <a:lvl1pPr>
              <a:defRPr sz="1400">
                <a:latin typeface="Arial" panose="020B0604020202020204" pitchFamily="34" charset="0"/>
                <a:cs typeface="Arial" panose="020B0604020202020204" pitchFamily="34" charset="0"/>
              </a:defRPr>
            </a:lvl1pPr>
          </a:lstStyle>
          <a:p>
            <a:r>
              <a:rPr lang="es-ES"/>
              <a:t>Haz clic para modificar o eliminar bajada</a:t>
            </a:r>
          </a:p>
          <a:p>
            <a:endParaRPr lang="es-ES"/>
          </a:p>
        </p:txBody>
      </p:sp>
      <p:sp>
        <p:nvSpPr>
          <p:cNvPr id="8" name="Rectángulo 7">
            <a:extLst>
              <a:ext uri="{FF2B5EF4-FFF2-40B4-BE49-F238E27FC236}">
                <a16:creationId xmlns:a16="http://schemas.microsoft.com/office/drawing/2014/main" id="{D4BF3825-8CDE-15D1-473C-F04253CD9789}"/>
              </a:ext>
            </a:extLst>
          </p:cNvPr>
          <p:cNvSpPr/>
          <p:nvPr userDrawn="1"/>
        </p:nvSpPr>
        <p:spPr>
          <a:xfrm>
            <a:off x="0" y="0"/>
            <a:ext cx="552893" cy="552893"/>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14" name="Grupo 13">
            <a:extLst>
              <a:ext uri="{FF2B5EF4-FFF2-40B4-BE49-F238E27FC236}">
                <a16:creationId xmlns:a16="http://schemas.microsoft.com/office/drawing/2014/main" id="{DBF54666-A2EC-90FE-7052-73357A52AE9A}"/>
              </a:ext>
            </a:extLst>
          </p:cNvPr>
          <p:cNvGrpSpPr/>
          <p:nvPr userDrawn="1"/>
        </p:nvGrpSpPr>
        <p:grpSpPr>
          <a:xfrm>
            <a:off x="10559057" y="6273209"/>
            <a:ext cx="1405082" cy="320986"/>
            <a:chOff x="8941676" y="5879067"/>
            <a:chExt cx="2618425" cy="598170"/>
          </a:xfrm>
        </p:grpSpPr>
        <p:sp>
          <p:nvSpPr>
            <p:cNvPr id="9" name="object 2">
              <a:extLst>
                <a:ext uri="{FF2B5EF4-FFF2-40B4-BE49-F238E27FC236}">
                  <a16:creationId xmlns:a16="http://schemas.microsoft.com/office/drawing/2014/main" id="{371A0572-EF4B-CA79-4539-AA0A2E4CD964}"/>
                </a:ext>
              </a:extLst>
            </p:cNvPr>
            <p:cNvSpPr/>
            <p:nvPr userDrawn="1"/>
          </p:nvSpPr>
          <p:spPr>
            <a:xfrm>
              <a:off x="8941676" y="5949980"/>
              <a:ext cx="1618615" cy="525145"/>
            </a:xfrm>
            <a:custGeom>
              <a:avLst/>
              <a:gdLst/>
              <a:ahLst/>
              <a:cxnLst/>
              <a:rect l="l" t="t" r="r" b="b"/>
              <a:pathLst>
                <a:path w="1618615" h="52514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tx1"/>
            </a:solidFill>
          </p:spPr>
          <p:txBody>
            <a:bodyPr wrap="square" lIns="0" tIns="0" rIns="0" bIns="0" rtlCol="0"/>
            <a:lstStyle/>
            <a:p>
              <a:endParaRPr/>
            </a:p>
          </p:txBody>
        </p:sp>
        <p:sp>
          <p:nvSpPr>
            <p:cNvPr id="10" name="object 3">
              <a:extLst>
                <a:ext uri="{FF2B5EF4-FFF2-40B4-BE49-F238E27FC236}">
                  <a16:creationId xmlns:a16="http://schemas.microsoft.com/office/drawing/2014/main" id="{1BA993DD-B802-B0F6-BB6C-691D8C644DF2}"/>
                </a:ext>
              </a:extLst>
            </p:cNvPr>
            <p:cNvSpPr/>
            <p:nvPr userDrawn="1"/>
          </p:nvSpPr>
          <p:spPr>
            <a:xfrm>
              <a:off x="10672317" y="5994129"/>
              <a:ext cx="388620" cy="482600"/>
            </a:xfrm>
            <a:custGeom>
              <a:avLst/>
              <a:gdLst/>
              <a:ahLst/>
              <a:cxnLst/>
              <a:rect l="l" t="t" r="r" b="b"/>
              <a:pathLst>
                <a:path w="388619" h="48260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p:spPr>
          <p:txBody>
            <a:bodyPr wrap="square" lIns="0" tIns="0" rIns="0" bIns="0" rtlCol="0"/>
            <a:lstStyle/>
            <a:p>
              <a:endParaRPr/>
            </a:p>
          </p:txBody>
        </p:sp>
        <p:grpSp>
          <p:nvGrpSpPr>
            <p:cNvPr id="11" name="object 4">
              <a:extLst>
                <a:ext uri="{FF2B5EF4-FFF2-40B4-BE49-F238E27FC236}">
                  <a16:creationId xmlns:a16="http://schemas.microsoft.com/office/drawing/2014/main" id="{C3421982-2587-852B-E105-195C0E7D9D9F}"/>
                </a:ext>
              </a:extLst>
            </p:cNvPr>
            <p:cNvGrpSpPr/>
            <p:nvPr userDrawn="1"/>
          </p:nvGrpSpPr>
          <p:grpSpPr>
            <a:xfrm>
              <a:off x="11114331" y="5879067"/>
              <a:ext cx="445770" cy="598170"/>
              <a:chOff x="18406074" y="10234089"/>
              <a:chExt cx="445770" cy="598170"/>
            </a:xfrm>
          </p:grpSpPr>
          <p:sp>
            <p:nvSpPr>
              <p:cNvPr id="12" name="object 5">
                <a:extLst>
                  <a:ext uri="{FF2B5EF4-FFF2-40B4-BE49-F238E27FC236}">
                    <a16:creationId xmlns:a16="http://schemas.microsoft.com/office/drawing/2014/main" id="{7422255E-C44F-6988-4785-AAC71FA19F3B}"/>
                  </a:ext>
                </a:extLst>
              </p:cNvPr>
              <p:cNvSpPr/>
              <p:nvPr/>
            </p:nvSpPr>
            <p:spPr>
              <a:xfrm>
                <a:off x="18406074" y="10341395"/>
                <a:ext cx="376555" cy="490855"/>
              </a:xfrm>
              <a:custGeom>
                <a:avLst/>
                <a:gdLst/>
                <a:ahLst/>
                <a:cxnLst/>
                <a:rect l="l" t="t" r="r" b="b"/>
                <a:pathLst>
                  <a:path w="376555" h="490854">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p:spPr>
            <p:txBody>
              <a:bodyPr wrap="square" lIns="0" tIns="0" rIns="0" bIns="0" rtlCol="0"/>
              <a:lstStyle/>
              <a:p>
                <a:endParaRPr/>
              </a:p>
            </p:txBody>
          </p:sp>
          <p:pic>
            <p:nvPicPr>
              <p:cNvPr id="13" name="object 6">
                <a:extLst>
                  <a:ext uri="{FF2B5EF4-FFF2-40B4-BE49-F238E27FC236}">
                    <a16:creationId xmlns:a16="http://schemas.microsoft.com/office/drawing/2014/main" id="{C9735AE4-9BC0-BA7F-18A3-3B4538726A97}"/>
                  </a:ext>
                </a:extLst>
              </p:cNvPr>
              <p:cNvPicPr/>
              <p:nvPr/>
            </p:nvPicPr>
            <p:blipFill>
              <a:blip r:embed="rId2" cstate="email">
                <a:extLst>
                  <a:ext uri="{28A0092B-C50C-407E-A947-70E740481C1C}">
                    <a14:useLocalDpi xmlns:a14="http://schemas.microsoft.com/office/drawing/2010/main"/>
                  </a:ext>
                </a:extLst>
              </a:blip>
              <a:stretch>
                <a:fillRect/>
              </a:stretch>
            </p:blipFill>
            <p:spPr>
              <a:xfrm>
                <a:off x="18739823" y="10234089"/>
                <a:ext cx="111954" cy="111944"/>
              </a:xfrm>
              <a:prstGeom prst="rect">
                <a:avLst/>
              </a:prstGeom>
            </p:spPr>
          </p:pic>
        </p:grpSp>
      </p:grpSp>
      <p:pic>
        <p:nvPicPr>
          <p:cNvPr id="3" name="Imagen 2">
            <a:extLst>
              <a:ext uri="{FF2B5EF4-FFF2-40B4-BE49-F238E27FC236}">
                <a16:creationId xmlns:a16="http://schemas.microsoft.com/office/drawing/2014/main" id="{0B8A2F42-00CA-3BF5-D8D0-4B68FE7E8824}"/>
              </a:ext>
            </a:extLst>
          </p:cNvPr>
          <p:cNvPicPr>
            <a:picLocks noChangeAspect="1"/>
          </p:cNvPicPr>
          <p:nvPr userDrawn="1"/>
        </p:nvPicPr>
        <p:blipFill>
          <a:blip r:embed="rId3"/>
          <a:stretch>
            <a:fillRect/>
          </a:stretch>
        </p:blipFill>
        <p:spPr>
          <a:xfrm rot="5400000">
            <a:off x="2714468" y="4342374"/>
            <a:ext cx="119408" cy="4238978"/>
          </a:xfrm>
          <a:prstGeom prst="rect">
            <a:avLst/>
          </a:prstGeom>
        </p:spPr>
      </p:pic>
    </p:spTree>
    <p:extLst>
      <p:ext uri="{BB962C8B-B14F-4D97-AF65-F5344CB8AC3E}">
        <p14:creationId xmlns:p14="http://schemas.microsoft.com/office/powerpoint/2010/main" val="4245125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TERIOR 2">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97BCC7D-6F08-8B7A-0AE6-494B19B085FA}"/>
              </a:ext>
            </a:extLst>
          </p:cNvPr>
          <p:cNvSpPr/>
          <p:nvPr userDrawn="1"/>
        </p:nvSpPr>
        <p:spPr>
          <a:xfrm>
            <a:off x="0" y="0"/>
            <a:ext cx="4459705"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 name="Rectángulo 2">
            <a:extLst>
              <a:ext uri="{FF2B5EF4-FFF2-40B4-BE49-F238E27FC236}">
                <a16:creationId xmlns:a16="http://schemas.microsoft.com/office/drawing/2014/main" id="{989D0323-C2ED-C0E8-73FE-BEAB8CFEAEB8}"/>
              </a:ext>
            </a:extLst>
          </p:cNvPr>
          <p:cNvSpPr/>
          <p:nvPr userDrawn="1"/>
        </p:nvSpPr>
        <p:spPr>
          <a:xfrm>
            <a:off x="970947" y="900877"/>
            <a:ext cx="3748474" cy="5056245"/>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4" name="Gráfico 3">
            <a:extLst>
              <a:ext uri="{FF2B5EF4-FFF2-40B4-BE49-F238E27FC236}">
                <a16:creationId xmlns:a16="http://schemas.microsoft.com/office/drawing/2014/main" id="{3A500616-0E5D-9D67-2AD4-83DFD6FEB76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rot="5400000" flipV="1">
            <a:off x="10929134" y="3487483"/>
            <a:ext cx="2392160" cy="133572"/>
          </a:xfrm>
          <a:prstGeom prst="rect">
            <a:avLst/>
          </a:prstGeom>
        </p:spPr>
      </p:pic>
      <p:sp>
        <p:nvSpPr>
          <p:cNvPr id="15" name="Marcador de título 1">
            <a:extLst>
              <a:ext uri="{FF2B5EF4-FFF2-40B4-BE49-F238E27FC236}">
                <a16:creationId xmlns:a16="http://schemas.microsoft.com/office/drawing/2014/main" id="{F57429FB-BAB3-46DE-9370-D3C110C6572A}"/>
              </a:ext>
            </a:extLst>
          </p:cNvPr>
          <p:cNvSpPr>
            <a:spLocks noGrp="1"/>
          </p:cNvSpPr>
          <p:nvPr>
            <p:ph type="title" hasCustomPrompt="1"/>
          </p:nvPr>
        </p:nvSpPr>
        <p:spPr>
          <a:xfrm>
            <a:off x="1477466" y="2219158"/>
            <a:ext cx="2805775" cy="1627331"/>
          </a:xfrm>
          <a:prstGeom prst="rect">
            <a:avLst/>
          </a:prstGeom>
        </p:spPr>
        <p:txBody>
          <a:bodyPr vert="horz" lIns="91440" tIns="45720" rIns="91440" bIns="45720" rtlCol="0" anchor="ctr">
            <a:normAutofit/>
          </a:bodyPr>
          <a:lstStyle>
            <a:lvl1pPr>
              <a:defRPr sz="3200" b="1">
                <a:solidFill>
                  <a:schemeClr val="bg1"/>
                </a:solidFill>
                <a:latin typeface="Arial" panose="020B0604020202020204" pitchFamily="34" charset="0"/>
                <a:cs typeface="Arial" panose="020B0604020202020204" pitchFamily="34" charset="0"/>
              </a:defRPr>
            </a:lvl1pPr>
          </a:lstStyle>
          <a:p>
            <a:r>
              <a:rPr lang="es-MX"/>
              <a:t>Haz clic para modificar título</a:t>
            </a:r>
            <a:endParaRPr lang="es-CL"/>
          </a:p>
        </p:txBody>
      </p:sp>
      <p:sp>
        <p:nvSpPr>
          <p:cNvPr id="16" name="Marcador de texto 2">
            <a:extLst>
              <a:ext uri="{FF2B5EF4-FFF2-40B4-BE49-F238E27FC236}">
                <a16:creationId xmlns:a16="http://schemas.microsoft.com/office/drawing/2014/main" id="{4F8D0BB2-7009-A53E-830B-0224847CA34E}"/>
              </a:ext>
            </a:extLst>
          </p:cNvPr>
          <p:cNvSpPr>
            <a:spLocks noGrp="1"/>
          </p:cNvSpPr>
          <p:nvPr>
            <p:ph idx="1" hasCustomPrompt="1"/>
          </p:nvPr>
        </p:nvSpPr>
        <p:spPr>
          <a:xfrm>
            <a:off x="1477466" y="4008906"/>
            <a:ext cx="2805775" cy="746396"/>
          </a:xfrm>
          <a:prstGeom prst="rect">
            <a:avLst/>
          </a:prstGeom>
        </p:spPr>
        <p:txBody>
          <a:bodyPr vert="horz" lIns="91440" tIns="45720" rIns="91440" bIns="45720" rtlCol="0">
            <a:normAutofit/>
          </a:bodyPr>
          <a:lstStyle>
            <a:lvl1pPr>
              <a:defRPr b="0" i="0">
                <a:solidFill>
                  <a:schemeClr val="bg1"/>
                </a:solidFill>
                <a:latin typeface="Arial" panose="020B0604020202020204" pitchFamily="34" charset="0"/>
                <a:cs typeface="Arial" panose="020B0604020202020204" pitchFamily="34" charset="0"/>
              </a:defRPr>
            </a:lvl1pPr>
          </a:lstStyle>
          <a:p>
            <a:pPr lvl="0"/>
            <a:r>
              <a:rPr lang="es-MX"/>
              <a:t>Haz clic para modificar bajada</a:t>
            </a:r>
            <a:endParaRPr lang="es-CL"/>
          </a:p>
        </p:txBody>
      </p:sp>
      <p:grpSp>
        <p:nvGrpSpPr>
          <p:cNvPr id="6" name="Grupo 5">
            <a:extLst>
              <a:ext uri="{FF2B5EF4-FFF2-40B4-BE49-F238E27FC236}">
                <a16:creationId xmlns:a16="http://schemas.microsoft.com/office/drawing/2014/main" id="{30600BA2-FE25-D617-556A-284E126C4526}"/>
              </a:ext>
            </a:extLst>
          </p:cNvPr>
          <p:cNvGrpSpPr/>
          <p:nvPr userDrawn="1"/>
        </p:nvGrpSpPr>
        <p:grpSpPr>
          <a:xfrm>
            <a:off x="10559057" y="6273209"/>
            <a:ext cx="1405082" cy="320986"/>
            <a:chOff x="8941676" y="5879067"/>
            <a:chExt cx="2618425" cy="598170"/>
          </a:xfrm>
        </p:grpSpPr>
        <p:sp>
          <p:nvSpPr>
            <p:cNvPr id="7" name="object 2">
              <a:extLst>
                <a:ext uri="{FF2B5EF4-FFF2-40B4-BE49-F238E27FC236}">
                  <a16:creationId xmlns:a16="http://schemas.microsoft.com/office/drawing/2014/main" id="{214DF2C4-F04D-3C80-781C-59FD036C679C}"/>
                </a:ext>
              </a:extLst>
            </p:cNvPr>
            <p:cNvSpPr/>
            <p:nvPr userDrawn="1"/>
          </p:nvSpPr>
          <p:spPr>
            <a:xfrm>
              <a:off x="8941676" y="5949980"/>
              <a:ext cx="1618615" cy="525145"/>
            </a:xfrm>
            <a:custGeom>
              <a:avLst/>
              <a:gdLst/>
              <a:ahLst/>
              <a:cxnLst/>
              <a:rect l="l" t="t" r="r" b="b"/>
              <a:pathLst>
                <a:path w="1618615" h="52514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tx1"/>
            </a:solidFill>
          </p:spPr>
          <p:txBody>
            <a:bodyPr wrap="square" lIns="0" tIns="0" rIns="0" bIns="0" rtlCol="0"/>
            <a:lstStyle/>
            <a:p>
              <a:endParaRPr/>
            </a:p>
          </p:txBody>
        </p:sp>
        <p:sp>
          <p:nvSpPr>
            <p:cNvPr id="8" name="object 3">
              <a:extLst>
                <a:ext uri="{FF2B5EF4-FFF2-40B4-BE49-F238E27FC236}">
                  <a16:creationId xmlns:a16="http://schemas.microsoft.com/office/drawing/2014/main" id="{6664B434-EC06-B2A1-112A-CFBBD91843D1}"/>
                </a:ext>
              </a:extLst>
            </p:cNvPr>
            <p:cNvSpPr/>
            <p:nvPr userDrawn="1"/>
          </p:nvSpPr>
          <p:spPr>
            <a:xfrm>
              <a:off x="10672317" y="5994129"/>
              <a:ext cx="388620" cy="482600"/>
            </a:xfrm>
            <a:custGeom>
              <a:avLst/>
              <a:gdLst/>
              <a:ahLst/>
              <a:cxnLst/>
              <a:rect l="l" t="t" r="r" b="b"/>
              <a:pathLst>
                <a:path w="388619" h="48260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p:spPr>
          <p:txBody>
            <a:bodyPr wrap="square" lIns="0" tIns="0" rIns="0" bIns="0" rtlCol="0"/>
            <a:lstStyle/>
            <a:p>
              <a:endParaRPr/>
            </a:p>
          </p:txBody>
        </p:sp>
        <p:grpSp>
          <p:nvGrpSpPr>
            <p:cNvPr id="17" name="object 4">
              <a:extLst>
                <a:ext uri="{FF2B5EF4-FFF2-40B4-BE49-F238E27FC236}">
                  <a16:creationId xmlns:a16="http://schemas.microsoft.com/office/drawing/2014/main" id="{78BE0504-3454-CB76-4D2B-96730BFC194F}"/>
                </a:ext>
              </a:extLst>
            </p:cNvPr>
            <p:cNvGrpSpPr/>
            <p:nvPr userDrawn="1"/>
          </p:nvGrpSpPr>
          <p:grpSpPr>
            <a:xfrm>
              <a:off x="11114331" y="5879067"/>
              <a:ext cx="445770" cy="598170"/>
              <a:chOff x="18406074" y="10234089"/>
              <a:chExt cx="445770" cy="598170"/>
            </a:xfrm>
          </p:grpSpPr>
          <p:sp>
            <p:nvSpPr>
              <p:cNvPr id="18" name="object 5">
                <a:extLst>
                  <a:ext uri="{FF2B5EF4-FFF2-40B4-BE49-F238E27FC236}">
                    <a16:creationId xmlns:a16="http://schemas.microsoft.com/office/drawing/2014/main" id="{E08B512B-19D5-31EE-38BB-ECE0FD6B8C78}"/>
                  </a:ext>
                </a:extLst>
              </p:cNvPr>
              <p:cNvSpPr/>
              <p:nvPr/>
            </p:nvSpPr>
            <p:spPr>
              <a:xfrm>
                <a:off x="18406074" y="10341395"/>
                <a:ext cx="376555" cy="490855"/>
              </a:xfrm>
              <a:custGeom>
                <a:avLst/>
                <a:gdLst/>
                <a:ahLst/>
                <a:cxnLst/>
                <a:rect l="l" t="t" r="r" b="b"/>
                <a:pathLst>
                  <a:path w="376555" h="490854">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p:spPr>
            <p:txBody>
              <a:bodyPr wrap="square" lIns="0" tIns="0" rIns="0" bIns="0" rtlCol="0"/>
              <a:lstStyle/>
              <a:p>
                <a:endParaRPr/>
              </a:p>
            </p:txBody>
          </p:sp>
          <p:pic>
            <p:nvPicPr>
              <p:cNvPr id="19" name="object 6">
                <a:extLst>
                  <a:ext uri="{FF2B5EF4-FFF2-40B4-BE49-F238E27FC236}">
                    <a16:creationId xmlns:a16="http://schemas.microsoft.com/office/drawing/2014/main" id="{2816031D-2FBD-6D3D-C3AA-EDAC01B1B7B3}"/>
                  </a:ext>
                </a:extLst>
              </p:cNvPr>
              <p:cNvPicPr/>
              <p:nvPr/>
            </p:nvPicPr>
            <p:blipFill>
              <a:blip r:embed="rId4" cstate="email">
                <a:extLst>
                  <a:ext uri="{28A0092B-C50C-407E-A947-70E740481C1C}">
                    <a14:useLocalDpi xmlns:a14="http://schemas.microsoft.com/office/drawing/2010/main"/>
                  </a:ext>
                </a:extLst>
              </a:blip>
              <a:stretch>
                <a:fillRect/>
              </a:stretch>
            </p:blipFill>
            <p:spPr>
              <a:xfrm>
                <a:off x="18739823" y="10234089"/>
                <a:ext cx="111954" cy="111944"/>
              </a:xfrm>
              <a:prstGeom prst="rect">
                <a:avLst/>
              </a:prstGeom>
            </p:spPr>
          </p:pic>
        </p:grpSp>
      </p:grpSp>
      <p:pic>
        <p:nvPicPr>
          <p:cNvPr id="9" name="Imagen 8">
            <a:extLst>
              <a:ext uri="{FF2B5EF4-FFF2-40B4-BE49-F238E27FC236}">
                <a16:creationId xmlns:a16="http://schemas.microsoft.com/office/drawing/2014/main" id="{9C188DE4-1C8A-750A-9834-317895F22B2F}"/>
              </a:ext>
            </a:extLst>
          </p:cNvPr>
          <p:cNvPicPr>
            <a:picLocks noChangeAspect="1"/>
          </p:cNvPicPr>
          <p:nvPr userDrawn="1"/>
        </p:nvPicPr>
        <p:blipFill>
          <a:blip r:embed="rId5"/>
          <a:stretch>
            <a:fillRect/>
          </a:stretch>
        </p:blipFill>
        <p:spPr>
          <a:xfrm>
            <a:off x="460414" y="1315256"/>
            <a:ext cx="119084" cy="4227489"/>
          </a:xfrm>
          <a:prstGeom prst="rect">
            <a:avLst/>
          </a:prstGeom>
        </p:spPr>
      </p:pic>
    </p:spTree>
    <p:extLst>
      <p:ext uri="{BB962C8B-B14F-4D97-AF65-F5344CB8AC3E}">
        <p14:creationId xmlns:p14="http://schemas.microsoft.com/office/powerpoint/2010/main" val="3652869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TERIOR 3">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97BCC7D-6F08-8B7A-0AE6-494B19B085FA}"/>
              </a:ext>
            </a:extLst>
          </p:cNvPr>
          <p:cNvSpPr/>
          <p:nvPr userDrawn="1"/>
        </p:nvSpPr>
        <p:spPr>
          <a:xfrm>
            <a:off x="0" y="0"/>
            <a:ext cx="1155032"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 name="Rectángulo 5">
            <a:extLst>
              <a:ext uri="{FF2B5EF4-FFF2-40B4-BE49-F238E27FC236}">
                <a16:creationId xmlns:a16="http://schemas.microsoft.com/office/drawing/2014/main" id="{7CFD1A2D-962B-1B2F-8EFE-116133732487}"/>
              </a:ext>
            </a:extLst>
          </p:cNvPr>
          <p:cNvSpPr/>
          <p:nvPr userDrawn="1"/>
        </p:nvSpPr>
        <p:spPr>
          <a:xfrm>
            <a:off x="485631" y="405838"/>
            <a:ext cx="155636" cy="155636"/>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sz="1351"/>
          </a:p>
        </p:txBody>
      </p:sp>
      <p:sp>
        <p:nvSpPr>
          <p:cNvPr id="7" name="Marcador de texto 26">
            <a:extLst>
              <a:ext uri="{FF2B5EF4-FFF2-40B4-BE49-F238E27FC236}">
                <a16:creationId xmlns:a16="http://schemas.microsoft.com/office/drawing/2014/main" id="{FC12E6C9-B6C7-FBEC-A203-87F5181A3034}"/>
              </a:ext>
            </a:extLst>
          </p:cNvPr>
          <p:cNvSpPr>
            <a:spLocks noGrp="1"/>
          </p:cNvSpPr>
          <p:nvPr>
            <p:ph type="body" sz="quarter" idx="13" hasCustomPrompt="1"/>
          </p:nvPr>
        </p:nvSpPr>
        <p:spPr>
          <a:xfrm>
            <a:off x="6510853" y="405838"/>
            <a:ext cx="4916775" cy="469685"/>
          </a:xfrm>
        </p:spPr>
        <p:txBody>
          <a:bodyPr>
            <a:noAutofit/>
          </a:bodyPr>
          <a:lstStyle>
            <a:lvl1pPr marL="0" indent="0" algn="r">
              <a:buNone/>
              <a:defRPr sz="3200" b="1">
                <a:solidFill>
                  <a:schemeClr val="tx1"/>
                </a:solidFill>
                <a:latin typeface="Arial" panose="020B0604020202020204" pitchFamily="34" charset="0"/>
                <a:cs typeface="Arial" panose="020B0604020202020204" pitchFamily="34" charset="0"/>
              </a:defRPr>
            </a:lvl1pPr>
          </a:lstStyle>
          <a:p>
            <a:r>
              <a:rPr lang="es-ES"/>
              <a:t>MODIFICAR TITULO</a:t>
            </a:r>
            <a:endParaRPr lang="es-CL"/>
          </a:p>
        </p:txBody>
      </p:sp>
      <p:sp>
        <p:nvSpPr>
          <p:cNvPr id="8" name="Marcador de texto 3">
            <a:extLst>
              <a:ext uri="{FF2B5EF4-FFF2-40B4-BE49-F238E27FC236}">
                <a16:creationId xmlns:a16="http://schemas.microsoft.com/office/drawing/2014/main" id="{1CE8A453-8074-39A1-48E5-2C3C6BECABC8}"/>
              </a:ext>
            </a:extLst>
          </p:cNvPr>
          <p:cNvSpPr>
            <a:spLocks noGrp="1"/>
          </p:cNvSpPr>
          <p:nvPr>
            <p:ph type="body" sz="quarter" idx="14" hasCustomPrompt="1"/>
          </p:nvPr>
        </p:nvSpPr>
        <p:spPr>
          <a:xfrm>
            <a:off x="6510853" y="976146"/>
            <a:ext cx="4930746" cy="281800"/>
          </a:xfrm>
        </p:spPr>
        <p:txBody>
          <a:bodyPr>
            <a:normAutofit/>
          </a:bodyPr>
          <a:lstStyle>
            <a:lvl1pPr marL="0" indent="0" algn="r">
              <a:buNone/>
              <a:defRPr sz="1400">
                <a:latin typeface="Arial" panose="020B0604020202020204" pitchFamily="34" charset="0"/>
                <a:cs typeface="Arial" panose="020B0604020202020204" pitchFamily="34" charset="0"/>
              </a:defRPr>
            </a:lvl1pPr>
          </a:lstStyle>
          <a:p>
            <a:r>
              <a:rPr lang="es-ES"/>
              <a:t>Haz clic para modificar o eliminar bajada</a:t>
            </a:r>
          </a:p>
          <a:p>
            <a:endParaRPr lang="es-ES"/>
          </a:p>
        </p:txBody>
      </p:sp>
      <p:sp>
        <p:nvSpPr>
          <p:cNvPr id="17" name="Rectángulo 16">
            <a:extLst>
              <a:ext uri="{FF2B5EF4-FFF2-40B4-BE49-F238E27FC236}">
                <a16:creationId xmlns:a16="http://schemas.microsoft.com/office/drawing/2014/main" id="{C0D8A9F2-7C34-CC0C-4A65-766C6591434E}"/>
              </a:ext>
            </a:extLst>
          </p:cNvPr>
          <p:cNvSpPr/>
          <p:nvPr userDrawn="1"/>
        </p:nvSpPr>
        <p:spPr>
          <a:xfrm>
            <a:off x="11551912" y="483656"/>
            <a:ext cx="271438" cy="271438"/>
          </a:xfrm>
          <a:prstGeom prst="rect">
            <a:avLst/>
          </a:prstGeom>
          <a:solidFill>
            <a:srgbClr val="4E7C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3" name="Grupo 2">
            <a:extLst>
              <a:ext uri="{FF2B5EF4-FFF2-40B4-BE49-F238E27FC236}">
                <a16:creationId xmlns:a16="http://schemas.microsoft.com/office/drawing/2014/main" id="{427846E3-6C01-4C3F-2624-7CD8517C9846}"/>
              </a:ext>
            </a:extLst>
          </p:cNvPr>
          <p:cNvGrpSpPr/>
          <p:nvPr userDrawn="1"/>
        </p:nvGrpSpPr>
        <p:grpSpPr>
          <a:xfrm>
            <a:off x="10559057" y="6273209"/>
            <a:ext cx="1405082" cy="320986"/>
            <a:chOff x="8941676" y="5879067"/>
            <a:chExt cx="2618425" cy="598170"/>
          </a:xfrm>
        </p:grpSpPr>
        <p:sp>
          <p:nvSpPr>
            <p:cNvPr id="4" name="object 2">
              <a:extLst>
                <a:ext uri="{FF2B5EF4-FFF2-40B4-BE49-F238E27FC236}">
                  <a16:creationId xmlns:a16="http://schemas.microsoft.com/office/drawing/2014/main" id="{F0FF35D2-A2FC-35AC-0158-8D26446D5854}"/>
                </a:ext>
              </a:extLst>
            </p:cNvPr>
            <p:cNvSpPr/>
            <p:nvPr userDrawn="1"/>
          </p:nvSpPr>
          <p:spPr>
            <a:xfrm>
              <a:off x="8941676" y="5949980"/>
              <a:ext cx="1618615" cy="525145"/>
            </a:xfrm>
            <a:custGeom>
              <a:avLst/>
              <a:gdLst/>
              <a:ahLst/>
              <a:cxnLst/>
              <a:rect l="l" t="t" r="r" b="b"/>
              <a:pathLst>
                <a:path w="1618615" h="52514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w="1618615" h="52514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w="1618615" h="52514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w="1618615" h="52514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chemeClr val="tx1"/>
            </a:solidFill>
          </p:spPr>
          <p:txBody>
            <a:bodyPr wrap="square" lIns="0" tIns="0" rIns="0" bIns="0" rtlCol="0"/>
            <a:lstStyle/>
            <a:p>
              <a:endParaRPr/>
            </a:p>
          </p:txBody>
        </p:sp>
        <p:sp>
          <p:nvSpPr>
            <p:cNvPr id="15" name="object 3">
              <a:extLst>
                <a:ext uri="{FF2B5EF4-FFF2-40B4-BE49-F238E27FC236}">
                  <a16:creationId xmlns:a16="http://schemas.microsoft.com/office/drawing/2014/main" id="{D52EE463-507D-0E89-A698-37B26D93221E}"/>
                </a:ext>
              </a:extLst>
            </p:cNvPr>
            <p:cNvSpPr/>
            <p:nvPr userDrawn="1"/>
          </p:nvSpPr>
          <p:spPr>
            <a:xfrm>
              <a:off x="10672317" y="5994129"/>
              <a:ext cx="388620" cy="482600"/>
            </a:xfrm>
            <a:custGeom>
              <a:avLst/>
              <a:gdLst/>
              <a:ahLst/>
              <a:cxnLst/>
              <a:rect l="l" t="t" r="r" b="b"/>
              <a:pathLst>
                <a:path w="388619" h="482600">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p:spPr>
          <p:txBody>
            <a:bodyPr wrap="square" lIns="0" tIns="0" rIns="0" bIns="0" rtlCol="0"/>
            <a:lstStyle/>
            <a:p>
              <a:endParaRPr/>
            </a:p>
          </p:txBody>
        </p:sp>
        <p:grpSp>
          <p:nvGrpSpPr>
            <p:cNvPr id="16" name="object 4">
              <a:extLst>
                <a:ext uri="{FF2B5EF4-FFF2-40B4-BE49-F238E27FC236}">
                  <a16:creationId xmlns:a16="http://schemas.microsoft.com/office/drawing/2014/main" id="{6C83F359-2517-926A-B7D0-D64B0F83FC19}"/>
                </a:ext>
              </a:extLst>
            </p:cNvPr>
            <p:cNvGrpSpPr/>
            <p:nvPr userDrawn="1"/>
          </p:nvGrpSpPr>
          <p:grpSpPr>
            <a:xfrm>
              <a:off x="11114331" y="5879067"/>
              <a:ext cx="445770" cy="598170"/>
              <a:chOff x="18406074" y="10234089"/>
              <a:chExt cx="445770" cy="598170"/>
            </a:xfrm>
          </p:grpSpPr>
          <p:sp>
            <p:nvSpPr>
              <p:cNvPr id="18" name="object 5">
                <a:extLst>
                  <a:ext uri="{FF2B5EF4-FFF2-40B4-BE49-F238E27FC236}">
                    <a16:creationId xmlns:a16="http://schemas.microsoft.com/office/drawing/2014/main" id="{21FEE031-C875-38D1-5382-9E6E11778AA5}"/>
                  </a:ext>
                </a:extLst>
              </p:cNvPr>
              <p:cNvSpPr/>
              <p:nvPr/>
            </p:nvSpPr>
            <p:spPr>
              <a:xfrm>
                <a:off x="18406074" y="10341395"/>
                <a:ext cx="376555" cy="490855"/>
              </a:xfrm>
              <a:custGeom>
                <a:avLst/>
                <a:gdLst/>
                <a:ahLst/>
                <a:cxnLst/>
                <a:rect l="l" t="t" r="r" b="b"/>
                <a:pathLst>
                  <a:path w="376555" h="490854">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p:spPr>
            <p:txBody>
              <a:bodyPr wrap="square" lIns="0" tIns="0" rIns="0" bIns="0" rtlCol="0"/>
              <a:lstStyle/>
              <a:p>
                <a:endParaRPr/>
              </a:p>
            </p:txBody>
          </p:sp>
          <p:pic>
            <p:nvPicPr>
              <p:cNvPr id="19" name="object 6">
                <a:extLst>
                  <a:ext uri="{FF2B5EF4-FFF2-40B4-BE49-F238E27FC236}">
                    <a16:creationId xmlns:a16="http://schemas.microsoft.com/office/drawing/2014/main" id="{08F0296E-9087-FDE0-9CBF-6E89FE8D4121}"/>
                  </a:ext>
                </a:extLst>
              </p:cNvPr>
              <p:cNvPicPr/>
              <p:nvPr/>
            </p:nvPicPr>
            <p:blipFill>
              <a:blip r:embed="rId2" cstate="email">
                <a:extLst>
                  <a:ext uri="{28A0092B-C50C-407E-A947-70E740481C1C}">
                    <a14:useLocalDpi xmlns:a14="http://schemas.microsoft.com/office/drawing/2010/main"/>
                  </a:ext>
                </a:extLst>
              </a:blip>
              <a:stretch>
                <a:fillRect/>
              </a:stretch>
            </p:blipFill>
            <p:spPr>
              <a:xfrm>
                <a:off x="18739823" y="10234089"/>
                <a:ext cx="111954" cy="111944"/>
              </a:xfrm>
              <a:prstGeom prst="rect">
                <a:avLst/>
              </a:prstGeom>
            </p:spPr>
          </p:pic>
        </p:grpSp>
      </p:grpSp>
      <p:pic>
        <p:nvPicPr>
          <p:cNvPr id="9" name="Imagen 8">
            <a:extLst>
              <a:ext uri="{FF2B5EF4-FFF2-40B4-BE49-F238E27FC236}">
                <a16:creationId xmlns:a16="http://schemas.microsoft.com/office/drawing/2014/main" id="{533ECC16-DB92-D7AB-25D1-63F1F6931CD4}"/>
              </a:ext>
            </a:extLst>
          </p:cNvPr>
          <p:cNvPicPr>
            <a:picLocks noChangeAspect="1"/>
          </p:cNvPicPr>
          <p:nvPr userDrawn="1"/>
        </p:nvPicPr>
        <p:blipFill>
          <a:blip r:embed="rId3"/>
          <a:stretch>
            <a:fillRect/>
          </a:stretch>
        </p:blipFill>
        <p:spPr>
          <a:xfrm>
            <a:off x="517592" y="2244940"/>
            <a:ext cx="119084" cy="4227489"/>
          </a:xfrm>
          <a:prstGeom prst="rect">
            <a:avLst/>
          </a:prstGeom>
        </p:spPr>
      </p:pic>
    </p:spTree>
    <p:extLst>
      <p:ext uri="{BB962C8B-B14F-4D97-AF65-F5344CB8AC3E}">
        <p14:creationId xmlns:p14="http://schemas.microsoft.com/office/powerpoint/2010/main" val="1232603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PA FINAL">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95D537A3-771A-B373-471B-2113C671CFBB}"/>
              </a:ext>
            </a:extLst>
          </p:cNvPr>
          <p:cNvSpPr/>
          <p:nvPr userDrawn="1"/>
        </p:nvSpPr>
        <p:spPr>
          <a:xfrm>
            <a:off x="0" y="1"/>
            <a:ext cx="12192000"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grpSp>
        <p:nvGrpSpPr>
          <p:cNvPr id="2" name="Grupo 1">
            <a:extLst>
              <a:ext uri="{FF2B5EF4-FFF2-40B4-BE49-F238E27FC236}">
                <a16:creationId xmlns:a16="http://schemas.microsoft.com/office/drawing/2014/main" id="{9F91E6D1-21AD-8149-634F-39874CDDB05F}"/>
              </a:ext>
            </a:extLst>
          </p:cNvPr>
          <p:cNvGrpSpPr/>
          <p:nvPr userDrawn="1"/>
        </p:nvGrpSpPr>
        <p:grpSpPr>
          <a:xfrm>
            <a:off x="2569595" y="5445627"/>
            <a:ext cx="7052811" cy="563479"/>
            <a:chOff x="1569453" y="5445627"/>
            <a:chExt cx="7052811" cy="563479"/>
          </a:xfrm>
        </p:grpSpPr>
        <p:pic>
          <p:nvPicPr>
            <p:cNvPr id="3" name="Imagen 2">
              <a:extLst>
                <a:ext uri="{FF2B5EF4-FFF2-40B4-BE49-F238E27FC236}">
                  <a16:creationId xmlns:a16="http://schemas.microsoft.com/office/drawing/2014/main" id="{5C7F6159-27FC-D37D-6948-67F8EE366ACB}"/>
                </a:ext>
              </a:extLst>
            </p:cNvPr>
            <p:cNvPicPr>
              <a:picLocks noChangeAspect="1"/>
            </p:cNvPicPr>
            <p:nvPr userDrawn="1"/>
          </p:nvPicPr>
          <p:blipFill>
            <a:blip r:embed="rId2"/>
            <a:stretch>
              <a:fillRect/>
            </a:stretch>
          </p:blipFill>
          <p:spPr>
            <a:xfrm>
              <a:off x="3569736" y="5445627"/>
              <a:ext cx="5052528" cy="563479"/>
            </a:xfrm>
            <a:prstGeom prst="rect">
              <a:avLst/>
            </a:prstGeom>
          </p:spPr>
        </p:pic>
        <p:pic>
          <p:nvPicPr>
            <p:cNvPr id="4" name="Imagen 3">
              <a:extLst>
                <a:ext uri="{FF2B5EF4-FFF2-40B4-BE49-F238E27FC236}">
                  <a16:creationId xmlns:a16="http://schemas.microsoft.com/office/drawing/2014/main" id="{3051E8F7-021B-497B-A676-8142240D8E84}"/>
                </a:ext>
              </a:extLst>
            </p:cNvPr>
            <p:cNvPicPr>
              <a:picLocks noChangeAspect="1"/>
            </p:cNvPicPr>
            <p:nvPr userDrawn="1"/>
          </p:nvPicPr>
          <p:blipFill>
            <a:blip r:embed="rId3"/>
            <a:stretch>
              <a:fillRect/>
            </a:stretch>
          </p:blipFill>
          <p:spPr>
            <a:xfrm>
              <a:off x="1569453" y="5505450"/>
              <a:ext cx="1331493" cy="443831"/>
            </a:xfrm>
            <a:prstGeom prst="rect">
              <a:avLst/>
            </a:prstGeom>
          </p:spPr>
        </p:pic>
      </p:grpSp>
      <p:pic>
        <p:nvPicPr>
          <p:cNvPr id="5" name="Imagen 4">
            <a:extLst>
              <a:ext uri="{FF2B5EF4-FFF2-40B4-BE49-F238E27FC236}">
                <a16:creationId xmlns:a16="http://schemas.microsoft.com/office/drawing/2014/main" id="{BA44E097-D359-D78B-4054-E34A9D1A9706}"/>
              </a:ext>
            </a:extLst>
          </p:cNvPr>
          <p:cNvPicPr>
            <a:picLocks noChangeAspect="1"/>
          </p:cNvPicPr>
          <p:nvPr userDrawn="1"/>
        </p:nvPicPr>
        <p:blipFill>
          <a:blip r:embed="rId4"/>
          <a:stretch>
            <a:fillRect/>
          </a:stretch>
        </p:blipFill>
        <p:spPr>
          <a:xfrm>
            <a:off x="4097179" y="2291644"/>
            <a:ext cx="3997641" cy="1296903"/>
          </a:xfrm>
          <a:prstGeom prst="rect">
            <a:avLst/>
          </a:prstGeom>
        </p:spPr>
      </p:pic>
    </p:spTree>
    <p:extLst>
      <p:ext uri="{BB962C8B-B14F-4D97-AF65-F5344CB8AC3E}">
        <p14:creationId xmlns:p14="http://schemas.microsoft.com/office/powerpoint/2010/main" val="3491390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78C4651-2B5D-EA62-AC04-17BFDE1E2A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lang="es-CL"/>
          </a:p>
        </p:txBody>
      </p:sp>
      <p:sp>
        <p:nvSpPr>
          <p:cNvPr id="3" name="Marcador de texto 2">
            <a:extLst>
              <a:ext uri="{FF2B5EF4-FFF2-40B4-BE49-F238E27FC236}">
                <a16:creationId xmlns:a16="http://schemas.microsoft.com/office/drawing/2014/main" id="{B594B6F9-D351-5B1B-2766-68737957A6F8}"/>
              </a:ext>
            </a:extLst>
          </p:cNvPr>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4" name="Marcador de fecha 3">
            <a:extLst>
              <a:ext uri="{FF2B5EF4-FFF2-40B4-BE49-F238E27FC236}">
                <a16:creationId xmlns:a16="http://schemas.microsoft.com/office/drawing/2014/main" id="{22B60EAB-2F87-323A-DB12-7A3211AAE1BB}"/>
              </a:ext>
            </a:extLst>
          </p:cNvPr>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04031C-1D81-E945-A028-78780D1B7DE5}" type="datetimeFigureOut">
              <a:rPr lang="es-CL" smtClean="0"/>
              <a:t>10-01-2026</a:t>
            </a:fld>
            <a:endParaRPr lang="es-CL"/>
          </a:p>
        </p:txBody>
      </p:sp>
      <p:sp>
        <p:nvSpPr>
          <p:cNvPr id="5" name="Marcador de pie de página 4">
            <a:extLst>
              <a:ext uri="{FF2B5EF4-FFF2-40B4-BE49-F238E27FC236}">
                <a16:creationId xmlns:a16="http://schemas.microsoft.com/office/drawing/2014/main" id="{F31700A7-BE34-6E4B-B14E-9AFE52C9C7A7}"/>
              </a:ext>
            </a:extLst>
          </p:cNvPr>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349A16B8-55E4-4139-4DE1-4DF901B444BC}"/>
              </a:ext>
            </a:extLst>
          </p:cNvPr>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BEC0DC-B55F-A543-ADED-336BFEE3FCEB}" type="slidenum">
              <a:rPr lang="es-CL" smtClean="0"/>
              <a:t>‹Nº›</a:t>
            </a:fld>
            <a:endParaRPr lang="es-CL"/>
          </a:p>
        </p:txBody>
      </p:sp>
    </p:spTree>
    <p:extLst>
      <p:ext uri="{BB962C8B-B14F-4D97-AF65-F5344CB8AC3E}">
        <p14:creationId xmlns:p14="http://schemas.microsoft.com/office/powerpoint/2010/main" val="1693028746"/>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56" r:id="rId3"/>
    <p:sldLayoutId id="2147483657" r:id="rId4"/>
    <p:sldLayoutId id="2147483655" r:id="rId5"/>
    <p:sldLayoutId id="2147483650" r:id="rId6"/>
    <p:sldLayoutId id="2147483651" r:id="rId7"/>
    <p:sldLayoutId id="2147483653" r:id="rId8"/>
    <p:sldLayoutId id="2147483652" r:id="rId9"/>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22.gif"/></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24.gi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31.jpe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hyperlink" Target="https://www.postman.com/" TargetMode="External"/><Relationship Id="rId2" Type="http://schemas.openxmlformats.org/officeDocument/2006/relationships/notesSlide" Target="../notesSlides/notesSlide33.xml"/><Relationship Id="rId1" Type="http://schemas.openxmlformats.org/officeDocument/2006/relationships/slideLayout" Target="../slideLayouts/slideLayout6.xml"/><Relationship Id="rId6" Type="http://schemas.openxmlformats.org/officeDocument/2006/relationships/image" Target="../media/image39.png"/><Relationship Id="rId5" Type="http://schemas.openxmlformats.org/officeDocument/2006/relationships/image" Target="../media/image38.jpeg"/><Relationship Id="rId4" Type="http://schemas.openxmlformats.org/officeDocument/2006/relationships/hyperlink" Target="https://roadmap.sh/"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6.xml"/><Relationship Id="rId5" Type="http://schemas.openxmlformats.org/officeDocument/2006/relationships/image" Target="../media/image42.png"/><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44.png"/></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47.png"/></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microsoft.com/office/2007/relationships/hdphoto" Target="../media/hdphoto2.wdp"/></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DDA3FC-36B2-5E48-53A8-51083BBEE302}"/>
              </a:ext>
            </a:extLst>
          </p:cNvPr>
          <p:cNvSpPr>
            <a:spLocks noGrp="1"/>
          </p:cNvSpPr>
          <p:nvPr>
            <p:ph type="title"/>
          </p:nvPr>
        </p:nvSpPr>
        <p:spPr>
          <a:xfrm>
            <a:off x="6915809" y="2403082"/>
            <a:ext cx="4377817" cy="1306054"/>
          </a:xfrm>
        </p:spPr>
        <p:txBody>
          <a:bodyPr>
            <a:noAutofit/>
          </a:bodyPr>
          <a:lstStyle/>
          <a:p>
            <a:r>
              <a:rPr lang="es-CL" sz="3600" dirty="0">
                <a:latin typeface="Arial"/>
                <a:cs typeface="Arial"/>
              </a:rPr>
              <a:t>Fundamentos de HTTP y REST: Conceptos y Buenas Prácticas</a:t>
            </a:r>
            <a:endParaRPr lang="es-ES" dirty="0"/>
          </a:p>
        </p:txBody>
      </p:sp>
      <p:sp>
        <p:nvSpPr>
          <p:cNvPr id="3" name="Subtítulo 2">
            <a:extLst>
              <a:ext uri="{FF2B5EF4-FFF2-40B4-BE49-F238E27FC236}">
                <a16:creationId xmlns:a16="http://schemas.microsoft.com/office/drawing/2014/main" id="{74C79772-4F2B-0631-AEB4-ED8B13764062}"/>
              </a:ext>
            </a:extLst>
          </p:cNvPr>
          <p:cNvSpPr>
            <a:spLocks noGrp="1"/>
          </p:cNvSpPr>
          <p:nvPr>
            <p:ph type="subTitle" idx="4"/>
          </p:nvPr>
        </p:nvSpPr>
        <p:spPr>
          <a:xfrm>
            <a:off x="6937285" y="4305507"/>
            <a:ext cx="4356341" cy="793038"/>
          </a:xfrm>
        </p:spPr>
        <p:txBody>
          <a:bodyPr/>
          <a:lstStyle/>
          <a:p>
            <a:pPr marL="0" indent="0">
              <a:buNone/>
            </a:pPr>
            <a:r>
              <a:rPr lang="es-CL" dirty="0"/>
              <a:t>DESARROLLO FULLSTACK I</a:t>
            </a:r>
          </a:p>
          <a:p>
            <a:pPr marL="0" indent="0">
              <a:buNone/>
            </a:pPr>
            <a:r>
              <a:rPr lang="es-CL" dirty="0"/>
              <a:t>DSY1103</a:t>
            </a:r>
          </a:p>
        </p:txBody>
      </p:sp>
    </p:spTree>
    <p:extLst>
      <p:ext uri="{BB962C8B-B14F-4D97-AF65-F5344CB8AC3E}">
        <p14:creationId xmlns:p14="http://schemas.microsoft.com/office/powerpoint/2010/main" val="130920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79F3AAA-7882-FEFA-02FB-56281C060891}"/>
              </a:ext>
            </a:extLst>
          </p:cNvPr>
          <p:cNvSpPr>
            <a:spLocks noGrp="1"/>
          </p:cNvSpPr>
          <p:nvPr>
            <p:ph type="body" sz="quarter" idx="13"/>
          </p:nvPr>
        </p:nvSpPr>
        <p:spPr/>
        <p:txBody>
          <a:bodyPr/>
          <a:lstStyle/>
          <a:p>
            <a:r>
              <a:rPr lang="es-CL" dirty="0"/>
              <a:t>En el capítulo anterior…</a:t>
            </a:r>
          </a:p>
        </p:txBody>
      </p:sp>
      <p:sp>
        <p:nvSpPr>
          <p:cNvPr id="3" name="Marcador de texto 2">
            <a:extLst>
              <a:ext uri="{FF2B5EF4-FFF2-40B4-BE49-F238E27FC236}">
                <a16:creationId xmlns:a16="http://schemas.microsoft.com/office/drawing/2014/main" id="{03BE4A19-EC06-E8B9-0D12-A12344484410}"/>
              </a:ext>
            </a:extLst>
          </p:cNvPr>
          <p:cNvSpPr>
            <a:spLocks noGrp="1"/>
          </p:cNvSpPr>
          <p:nvPr>
            <p:ph type="body" sz="quarter" idx="14"/>
          </p:nvPr>
        </p:nvSpPr>
        <p:spPr>
          <a:xfrm>
            <a:off x="3936380" y="976146"/>
            <a:ext cx="7505219" cy="339698"/>
          </a:xfrm>
        </p:spPr>
        <p:txBody>
          <a:bodyPr>
            <a:noAutofit/>
          </a:bodyPr>
          <a:lstStyle/>
          <a:p>
            <a:pPr defTabSz="914400" eaLnBrk="0" fontAlgn="base" hangingPunct="0">
              <a:lnSpc>
                <a:spcPct val="150000"/>
              </a:lnSpc>
              <a:spcBef>
                <a:spcPct val="0"/>
              </a:spcBef>
              <a:spcAft>
                <a:spcPct val="0"/>
              </a:spcAft>
            </a:pPr>
            <a:r>
              <a:rPr lang="es-ES" sz="1800" dirty="0"/>
              <a:t>¿Qué diferencia hay entre Framework y Biblioteca?</a:t>
            </a:r>
          </a:p>
        </p:txBody>
      </p:sp>
      <p:grpSp>
        <p:nvGrpSpPr>
          <p:cNvPr id="17" name="Grupo 16">
            <a:extLst>
              <a:ext uri="{FF2B5EF4-FFF2-40B4-BE49-F238E27FC236}">
                <a16:creationId xmlns:a16="http://schemas.microsoft.com/office/drawing/2014/main" id="{532A37D7-DE30-A9B8-8252-70E888A20F52}"/>
              </a:ext>
            </a:extLst>
          </p:cNvPr>
          <p:cNvGrpSpPr/>
          <p:nvPr/>
        </p:nvGrpSpPr>
        <p:grpSpPr>
          <a:xfrm>
            <a:off x="3480236" y="2290405"/>
            <a:ext cx="7829209" cy="3009168"/>
            <a:chOff x="3480236" y="2290405"/>
            <a:chExt cx="7829209" cy="3009168"/>
          </a:xfrm>
        </p:grpSpPr>
        <p:pic>
          <p:nvPicPr>
            <p:cNvPr id="4" name="Imagen 3" descr="Icono&#10;&#10;Descripción generada automáticamente">
              <a:extLst>
                <a:ext uri="{FF2B5EF4-FFF2-40B4-BE49-F238E27FC236}">
                  <a16:creationId xmlns:a16="http://schemas.microsoft.com/office/drawing/2014/main" id="{3656F5DD-1E8F-AE62-0A35-E76D745B80AA}"/>
                </a:ext>
              </a:extLst>
            </p:cNvPr>
            <p:cNvPicPr>
              <a:picLocks noChangeAspect="1"/>
            </p:cNvPicPr>
            <p:nvPr/>
          </p:nvPicPr>
          <p:blipFill>
            <a:blip r:embed="rId2"/>
            <a:stretch>
              <a:fillRect/>
            </a:stretch>
          </p:blipFill>
          <p:spPr>
            <a:xfrm>
              <a:off x="8311268" y="2290405"/>
              <a:ext cx="2998177" cy="3009168"/>
            </a:xfrm>
            <a:prstGeom prst="rect">
              <a:avLst/>
            </a:prstGeom>
            <a:ln w="38100" cap="sq">
              <a:solidFill>
                <a:schemeClr val="bg1"/>
              </a:solidFill>
              <a:prstDash val="solid"/>
              <a:miter lim="800000"/>
            </a:ln>
            <a:effectLst>
              <a:outerShdw blurRad="50800" dist="38100" dir="2700000" algn="tl" rotWithShape="0">
                <a:srgbClr val="000000">
                  <a:alpha val="43000"/>
                </a:srgbClr>
              </a:outerShdw>
            </a:effectLst>
          </p:spPr>
        </p:pic>
        <p:sp>
          <p:nvSpPr>
            <p:cNvPr id="6" name="Rectángulo: esquinas redondeadas 5">
              <a:extLst>
                <a:ext uri="{FF2B5EF4-FFF2-40B4-BE49-F238E27FC236}">
                  <a16:creationId xmlns:a16="http://schemas.microsoft.com/office/drawing/2014/main" id="{C49DBA80-E80C-A847-5598-F23DE97E68D4}"/>
                </a:ext>
              </a:extLst>
            </p:cNvPr>
            <p:cNvSpPr/>
            <p:nvPr/>
          </p:nvSpPr>
          <p:spPr>
            <a:xfrm>
              <a:off x="3480239" y="2698653"/>
              <a:ext cx="1730828" cy="761999"/>
            </a:xfrm>
            <a:prstGeom prst="roundRect">
              <a:avLst/>
            </a:prstGeom>
          </p:spPr>
          <p:style>
            <a:lnRef idx="0">
              <a:schemeClr val="accent2"/>
            </a:lnRef>
            <a:fillRef idx="3">
              <a:schemeClr val="accent2"/>
            </a:fillRef>
            <a:effectRef idx="3">
              <a:schemeClr val="accent2"/>
            </a:effectRef>
            <a:fontRef idx="minor">
              <a:schemeClr val="lt1"/>
            </a:fontRef>
          </p:style>
          <p:txBody>
            <a:bodyPr lIns="91440" tIns="45720" rIns="91440" bIns="45720" rtlCol="0" anchor="ctr"/>
            <a:lstStyle/>
            <a:p>
              <a:pPr algn="ctr"/>
              <a:r>
                <a:rPr lang="es-ES" sz="1600" b="1">
                  <a:latin typeface="Montserrat"/>
                </a:rPr>
                <a:t>Herramientas</a:t>
              </a:r>
              <a:endParaRPr lang="es-ES" b="1"/>
            </a:p>
          </p:txBody>
        </p:sp>
        <p:sp>
          <p:nvSpPr>
            <p:cNvPr id="12" name="Rectángulo: esquinas redondeadas 11">
              <a:extLst>
                <a:ext uri="{FF2B5EF4-FFF2-40B4-BE49-F238E27FC236}">
                  <a16:creationId xmlns:a16="http://schemas.microsoft.com/office/drawing/2014/main" id="{CAD88FA6-7E2B-47A5-E429-B052891A99AF}"/>
                </a:ext>
              </a:extLst>
            </p:cNvPr>
            <p:cNvSpPr/>
            <p:nvPr/>
          </p:nvSpPr>
          <p:spPr>
            <a:xfrm>
              <a:off x="3480237" y="3577882"/>
              <a:ext cx="1730828" cy="761999"/>
            </a:xfrm>
            <a:prstGeom prst="roundRect">
              <a:avLst/>
            </a:prstGeom>
          </p:spPr>
          <p:style>
            <a:lnRef idx="0">
              <a:schemeClr val="accent4"/>
            </a:lnRef>
            <a:fillRef idx="3">
              <a:schemeClr val="accent4"/>
            </a:fillRef>
            <a:effectRef idx="3">
              <a:schemeClr val="accent4"/>
            </a:effectRef>
            <a:fontRef idx="minor">
              <a:schemeClr val="lt1"/>
            </a:fontRef>
          </p:style>
          <p:txBody>
            <a:bodyPr lIns="91440" tIns="45720" rIns="91440" bIns="45720" rtlCol="0" anchor="ctr"/>
            <a:lstStyle/>
            <a:p>
              <a:pPr algn="ctr"/>
              <a:r>
                <a:rPr lang="es-ES" sz="1600" b="1">
                  <a:latin typeface="Montserrat"/>
                </a:rPr>
                <a:t>Bibliotecas</a:t>
              </a:r>
              <a:endParaRPr lang="es-ES"/>
            </a:p>
          </p:txBody>
        </p:sp>
        <p:sp>
          <p:nvSpPr>
            <p:cNvPr id="13" name="Rectángulo: esquinas redondeadas 12">
              <a:extLst>
                <a:ext uri="{FF2B5EF4-FFF2-40B4-BE49-F238E27FC236}">
                  <a16:creationId xmlns:a16="http://schemas.microsoft.com/office/drawing/2014/main" id="{7AB113BD-63F7-66A9-90ED-6E90FC23A348}"/>
                </a:ext>
              </a:extLst>
            </p:cNvPr>
            <p:cNvSpPr/>
            <p:nvPr/>
          </p:nvSpPr>
          <p:spPr>
            <a:xfrm>
              <a:off x="3480236" y="4457112"/>
              <a:ext cx="1730828" cy="761999"/>
            </a:xfrm>
            <a:prstGeom prst="roundRect">
              <a:avLst/>
            </a:prstGeom>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p>
              <a:pPr algn="ctr"/>
              <a:r>
                <a:rPr lang="es-ES" sz="1600" b="1">
                  <a:latin typeface="Montserrat"/>
                </a:rPr>
                <a:t>Mejores </a:t>
              </a:r>
              <a:endParaRPr lang="es-ES" b="1">
                <a:latin typeface="Aptos" panose="02110004020202020204"/>
              </a:endParaRPr>
            </a:p>
            <a:p>
              <a:pPr algn="ctr"/>
              <a:r>
                <a:rPr lang="es-ES" sz="1600" b="1">
                  <a:latin typeface="Montserrat"/>
                </a:rPr>
                <a:t>prácticas</a:t>
              </a:r>
              <a:endParaRPr lang="es-ES" b="1"/>
            </a:p>
          </p:txBody>
        </p:sp>
        <p:cxnSp>
          <p:nvCxnSpPr>
            <p:cNvPr id="14" name="Conector recto de flecha 13">
              <a:extLst>
                <a:ext uri="{FF2B5EF4-FFF2-40B4-BE49-F238E27FC236}">
                  <a16:creationId xmlns:a16="http://schemas.microsoft.com/office/drawing/2014/main" id="{2DB3E067-29BA-FAA6-4F70-4B46DEEBA7D1}"/>
                </a:ext>
              </a:extLst>
            </p:cNvPr>
            <p:cNvCxnSpPr/>
            <p:nvPr/>
          </p:nvCxnSpPr>
          <p:spPr>
            <a:xfrm flipV="1">
              <a:off x="5213369" y="3993045"/>
              <a:ext cx="3301587" cy="8878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Conector recto de flecha 14">
              <a:extLst>
                <a:ext uri="{FF2B5EF4-FFF2-40B4-BE49-F238E27FC236}">
                  <a16:creationId xmlns:a16="http://schemas.microsoft.com/office/drawing/2014/main" id="{B4BA5DCA-0D1C-CA6F-E117-BFA32901685E}"/>
                </a:ext>
              </a:extLst>
            </p:cNvPr>
            <p:cNvCxnSpPr>
              <a:cxnSpLocks/>
            </p:cNvCxnSpPr>
            <p:nvPr/>
          </p:nvCxnSpPr>
          <p:spPr>
            <a:xfrm flipV="1">
              <a:off x="5209049" y="3841262"/>
              <a:ext cx="3309609" cy="1326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Conector recto de flecha 15">
              <a:extLst>
                <a:ext uri="{FF2B5EF4-FFF2-40B4-BE49-F238E27FC236}">
                  <a16:creationId xmlns:a16="http://schemas.microsoft.com/office/drawing/2014/main" id="{4F1BE48C-8516-D347-B382-6F566C64BBD3}"/>
                </a:ext>
              </a:extLst>
            </p:cNvPr>
            <p:cNvCxnSpPr>
              <a:cxnSpLocks/>
            </p:cNvCxnSpPr>
            <p:nvPr/>
          </p:nvCxnSpPr>
          <p:spPr>
            <a:xfrm>
              <a:off x="5213368" y="3044093"/>
              <a:ext cx="3301588" cy="64415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38450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p:txBody>
          <a:bodyPr/>
          <a:lstStyle/>
          <a:p>
            <a:r>
              <a:rPr lang="es-CL"/>
              <a:t>Contenidos</a:t>
            </a:r>
          </a:p>
        </p:txBody>
      </p:sp>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54685" y="1139720"/>
            <a:ext cx="11270093" cy="4806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7965" indent="-227965" defTabSz="914400">
              <a:lnSpc>
                <a:spcPct val="150000"/>
              </a:lnSpc>
            </a:pPr>
            <a:r>
              <a:rPr lang="es-CL" sz="1800" dirty="0">
                <a:latin typeface="Arial"/>
                <a:cs typeface="Arial"/>
              </a:rPr>
              <a:t>¿Qué es la Web y cómo funciona?.</a:t>
            </a:r>
            <a:endParaRPr lang="es-CL" sz="1800" dirty="0"/>
          </a:p>
          <a:p>
            <a:pPr marL="227965" indent="-227965" defTabSz="914400">
              <a:lnSpc>
                <a:spcPct val="150000"/>
              </a:lnSpc>
            </a:pPr>
            <a:r>
              <a:rPr lang="es-CL" sz="1800" dirty="0">
                <a:latin typeface="Arial"/>
                <a:cs typeface="Arial"/>
              </a:rPr>
              <a:t>Conceptos de HTTP.</a:t>
            </a:r>
            <a:endParaRPr lang="es-CL" sz="1800" dirty="0"/>
          </a:p>
          <a:p>
            <a:pPr marL="227965" indent="-227965" defTabSz="914400">
              <a:lnSpc>
                <a:spcPct val="150000"/>
              </a:lnSpc>
            </a:pPr>
            <a:r>
              <a:rPr lang="es-CL" sz="1800" dirty="0">
                <a:latin typeface="Arial"/>
                <a:cs typeface="Arial"/>
              </a:rPr>
              <a:t>Métodos y Respuestas de HTTP.</a:t>
            </a:r>
            <a:endParaRPr lang="es-CL" sz="1800" dirty="0"/>
          </a:p>
          <a:p>
            <a:pPr marL="227965" indent="-227965" defTabSz="914400">
              <a:lnSpc>
                <a:spcPct val="150000"/>
              </a:lnSpc>
            </a:pPr>
            <a:r>
              <a:rPr lang="es-CL" sz="1800" dirty="0">
                <a:latin typeface="Arial"/>
                <a:cs typeface="Arial"/>
              </a:rPr>
              <a:t>REST.</a:t>
            </a:r>
            <a:endParaRPr lang="es-CL" sz="1800" dirty="0"/>
          </a:p>
          <a:p>
            <a:pPr marL="227965" indent="-227965" defTabSz="914400">
              <a:lnSpc>
                <a:spcPct val="150000"/>
              </a:lnSpc>
            </a:pPr>
            <a:r>
              <a:rPr lang="es-CL" sz="1800" dirty="0">
                <a:latin typeface="Arial"/>
                <a:cs typeface="Arial"/>
              </a:rPr>
              <a:t>¿Qué son las </a:t>
            </a:r>
            <a:r>
              <a:rPr lang="es-CL" sz="1800" dirty="0" err="1">
                <a:latin typeface="Arial"/>
                <a:cs typeface="Arial"/>
              </a:rPr>
              <a:t>APIs</a:t>
            </a:r>
            <a:r>
              <a:rPr lang="es-CL" sz="1800" dirty="0">
                <a:latin typeface="Arial"/>
                <a:cs typeface="Arial"/>
              </a:rPr>
              <a:t>?.</a:t>
            </a:r>
            <a:endParaRPr lang="es-CL" sz="1800" dirty="0"/>
          </a:p>
          <a:p>
            <a:pPr marL="227965" indent="-227965" defTabSz="914400">
              <a:lnSpc>
                <a:spcPct val="150000"/>
              </a:lnSpc>
            </a:pPr>
            <a:r>
              <a:rPr lang="es-CL" sz="1800" dirty="0">
                <a:latin typeface="Arial"/>
                <a:cs typeface="Arial"/>
              </a:rPr>
              <a:t>Buenas prácticas en </a:t>
            </a:r>
            <a:r>
              <a:rPr lang="es-CL" sz="1800" dirty="0" err="1">
                <a:latin typeface="Arial"/>
                <a:cs typeface="Arial"/>
              </a:rPr>
              <a:t>APIs</a:t>
            </a:r>
            <a:r>
              <a:rPr lang="es-CL" sz="1800" dirty="0">
                <a:latin typeface="Arial"/>
                <a:cs typeface="Arial"/>
              </a:rPr>
              <a:t> REST.</a:t>
            </a:r>
          </a:p>
          <a:p>
            <a:pPr marL="227965" indent="-227965" defTabSz="914400">
              <a:lnSpc>
                <a:spcPct val="150000"/>
              </a:lnSpc>
            </a:pPr>
            <a:r>
              <a:rPr lang="es-CL" sz="1800" dirty="0">
                <a:latin typeface="Arial"/>
                <a:cs typeface="Arial"/>
              </a:rPr>
              <a:t>POSTMAN.</a:t>
            </a:r>
            <a:endParaRPr lang="es-CL" sz="1800" dirty="0"/>
          </a:p>
          <a:p>
            <a:pPr marL="227965" indent="-227965" defTabSz="914400">
              <a:lnSpc>
                <a:spcPct val="150000"/>
              </a:lnSpc>
            </a:pPr>
            <a:r>
              <a:rPr lang="es-CL" sz="1800" dirty="0">
                <a:latin typeface="Arial"/>
                <a:cs typeface="Arial"/>
              </a:rPr>
              <a:t>Sintaxis Básica Spring </a:t>
            </a:r>
            <a:r>
              <a:rPr lang="es-CL" sz="1800" dirty="0" err="1">
                <a:latin typeface="Arial"/>
                <a:cs typeface="Arial"/>
              </a:rPr>
              <a:t>Boot</a:t>
            </a:r>
            <a:r>
              <a:rPr lang="es-CL" sz="1800" dirty="0">
                <a:latin typeface="Arial"/>
                <a:cs typeface="Arial"/>
              </a:rPr>
              <a:t>.</a:t>
            </a:r>
          </a:p>
          <a:p>
            <a:pPr marL="227965" indent="-227965" defTabSz="914400">
              <a:lnSpc>
                <a:spcPct val="150000"/>
              </a:lnSpc>
            </a:pPr>
            <a:r>
              <a:rPr lang="es-CL" altLang="es-CL" sz="1800" dirty="0">
                <a:latin typeface="Arial"/>
                <a:cs typeface="Arial"/>
              </a:rPr>
              <a:t>Actividad.</a:t>
            </a:r>
            <a:endParaRPr lang="es-CL" sz="1800" dirty="0">
              <a:latin typeface="Arial"/>
              <a:cs typeface="Arial"/>
            </a:endParaRPr>
          </a:p>
        </p:txBody>
      </p:sp>
    </p:spTree>
    <p:extLst>
      <p:ext uri="{BB962C8B-B14F-4D97-AF65-F5344CB8AC3E}">
        <p14:creationId xmlns:p14="http://schemas.microsoft.com/office/powerpoint/2010/main" val="317106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976365" y="2601817"/>
            <a:ext cx="10239270" cy="1131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defTabSz="914400">
              <a:lnSpc>
                <a:spcPct val="150000"/>
              </a:lnSpc>
              <a:spcBef>
                <a:spcPct val="0"/>
              </a:spcBef>
              <a:spcAft>
                <a:spcPct val="0"/>
              </a:spcAft>
              <a:buNone/>
            </a:pPr>
            <a:r>
              <a:rPr lang="es-ES" sz="2400" i="1" dirty="0" smtClean="0">
                <a:solidFill>
                  <a:srgbClr val="000000"/>
                </a:solidFill>
                <a:highlight>
                  <a:srgbClr val="FFFFFF"/>
                </a:highlight>
                <a:latin typeface="Arial"/>
                <a:cs typeface="Arial"/>
              </a:rPr>
              <a:t>“La </a:t>
            </a:r>
            <a:r>
              <a:rPr lang="es-ES" sz="2400" i="1" dirty="0">
                <a:solidFill>
                  <a:srgbClr val="000000"/>
                </a:solidFill>
                <a:highlight>
                  <a:srgbClr val="FFFFFF"/>
                </a:highlight>
                <a:latin typeface="Arial"/>
                <a:cs typeface="Arial"/>
              </a:rPr>
              <a:t>tecnología </a:t>
            </a:r>
            <a:r>
              <a:rPr lang="es-ES" sz="2400" b="1" i="1" dirty="0">
                <a:solidFill>
                  <a:srgbClr val="4E7CDD"/>
                </a:solidFill>
                <a:highlight>
                  <a:srgbClr val="FFFFFF"/>
                </a:highlight>
                <a:latin typeface="Arial"/>
                <a:cs typeface="Arial"/>
              </a:rPr>
              <a:t>no es una cosa</a:t>
            </a:r>
            <a:r>
              <a:rPr lang="es-ES" sz="2400" i="1" dirty="0">
                <a:solidFill>
                  <a:srgbClr val="000000"/>
                </a:solidFill>
                <a:highlight>
                  <a:srgbClr val="FFFFFF"/>
                </a:highlight>
                <a:latin typeface="Arial"/>
                <a:cs typeface="Arial"/>
              </a:rPr>
              <a:t>, es una forma </a:t>
            </a:r>
            <a:r>
              <a:rPr lang="es-ES" sz="2400" b="0" i="1" dirty="0">
                <a:solidFill>
                  <a:srgbClr val="000000"/>
                </a:solidFill>
                <a:effectLst/>
                <a:highlight>
                  <a:srgbClr val="FFFFFF"/>
                </a:highlight>
                <a:latin typeface="Arial"/>
                <a:cs typeface="Arial"/>
              </a:rPr>
              <a:t>de </a:t>
            </a:r>
            <a:r>
              <a:rPr lang="es-ES" sz="2400" b="1" i="1" dirty="0">
                <a:solidFill>
                  <a:srgbClr val="4E7CDD"/>
                </a:solidFill>
                <a:effectLst/>
                <a:highlight>
                  <a:srgbClr val="FFFFFF"/>
                </a:highlight>
                <a:latin typeface="Arial"/>
                <a:cs typeface="Arial"/>
              </a:rPr>
              <a:t>hacer</a:t>
            </a:r>
            <a:r>
              <a:rPr lang="es-ES" sz="2400" b="1" i="1" dirty="0">
                <a:solidFill>
                  <a:srgbClr val="4E7CDD"/>
                </a:solidFill>
                <a:highlight>
                  <a:srgbClr val="FFFFFF"/>
                </a:highlight>
                <a:latin typeface="Arial"/>
                <a:cs typeface="Arial"/>
              </a:rPr>
              <a:t> </a:t>
            </a:r>
            <a:r>
              <a:rPr lang="es-ES" sz="2400" b="1" i="1" dirty="0" smtClean="0">
                <a:solidFill>
                  <a:srgbClr val="4E7CDD"/>
                </a:solidFill>
                <a:highlight>
                  <a:srgbClr val="FFFFFF"/>
                </a:highlight>
                <a:latin typeface="Arial"/>
                <a:cs typeface="Arial"/>
              </a:rPr>
              <a:t>cosas</a:t>
            </a:r>
            <a:r>
              <a:rPr lang="es-ES" sz="2400" dirty="0" smtClean="0">
                <a:solidFill>
                  <a:srgbClr val="000000"/>
                </a:solidFill>
                <a:highlight>
                  <a:srgbClr val="FFFFFF"/>
                </a:highlight>
                <a:latin typeface="Arial"/>
                <a:cs typeface="Arial"/>
              </a:rPr>
              <a:t>”</a:t>
            </a:r>
            <a:endParaRPr lang="es-ES" sz="2400" b="0" dirty="0">
              <a:solidFill>
                <a:srgbClr val="000000"/>
              </a:solidFill>
              <a:effectLst/>
              <a:highlight>
                <a:srgbClr val="FFFFFF"/>
              </a:highlight>
              <a:latin typeface="Arial"/>
            </a:endParaRPr>
          </a:p>
          <a:p>
            <a:pPr marL="0" indent="0" algn="r" defTabSz="914400" eaLnBrk="0" fontAlgn="base" hangingPunct="0">
              <a:lnSpc>
                <a:spcPct val="150000"/>
              </a:lnSpc>
              <a:spcBef>
                <a:spcPct val="0"/>
              </a:spcBef>
              <a:spcAft>
                <a:spcPct val="0"/>
              </a:spcAft>
              <a:buNone/>
            </a:pPr>
            <a:r>
              <a:rPr lang="es-ES" sz="2400" b="0" dirty="0">
                <a:solidFill>
                  <a:srgbClr val="000000"/>
                </a:solidFill>
                <a:effectLst/>
                <a:highlight>
                  <a:srgbClr val="FFFFFF"/>
                </a:highlight>
                <a:latin typeface="Arial"/>
                <a:cs typeface="Arial"/>
              </a:rPr>
              <a:t>–</a:t>
            </a:r>
            <a:r>
              <a:rPr lang="es-ES" sz="2400" b="0" i="1" dirty="0">
                <a:solidFill>
                  <a:srgbClr val="000000"/>
                </a:solidFill>
                <a:effectLst/>
                <a:highlight>
                  <a:srgbClr val="FFFFFF"/>
                </a:highlight>
                <a:latin typeface="Arial"/>
                <a:cs typeface="Arial"/>
              </a:rPr>
              <a:t> </a:t>
            </a:r>
            <a:r>
              <a:rPr lang="es-ES" sz="2400" i="1" dirty="0">
                <a:solidFill>
                  <a:srgbClr val="000000"/>
                </a:solidFill>
                <a:highlight>
                  <a:srgbClr val="FFFFFF"/>
                </a:highlight>
                <a:latin typeface="Arial"/>
                <a:cs typeface="Arial"/>
              </a:rPr>
              <a:t>Tim </a:t>
            </a:r>
            <a:r>
              <a:rPr lang="es-ES" sz="2400" i="1" dirty="0" err="1">
                <a:solidFill>
                  <a:srgbClr val="000000"/>
                </a:solidFill>
                <a:highlight>
                  <a:srgbClr val="FFFFFF"/>
                </a:highlight>
                <a:latin typeface="Arial"/>
                <a:cs typeface="Arial"/>
              </a:rPr>
              <a:t>O’Reilly</a:t>
            </a:r>
            <a:r>
              <a:rPr lang="es-ES" sz="2400" i="1" dirty="0">
                <a:solidFill>
                  <a:srgbClr val="000000"/>
                </a:solidFill>
                <a:highlight>
                  <a:srgbClr val="FFFFFF"/>
                </a:highlight>
                <a:latin typeface="Arial"/>
                <a:cs typeface="Arial"/>
              </a:rPr>
              <a:t> </a:t>
            </a:r>
            <a:endParaRPr lang="es-ES" sz="2400" i="1" dirty="0">
              <a:solidFill>
                <a:srgbClr val="000000"/>
              </a:solidFill>
              <a:highlight>
                <a:srgbClr val="FFFFFF"/>
              </a:highlight>
            </a:endParaRPr>
          </a:p>
        </p:txBody>
      </p:sp>
    </p:spTree>
    <p:extLst>
      <p:ext uri="{BB962C8B-B14F-4D97-AF65-F5344CB8AC3E}">
        <p14:creationId xmlns:p14="http://schemas.microsoft.com/office/powerpoint/2010/main" val="3516637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FBB4C7-D01B-3BCB-C12A-831C92914206}"/>
              </a:ext>
            </a:extLst>
          </p:cNvPr>
          <p:cNvSpPr>
            <a:spLocks noGrp="1"/>
          </p:cNvSpPr>
          <p:nvPr>
            <p:ph type="title"/>
          </p:nvPr>
        </p:nvSpPr>
        <p:spPr>
          <a:xfrm>
            <a:off x="7878872" y="2752716"/>
            <a:ext cx="3807912" cy="1627331"/>
          </a:xfrm>
        </p:spPr>
        <p:txBody>
          <a:bodyPr>
            <a:normAutofit/>
          </a:bodyPr>
          <a:lstStyle/>
          <a:p>
            <a:r>
              <a:rPr lang="es-CL">
                <a:latin typeface="Arial"/>
                <a:cs typeface="Arial"/>
              </a:rPr>
              <a:t>Cómo funciona la Web</a:t>
            </a:r>
            <a:endParaRPr lang="es-CL"/>
          </a:p>
        </p:txBody>
      </p:sp>
    </p:spTree>
    <p:extLst>
      <p:ext uri="{BB962C8B-B14F-4D97-AF65-F5344CB8AC3E}">
        <p14:creationId xmlns:p14="http://schemas.microsoft.com/office/powerpoint/2010/main" val="2186185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54685" y="894325"/>
            <a:ext cx="11024171" cy="820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defTabSz="914400">
              <a:lnSpc>
                <a:spcPct val="150000"/>
              </a:lnSpc>
              <a:spcBef>
                <a:spcPct val="0"/>
              </a:spcBef>
              <a:spcAft>
                <a:spcPct val="0"/>
              </a:spcAft>
              <a:buNone/>
            </a:pPr>
            <a:r>
              <a:rPr lang="es-CL" sz="3600">
                <a:latin typeface="Arial"/>
                <a:cs typeface="Arial"/>
              </a:rPr>
              <a:t>¿Qué es la </a:t>
            </a:r>
            <a:r>
              <a:rPr lang="es-CL" sz="3600" b="1">
                <a:solidFill>
                  <a:srgbClr val="4E7CDD"/>
                </a:solidFill>
                <a:latin typeface="Arial"/>
                <a:cs typeface="Arial"/>
              </a:rPr>
              <a:t>Web</a:t>
            </a:r>
            <a:r>
              <a:rPr lang="es-CL" sz="3600">
                <a:latin typeface="Arial"/>
                <a:cs typeface="Arial"/>
              </a:rPr>
              <a:t>?</a:t>
            </a:r>
            <a:endParaRPr lang="es-ES" sz="3600"/>
          </a:p>
        </p:txBody>
      </p:sp>
      <p:pic>
        <p:nvPicPr>
          <p:cNvPr id="9" name="Imagen 8">
            <a:extLst>
              <a:ext uri="{FF2B5EF4-FFF2-40B4-BE49-F238E27FC236}">
                <a16:creationId xmlns:a16="http://schemas.microsoft.com/office/drawing/2014/main" id="{ACA42487-2D7C-F682-EE24-5558E36985AC}"/>
              </a:ext>
            </a:extLst>
          </p:cNvPr>
          <p:cNvPicPr>
            <a:picLocks noChangeAspect="1"/>
          </p:cNvPicPr>
          <p:nvPr/>
        </p:nvPicPr>
        <p:blipFill>
          <a:blip r:embed="rId3"/>
          <a:stretch>
            <a:fillRect/>
          </a:stretch>
        </p:blipFill>
        <p:spPr>
          <a:xfrm>
            <a:off x="3510881" y="1855705"/>
            <a:ext cx="5183606" cy="4122488"/>
          </a:xfrm>
          <a:prstGeom prst="rect">
            <a:avLst/>
          </a:prstGeom>
        </p:spPr>
      </p:pic>
    </p:spTree>
    <p:extLst>
      <p:ext uri="{BB962C8B-B14F-4D97-AF65-F5344CB8AC3E}">
        <p14:creationId xmlns:p14="http://schemas.microsoft.com/office/powerpoint/2010/main" val="1393853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p:txBody>
          <a:bodyPr vert="horz" lIns="91440" tIns="45720" rIns="91440" bIns="45720" rtlCol="0" anchor="t">
            <a:noAutofit/>
          </a:bodyPr>
          <a:lstStyle/>
          <a:p>
            <a:pPr marL="227965" indent="-227965"/>
            <a:r>
              <a:rPr lang="es-CL">
                <a:solidFill>
                  <a:srgbClr val="000000"/>
                </a:solidFill>
                <a:latin typeface="Arial"/>
                <a:cs typeface="Arial"/>
              </a:rPr>
              <a:t>¿Qué es la Web?</a:t>
            </a:r>
            <a:endParaRPr lang="es-ES"/>
          </a:p>
        </p:txBody>
      </p:sp>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57705" y="1142310"/>
            <a:ext cx="11024171" cy="87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defTabSz="914400">
              <a:lnSpc>
                <a:spcPct val="150000"/>
              </a:lnSpc>
              <a:spcBef>
                <a:spcPct val="0"/>
              </a:spcBef>
              <a:spcAft>
                <a:spcPct val="0"/>
              </a:spcAft>
              <a:buNone/>
            </a:pPr>
            <a:r>
              <a:rPr lang="es-ES" sz="1800">
                <a:latin typeface="Arial"/>
                <a:cs typeface="Arial"/>
              </a:rPr>
              <a:t>La </a:t>
            </a:r>
            <a:r>
              <a:rPr lang="es-ES" sz="1800" b="1">
                <a:solidFill>
                  <a:srgbClr val="4E7CDD"/>
                </a:solidFill>
                <a:latin typeface="Arial"/>
                <a:cs typeface="Arial"/>
              </a:rPr>
              <a:t>Web</a:t>
            </a:r>
            <a:r>
              <a:rPr lang="es-ES" sz="1800">
                <a:latin typeface="Arial"/>
                <a:cs typeface="Arial"/>
              </a:rPr>
              <a:t>, o </a:t>
            </a:r>
            <a:r>
              <a:rPr lang="es-ES" sz="1800" b="1" err="1">
                <a:solidFill>
                  <a:srgbClr val="4E7CDD"/>
                </a:solidFill>
                <a:latin typeface="Arial"/>
                <a:cs typeface="Arial"/>
              </a:rPr>
              <a:t>World</a:t>
            </a:r>
            <a:r>
              <a:rPr lang="es-ES" sz="1800" b="1">
                <a:solidFill>
                  <a:srgbClr val="4E7CDD"/>
                </a:solidFill>
                <a:latin typeface="Arial"/>
                <a:cs typeface="Arial"/>
              </a:rPr>
              <a:t> Wide Web</a:t>
            </a:r>
            <a:r>
              <a:rPr lang="es-ES" sz="1800">
                <a:latin typeface="Arial"/>
                <a:cs typeface="Arial"/>
              </a:rPr>
              <a:t>, es </a:t>
            </a:r>
            <a:r>
              <a:rPr kumimoji="0" lang="es-ES" sz="1800" b="0" i="0" u="none" strike="noStrike" cap="none" normalizeH="0" baseline="0">
                <a:ln>
                  <a:noFill/>
                </a:ln>
                <a:effectLst/>
                <a:latin typeface="Arial"/>
                <a:cs typeface="Arial"/>
              </a:rPr>
              <a:t>una </a:t>
            </a:r>
            <a:r>
              <a:rPr lang="es-ES" sz="1800">
                <a:latin typeface="Arial"/>
                <a:cs typeface="Arial"/>
              </a:rPr>
              <a:t>red global </a:t>
            </a:r>
            <a:r>
              <a:rPr kumimoji="0" lang="es-ES" sz="1800" b="0" i="0" u="none" strike="noStrike" cap="none" normalizeH="0" baseline="0">
                <a:ln>
                  <a:noFill/>
                </a:ln>
                <a:effectLst/>
                <a:latin typeface="Arial"/>
                <a:cs typeface="Arial"/>
              </a:rPr>
              <a:t>de </a:t>
            </a:r>
            <a:r>
              <a:rPr lang="es-ES" sz="1800">
                <a:latin typeface="Arial"/>
                <a:cs typeface="Arial"/>
              </a:rPr>
              <a:t>información que permite el acceso a documentos </a:t>
            </a:r>
            <a:r>
              <a:rPr kumimoji="0" lang="es-ES" sz="1800" b="0" i="0" u="none" strike="noStrike" cap="none" normalizeH="0" baseline="0">
                <a:ln>
                  <a:noFill/>
                </a:ln>
                <a:effectLst/>
                <a:latin typeface="Arial"/>
                <a:cs typeface="Arial"/>
              </a:rPr>
              <a:t>y </a:t>
            </a:r>
            <a:r>
              <a:rPr lang="es-ES" sz="1800">
                <a:latin typeface="Arial"/>
                <a:cs typeface="Arial"/>
              </a:rPr>
              <a:t>recursos </a:t>
            </a:r>
            <a:r>
              <a:rPr kumimoji="0" lang="es-ES" sz="1800" b="0" i="0" u="none" strike="noStrike" cap="none" normalizeH="0" baseline="0">
                <a:ln>
                  <a:noFill/>
                </a:ln>
                <a:effectLst/>
                <a:latin typeface="Arial"/>
                <a:cs typeface="Arial"/>
              </a:rPr>
              <a:t>a través de </a:t>
            </a:r>
            <a:r>
              <a:rPr lang="es-ES" sz="1800">
                <a:solidFill>
                  <a:srgbClr val="000000"/>
                </a:solidFill>
                <a:latin typeface="Arial"/>
                <a:cs typeface="Arial"/>
              </a:rPr>
              <a:t>Internet</a:t>
            </a:r>
            <a:r>
              <a:rPr kumimoji="0" lang="es-ES" sz="1800" b="0" i="0" u="none" strike="noStrike" cap="none" normalizeH="0" baseline="0">
                <a:ln>
                  <a:noFill/>
                </a:ln>
                <a:effectLst/>
                <a:latin typeface="Arial"/>
                <a:cs typeface="Arial"/>
              </a:rPr>
              <a:t>. </a:t>
            </a:r>
            <a:r>
              <a:rPr lang="es-ES" sz="1800">
                <a:latin typeface="Arial"/>
                <a:cs typeface="Arial"/>
              </a:rPr>
              <a:t>Consiste en:</a:t>
            </a:r>
            <a:endParaRPr lang="es-ES"/>
          </a:p>
        </p:txBody>
      </p:sp>
      <p:sp>
        <p:nvSpPr>
          <p:cNvPr id="5" name="Object 3">
            <a:extLst>
              <a:ext uri="{FF2B5EF4-FFF2-40B4-BE49-F238E27FC236}">
                <a16:creationId xmlns:a16="http://schemas.microsoft.com/office/drawing/2014/main" id="{928353B1-E645-79B0-4883-C5551E508B4E}"/>
              </a:ext>
            </a:extLst>
          </p:cNvPr>
          <p:cNvSpPr/>
          <p:nvPr/>
        </p:nvSpPr>
        <p:spPr>
          <a:xfrm>
            <a:off x="545551" y="2692847"/>
            <a:ext cx="2828797" cy="261642"/>
          </a:xfrm>
          <a:prstGeom prst="rect">
            <a:avLst/>
          </a:prstGeom>
          <a:noFill/>
        </p:spPr>
        <p:txBody>
          <a:bodyPr wrap="square" lIns="0" tIns="0" rIns="0" bIns="0" rtlCol="0" anchor="t"/>
          <a:lstStyle/>
          <a:p>
            <a:pPr algn="ctr">
              <a:lnSpc>
                <a:spcPts val="1814"/>
              </a:lnSpc>
            </a:pPr>
            <a:r>
              <a:rPr lang="en-US" b="1">
                <a:solidFill>
                  <a:srgbClr val="000000"/>
                </a:solidFill>
                <a:latin typeface="Arial"/>
                <a:ea typeface="+mn-lt"/>
                <a:cs typeface="Arial"/>
              </a:rPr>
              <a:t>PÁGINAS WEB</a:t>
            </a:r>
            <a:endParaRPr lang="es-ES" b="1">
              <a:latin typeface="Arial"/>
              <a:cs typeface="Arial"/>
            </a:endParaRPr>
          </a:p>
        </p:txBody>
      </p:sp>
      <p:sp>
        <p:nvSpPr>
          <p:cNvPr id="8" name="Object 4">
            <a:extLst>
              <a:ext uri="{FF2B5EF4-FFF2-40B4-BE49-F238E27FC236}">
                <a16:creationId xmlns:a16="http://schemas.microsoft.com/office/drawing/2014/main" id="{C2C4E5BB-0B25-7520-A2D8-F2D0E02804F6}"/>
              </a:ext>
            </a:extLst>
          </p:cNvPr>
          <p:cNvSpPr/>
          <p:nvPr/>
        </p:nvSpPr>
        <p:spPr>
          <a:xfrm>
            <a:off x="573057" y="3162995"/>
            <a:ext cx="2808146" cy="913741"/>
          </a:xfrm>
          <a:prstGeom prst="rect">
            <a:avLst/>
          </a:prstGeom>
          <a:noFill/>
        </p:spPr>
        <p:txBody>
          <a:bodyPr wrap="square" lIns="0" tIns="0" rIns="0" bIns="0" rtlCol="0" anchor="t"/>
          <a:lstStyle/>
          <a:p>
            <a:pPr algn="just">
              <a:lnSpc>
                <a:spcPts val="1680"/>
              </a:lnSpc>
              <a:spcBef>
                <a:spcPts val="663"/>
              </a:spcBef>
            </a:pPr>
            <a:r>
              <a:rPr lang="es-ES" sz="1600">
                <a:solidFill>
                  <a:srgbClr val="3F3F3F"/>
                </a:solidFill>
                <a:latin typeface="Montserrat"/>
                <a:ea typeface="+mn-lt"/>
                <a:cs typeface="+mn-lt"/>
              </a:rPr>
              <a:t>Documentos de hipertexto que contienen texto, imágenes, videos y enlaces.</a:t>
            </a:r>
          </a:p>
          <a:p>
            <a:pPr algn="just">
              <a:lnSpc>
                <a:spcPts val="1680"/>
              </a:lnSpc>
              <a:spcBef>
                <a:spcPts val="663"/>
              </a:spcBef>
              <a:buNone/>
            </a:pPr>
            <a:endParaRPr lang="en-US" sz="1600">
              <a:solidFill>
                <a:srgbClr val="3F3F3F"/>
              </a:solidFill>
              <a:latin typeface="Montserrat"/>
            </a:endParaRPr>
          </a:p>
        </p:txBody>
      </p:sp>
      <p:sp>
        <p:nvSpPr>
          <p:cNvPr id="10" name="Object 3">
            <a:extLst>
              <a:ext uri="{FF2B5EF4-FFF2-40B4-BE49-F238E27FC236}">
                <a16:creationId xmlns:a16="http://schemas.microsoft.com/office/drawing/2014/main" id="{5691FF2E-7944-98B0-8B3B-33D09469FAF1}"/>
              </a:ext>
            </a:extLst>
          </p:cNvPr>
          <p:cNvSpPr/>
          <p:nvPr/>
        </p:nvSpPr>
        <p:spPr>
          <a:xfrm>
            <a:off x="507049" y="4397120"/>
            <a:ext cx="2945904" cy="275010"/>
          </a:xfrm>
          <a:prstGeom prst="rect">
            <a:avLst/>
          </a:prstGeom>
          <a:noFill/>
        </p:spPr>
        <p:txBody>
          <a:bodyPr wrap="square" lIns="0" tIns="0" rIns="0" bIns="0" rtlCol="0" anchor="t"/>
          <a:lstStyle/>
          <a:p>
            <a:pPr algn="ctr">
              <a:lnSpc>
                <a:spcPts val="1814"/>
              </a:lnSpc>
            </a:pPr>
            <a:r>
              <a:rPr lang="en-US" b="1">
                <a:latin typeface="Arial"/>
                <a:cs typeface="Arial"/>
              </a:rPr>
              <a:t>SITIOS WEB</a:t>
            </a:r>
            <a:endParaRPr lang="es-ES"/>
          </a:p>
        </p:txBody>
      </p:sp>
      <p:sp>
        <p:nvSpPr>
          <p:cNvPr id="12" name="Object 4">
            <a:extLst>
              <a:ext uri="{FF2B5EF4-FFF2-40B4-BE49-F238E27FC236}">
                <a16:creationId xmlns:a16="http://schemas.microsoft.com/office/drawing/2014/main" id="{178D42B4-04D5-803F-9C45-393871DB0160}"/>
              </a:ext>
            </a:extLst>
          </p:cNvPr>
          <p:cNvSpPr/>
          <p:nvPr/>
        </p:nvSpPr>
        <p:spPr>
          <a:xfrm>
            <a:off x="484290" y="4847418"/>
            <a:ext cx="2938621" cy="970421"/>
          </a:xfrm>
          <a:prstGeom prst="rect">
            <a:avLst/>
          </a:prstGeom>
          <a:noFill/>
        </p:spPr>
        <p:txBody>
          <a:bodyPr wrap="square" lIns="0" tIns="0" rIns="0" bIns="0" rtlCol="0" anchor="t"/>
          <a:lstStyle/>
          <a:p>
            <a:pPr algn="just">
              <a:lnSpc>
                <a:spcPts val="1680"/>
              </a:lnSpc>
              <a:spcBef>
                <a:spcPts val="663"/>
              </a:spcBef>
            </a:pPr>
            <a:r>
              <a:rPr lang="es-ES" sz="1600">
                <a:solidFill>
                  <a:srgbClr val="3F3F3F"/>
                </a:solidFill>
                <a:latin typeface="Montserrat"/>
                <a:ea typeface="+mn-lt"/>
                <a:cs typeface="+mn-lt"/>
              </a:rPr>
              <a:t>Colecciones de páginas web relacionadas, generalmente alojadas en un mismo dominio.</a:t>
            </a:r>
            <a:endParaRPr lang="es-ES" sz="1600">
              <a:solidFill>
                <a:srgbClr val="3F3F3F"/>
              </a:solidFill>
              <a:latin typeface="Montserrat"/>
            </a:endParaRPr>
          </a:p>
        </p:txBody>
      </p:sp>
      <p:sp>
        <p:nvSpPr>
          <p:cNvPr id="14" name="Object 3">
            <a:extLst>
              <a:ext uri="{FF2B5EF4-FFF2-40B4-BE49-F238E27FC236}">
                <a16:creationId xmlns:a16="http://schemas.microsoft.com/office/drawing/2014/main" id="{2C0E363B-67B7-5DAF-F475-A8D167516005}"/>
              </a:ext>
            </a:extLst>
          </p:cNvPr>
          <p:cNvSpPr/>
          <p:nvPr/>
        </p:nvSpPr>
        <p:spPr>
          <a:xfrm>
            <a:off x="8755900" y="2685960"/>
            <a:ext cx="2920771" cy="403346"/>
          </a:xfrm>
          <a:prstGeom prst="rect">
            <a:avLst/>
          </a:prstGeom>
          <a:noFill/>
        </p:spPr>
        <p:txBody>
          <a:bodyPr wrap="square" lIns="0" tIns="0" rIns="0" bIns="0" rtlCol="0" anchor="t"/>
          <a:lstStyle/>
          <a:p>
            <a:pPr algn="ctr">
              <a:lnSpc>
                <a:spcPts val="1814"/>
              </a:lnSpc>
            </a:pPr>
            <a:r>
              <a:rPr lang="en-US" b="1">
                <a:latin typeface="Arial"/>
                <a:cs typeface="Arial"/>
              </a:rPr>
              <a:t>SERVIDORES WEB</a:t>
            </a:r>
            <a:endParaRPr lang="es-ES"/>
          </a:p>
        </p:txBody>
      </p:sp>
      <p:sp>
        <p:nvSpPr>
          <p:cNvPr id="16" name="Object 4">
            <a:extLst>
              <a:ext uri="{FF2B5EF4-FFF2-40B4-BE49-F238E27FC236}">
                <a16:creationId xmlns:a16="http://schemas.microsoft.com/office/drawing/2014/main" id="{B35D7634-F60B-5C52-53C5-570C94462AAD}"/>
              </a:ext>
            </a:extLst>
          </p:cNvPr>
          <p:cNvSpPr/>
          <p:nvPr/>
        </p:nvSpPr>
        <p:spPr>
          <a:xfrm>
            <a:off x="8770036" y="3149626"/>
            <a:ext cx="2900121" cy="943685"/>
          </a:xfrm>
          <a:prstGeom prst="rect">
            <a:avLst/>
          </a:prstGeom>
          <a:noFill/>
        </p:spPr>
        <p:txBody>
          <a:bodyPr wrap="square" lIns="0" tIns="0" rIns="0" bIns="0" rtlCol="0" anchor="t"/>
          <a:lstStyle/>
          <a:p>
            <a:pPr algn="just">
              <a:lnSpc>
                <a:spcPts val="1680"/>
              </a:lnSpc>
              <a:spcBef>
                <a:spcPts val="663"/>
              </a:spcBef>
            </a:pPr>
            <a:r>
              <a:rPr lang="es-ES" sz="1600">
                <a:solidFill>
                  <a:srgbClr val="3F3F3F"/>
                </a:solidFill>
                <a:latin typeface="Montserrat"/>
                <a:ea typeface="+mn-lt"/>
                <a:cs typeface="+mn-lt"/>
              </a:rPr>
              <a:t>Computadoras que almacenan y entregan páginas web a los usuarios.</a:t>
            </a:r>
          </a:p>
          <a:p>
            <a:pPr algn="just">
              <a:lnSpc>
                <a:spcPts val="1680"/>
              </a:lnSpc>
              <a:spcBef>
                <a:spcPts val="663"/>
              </a:spcBef>
              <a:buNone/>
            </a:pPr>
            <a:endParaRPr lang="en-US" sz="1600">
              <a:solidFill>
                <a:srgbClr val="3F3F3F"/>
              </a:solidFill>
              <a:latin typeface="Montserrat"/>
            </a:endParaRPr>
          </a:p>
        </p:txBody>
      </p:sp>
      <p:sp>
        <p:nvSpPr>
          <p:cNvPr id="23" name="Object 3">
            <a:extLst>
              <a:ext uri="{FF2B5EF4-FFF2-40B4-BE49-F238E27FC236}">
                <a16:creationId xmlns:a16="http://schemas.microsoft.com/office/drawing/2014/main" id="{3EA12BDA-0E96-400D-53D3-052BFE33D5BF}"/>
              </a:ext>
            </a:extLst>
          </p:cNvPr>
          <p:cNvSpPr/>
          <p:nvPr/>
        </p:nvSpPr>
        <p:spPr>
          <a:xfrm>
            <a:off x="8755899" y="4463960"/>
            <a:ext cx="2974245" cy="389978"/>
          </a:xfrm>
          <a:prstGeom prst="rect">
            <a:avLst/>
          </a:prstGeom>
          <a:noFill/>
        </p:spPr>
        <p:txBody>
          <a:bodyPr wrap="square" lIns="0" tIns="0" rIns="0" bIns="0" rtlCol="0" anchor="t"/>
          <a:lstStyle/>
          <a:p>
            <a:pPr algn="ctr">
              <a:lnSpc>
                <a:spcPts val="1814"/>
              </a:lnSpc>
            </a:pPr>
            <a:r>
              <a:rPr lang="en-US" b="1">
                <a:latin typeface="Arial"/>
                <a:cs typeface="Arial"/>
              </a:rPr>
              <a:t>NAVEGADORES WEB</a:t>
            </a:r>
          </a:p>
        </p:txBody>
      </p:sp>
      <p:sp>
        <p:nvSpPr>
          <p:cNvPr id="25" name="Object 4">
            <a:extLst>
              <a:ext uri="{FF2B5EF4-FFF2-40B4-BE49-F238E27FC236}">
                <a16:creationId xmlns:a16="http://schemas.microsoft.com/office/drawing/2014/main" id="{DDAA0340-0867-F947-6056-A22B5F9D19DC}"/>
              </a:ext>
            </a:extLst>
          </p:cNvPr>
          <p:cNvSpPr/>
          <p:nvPr/>
        </p:nvSpPr>
        <p:spPr>
          <a:xfrm>
            <a:off x="8756669" y="4927626"/>
            <a:ext cx="2966962" cy="943685"/>
          </a:xfrm>
          <a:prstGeom prst="rect">
            <a:avLst/>
          </a:prstGeom>
          <a:noFill/>
        </p:spPr>
        <p:txBody>
          <a:bodyPr wrap="square" lIns="0" tIns="0" rIns="0" bIns="0" rtlCol="0" anchor="t"/>
          <a:lstStyle/>
          <a:p>
            <a:pPr algn="just">
              <a:lnSpc>
                <a:spcPts val="1680"/>
              </a:lnSpc>
              <a:spcBef>
                <a:spcPts val="663"/>
              </a:spcBef>
            </a:pPr>
            <a:r>
              <a:rPr lang="es-ES" sz="1600">
                <a:solidFill>
                  <a:srgbClr val="3F3F3F"/>
                </a:solidFill>
                <a:latin typeface="Montserrat"/>
                <a:ea typeface="+mn-lt"/>
                <a:cs typeface="+mn-lt"/>
              </a:rPr>
              <a:t>Programas que permiten a los usuarios ver e interactuar con páginas web.</a:t>
            </a:r>
          </a:p>
          <a:p>
            <a:pPr algn="just">
              <a:lnSpc>
                <a:spcPts val="1680"/>
              </a:lnSpc>
              <a:spcBef>
                <a:spcPts val="663"/>
              </a:spcBef>
              <a:buNone/>
            </a:pPr>
            <a:endParaRPr lang="en-US" sz="1600">
              <a:solidFill>
                <a:srgbClr val="3F3F3F"/>
              </a:solidFill>
              <a:latin typeface="Montserrat"/>
            </a:endParaRPr>
          </a:p>
        </p:txBody>
      </p:sp>
      <p:pic>
        <p:nvPicPr>
          <p:cNvPr id="6" name="Imagen 5" descr="Imagen que contiene Patrón de fondo&#10;&#10;Descripción generada automáticamente">
            <a:extLst>
              <a:ext uri="{FF2B5EF4-FFF2-40B4-BE49-F238E27FC236}">
                <a16:creationId xmlns:a16="http://schemas.microsoft.com/office/drawing/2014/main" id="{C0B2A752-7479-B371-5145-3C28160F183F}"/>
              </a:ext>
            </a:extLst>
          </p:cNvPr>
          <p:cNvPicPr>
            <a:picLocks noChangeAspect="1"/>
          </p:cNvPicPr>
          <p:nvPr/>
        </p:nvPicPr>
        <p:blipFill>
          <a:blip r:embed="rId3"/>
          <a:stretch>
            <a:fillRect/>
          </a:stretch>
        </p:blipFill>
        <p:spPr>
          <a:xfrm>
            <a:off x="3831724" y="2310231"/>
            <a:ext cx="4541922" cy="3601120"/>
          </a:xfrm>
          <a:prstGeom prst="rect">
            <a:avLst/>
          </a:prstGeom>
        </p:spPr>
      </p:pic>
    </p:spTree>
    <p:extLst>
      <p:ext uri="{BB962C8B-B14F-4D97-AF65-F5344CB8AC3E}">
        <p14:creationId xmlns:p14="http://schemas.microsoft.com/office/powerpoint/2010/main" val="1092144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54685" y="1009196"/>
            <a:ext cx="11024171" cy="590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7965" indent="-227965" algn="ctr" defTabSz="914400">
              <a:buNone/>
            </a:pPr>
            <a:r>
              <a:rPr lang="es-CL" sz="3600">
                <a:latin typeface="Arial"/>
                <a:cs typeface="Arial"/>
              </a:rPr>
              <a:t>¿Cómo funciona la </a:t>
            </a:r>
            <a:r>
              <a:rPr lang="es-CL" sz="3600" b="1">
                <a:solidFill>
                  <a:srgbClr val="4E7CDD"/>
                </a:solidFill>
                <a:latin typeface="Arial"/>
                <a:cs typeface="Arial"/>
              </a:rPr>
              <a:t>Web</a:t>
            </a:r>
            <a:r>
              <a:rPr lang="es-CL" sz="3600">
                <a:latin typeface="Arial"/>
                <a:cs typeface="Arial"/>
              </a:rPr>
              <a:t>?</a:t>
            </a:r>
            <a:endParaRPr lang="es-ES"/>
          </a:p>
        </p:txBody>
      </p:sp>
      <p:pic>
        <p:nvPicPr>
          <p:cNvPr id="2" name="Imagen 1" descr="Una foto de un grupo de personas posando para una foto&#10;&#10;Descripción generada automáticamente">
            <a:extLst>
              <a:ext uri="{FF2B5EF4-FFF2-40B4-BE49-F238E27FC236}">
                <a16:creationId xmlns:a16="http://schemas.microsoft.com/office/drawing/2014/main" id="{B7243E65-0142-78F2-8407-B93F0586DCD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2135604" y="1720707"/>
            <a:ext cx="7914105" cy="4526165"/>
          </a:xfrm>
          <a:prstGeom prst="rect">
            <a:avLst/>
          </a:prstGeom>
        </p:spPr>
      </p:pic>
    </p:spTree>
    <p:extLst>
      <p:ext uri="{BB962C8B-B14F-4D97-AF65-F5344CB8AC3E}">
        <p14:creationId xmlns:p14="http://schemas.microsoft.com/office/powerpoint/2010/main" val="3512782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41317" y="551041"/>
            <a:ext cx="5906037" cy="429580"/>
          </a:xfrm>
        </p:spPr>
        <p:txBody>
          <a:bodyPr vert="horz" lIns="91440" tIns="45720" rIns="91440" bIns="45720" rtlCol="0" anchor="t">
            <a:noAutofit/>
          </a:bodyPr>
          <a:lstStyle/>
          <a:p>
            <a:pPr marL="227965" indent="-227965"/>
            <a:r>
              <a:rPr lang="es-CL">
                <a:solidFill>
                  <a:srgbClr val="000000"/>
                </a:solidFill>
                <a:latin typeface="Arial"/>
                <a:cs typeface="Arial"/>
              </a:rPr>
              <a:t>¿Cómo funciona la Web?</a:t>
            </a:r>
            <a:endParaRPr lang="es-ES"/>
          </a:p>
        </p:txBody>
      </p:sp>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57705" y="1142310"/>
            <a:ext cx="11024171" cy="87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defTabSz="914400">
              <a:lnSpc>
                <a:spcPct val="150000"/>
              </a:lnSpc>
              <a:spcBef>
                <a:spcPct val="0"/>
              </a:spcBef>
              <a:spcAft>
                <a:spcPct val="0"/>
              </a:spcAft>
              <a:buNone/>
            </a:pPr>
            <a:r>
              <a:rPr lang="es-ES" sz="1800">
                <a:latin typeface="Arial"/>
                <a:cs typeface="Arial"/>
              </a:rPr>
              <a:t>La web funciona con un modelo </a:t>
            </a:r>
            <a:r>
              <a:rPr lang="es-ES" sz="1800" b="1">
                <a:solidFill>
                  <a:srgbClr val="4E7CDD"/>
                </a:solidFill>
                <a:latin typeface="Arial"/>
                <a:cs typeface="Arial"/>
              </a:rPr>
              <a:t>cliente-servidor</a:t>
            </a:r>
            <a:r>
              <a:rPr lang="es-ES" sz="1800">
                <a:latin typeface="Arial"/>
                <a:cs typeface="Arial"/>
              </a:rPr>
              <a:t>. El cliente (navegador web) envía solicitudes al servidor, </a:t>
            </a:r>
            <a:r>
              <a:rPr kumimoji="0" lang="es-ES" sz="1800" b="0" i="0" u="none" strike="noStrike" cap="none" normalizeH="0" baseline="0">
                <a:ln>
                  <a:noFill/>
                </a:ln>
                <a:effectLst/>
                <a:latin typeface="Arial"/>
                <a:cs typeface="Arial"/>
              </a:rPr>
              <a:t>y </a:t>
            </a:r>
            <a:r>
              <a:rPr lang="es-ES" sz="1800">
                <a:latin typeface="Arial"/>
                <a:cs typeface="Arial"/>
              </a:rPr>
              <a:t>el servidor responde con el contenido solicitado</a:t>
            </a:r>
            <a:r>
              <a:rPr kumimoji="0" lang="es-ES" sz="1800" b="0" i="0" u="none" strike="noStrike" cap="none" normalizeH="0" baseline="0">
                <a:ln>
                  <a:noFill/>
                </a:ln>
                <a:effectLst/>
                <a:latin typeface="Arial"/>
                <a:cs typeface="Arial"/>
              </a:rPr>
              <a:t>.</a:t>
            </a:r>
            <a:endParaRPr lang="es-ES"/>
          </a:p>
        </p:txBody>
      </p:sp>
      <p:pic>
        <p:nvPicPr>
          <p:cNvPr id="3" name="Imagen 2" descr="Diagrama&#10;&#10;Descripción generada automáticamente">
            <a:extLst>
              <a:ext uri="{FF2B5EF4-FFF2-40B4-BE49-F238E27FC236}">
                <a16:creationId xmlns:a16="http://schemas.microsoft.com/office/drawing/2014/main" id="{89226864-F195-7900-FA74-5482EF4581CD}"/>
              </a:ext>
            </a:extLst>
          </p:cNvPr>
          <p:cNvPicPr>
            <a:picLocks noChangeAspect="1"/>
          </p:cNvPicPr>
          <p:nvPr/>
        </p:nvPicPr>
        <p:blipFill>
          <a:blip r:embed="rId3"/>
          <a:stretch>
            <a:fillRect/>
          </a:stretch>
        </p:blipFill>
        <p:spPr>
          <a:xfrm>
            <a:off x="2591481" y="2139043"/>
            <a:ext cx="7901668" cy="4038600"/>
          </a:xfrm>
          <a:prstGeom prst="rect">
            <a:avLst/>
          </a:prstGeom>
        </p:spPr>
      </p:pic>
    </p:spTree>
    <p:extLst>
      <p:ext uri="{BB962C8B-B14F-4D97-AF65-F5344CB8AC3E}">
        <p14:creationId xmlns:p14="http://schemas.microsoft.com/office/powerpoint/2010/main" val="1317210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54685" y="894325"/>
            <a:ext cx="11024171" cy="820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defTabSz="914400">
              <a:lnSpc>
                <a:spcPct val="150000"/>
              </a:lnSpc>
              <a:spcBef>
                <a:spcPct val="0"/>
              </a:spcBef>
              <a:spcAft>
                <a:spcPct val="0"/>
              </a:spcAft>
              <a:buNone/>
            </a:pPr>
            <a:r>
              <a:rPr lang="es-CL" sz="3600">
                <a:latin typeface="Arial"/>
                <a:cs typeface="Arial"/>
              </a:rPr>
              <a:t>¿Qué se entiende por </a:t>
            </a:r>
            <a:r>
              <a:rPr lang="es-CL" sz="3600" b="1">
                <a:solidFill>
                  <a:srgbClr val="4E7CDD"/>
                </a:solidFill>
                <a:latin typeface="Arial"/>
                <a:cs typeface="Arial"/>
              </a:rPr>
              <a:t>HTML</a:t>
            </a:r>
            <a:r>
              <a:rPr lang="es-CL" sz="3600">
                <a:latin typeface="Arial"/>
                <a:cs typeface="Arial"/>
              </a:rPr>
              <a:t>?</a:t>
            </a:r>
            <a:endParaRPr lang="es-ES" sz="3600"/>
          </a:p>
        </p:txBody>
      </p:sp>
      <p:pic>
        <p:nvPicPr>
          <p:cNvPr id="2" name="Imagen 1" descr="Texto&#10;&#10;Descripción generada automáticamente">
            <a:extLst>
              <a:ext uri="{FF2B5EF4-FFF2-40B4-BE49-F238E27FC236}">
                <a16:creationId xmlns:a16="http://schemas.microsoft.com/office/drawing/2014/main" id="{BD596608-793E-44A4-32D4-C9B93EB2036E}"/>
              </a:ext>
            </a:extLst>
          </p:cNvPr>
          <p:cNvPicPr>
            <a:picLocks noChangeAspect="1"/>
          </p:cNvPicPr>
          <p:nvPr/>
        </p:nvPicPr>
        <p:blipFill>
          <a:blip r:embed="rId3"/>
          <a:stretch>
            <a:fillRect/>
          </a:stretch>
        </p:blipFill>
        <p:spPr>
          <a:xfrm>
            <a:off x="3813952" y="1826713"/>
            <a:ext cx="4699794" cy="4311041"/>
          </a:xfrm>
          <a:prstGeom prst="rect">
            <a:avLst/>
          </a:prstGeom>
        </p:spPr>
      </p:pic>
    </p:spTree>
    <p:extLst>
      <p:ext uri="{BB962C8B-B14F-4D97-AF65-F5344CB8AC3E}">
        <p14:creationId xmlns:p14="http://schemas.microsoft.com/office/powerpoint/2010/main" val="1604568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6162804" cy="469685"/>
          </a:xfrm>
        </p:spPr>
        <p:txBody>
          <a:bodyPr vert="horz" lIns="91440" tIns="45720" rIns="91440" bIns="45720" rtlCol="0" anchor="t">
            <a:noAutofit/>
          </a:bodyPr>
          <a:lstStyle/>
          <a:p>
            <a:pPr marL="227965" indent="-227965"/>
            <a:r>
              <a:rPr lang="es-CL">
                <a:latin typeface="Arial"/>
                <a:cs typeface="Arial"/>
              </a:rPr>
              <a:t>HTML</a:t>
            </a:r>
            <a:endParaRPr lang="es-ES"/>
          </a:p>
        </p:txBody>
      </p:sp>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83993" y="1355661"/>
            <a:ext cx="10816624" cy="719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defTabSz="914400">
              <a:buNone/>
            </a:pPr>
            <a:r>
              <a:rPr lang="es-ES" sz="1800" b="1">
                <a:solidFill>
                  <a:srgbClr val="4E7CDD"/>
                </a:solidFill>
                <a:latin typeface="Arial"/>
                <a:cs typeface="Arial"/>
              </a:rPr>
              <a:t>HTML </a:t>
            </a:r>
            <a:r>
              <a:rPr lang="es-ES" sz="1800">
                <a:latin typeface="Arial"/>
                <a:cs typeface="Arial"/>
              </a:rPr>
              <a:t>es un lenguaje de marcado utilizado para crear y estructurar páginas web.</a:t>
            </a:r>
            <a:endParaRPr lang="es-ES"/>
          </a:p>
          <a:p>
            <a:pPr marL="0" indent="0" algn="just" defTabSz="914400">
              <a:buNone/>
            </a:pPr>
            <a:r>
              <a:rPr lang="es-ES" sz="1800">
                <a:latin typeface="Arial"/>
                <a:cs typeface="Arial"/>
              </a:rPr>
              <a:t>Está diseñado principalmente para la </a:t>
            </a:r>
            <a:r>
              <a:rPr lang="es-ES" sz="1800" b="1">
                <a:solidFill>
                  <a:srgbClr val="4E7CDD"/>
                </a:solidFill>
                <a:latin typeface="Arial"/>
                <a:cs typeface="Arial"/>
              </a:rPr>
              <a:t>presentación </a:t>
            </a:r>
            <a:r>
              <a:rPr lang="es-ES" sz="1800">
                <a:latin typeface="Arial"/>
                <a:cs typeface="Arial"/>
              </a:rPr>
              <a:t>y </a:t>
            </a:r>
            <a:r>
              <a:rPr lang="es-ES" sz="1800" b="1">
                <a:solidFill>
                  <a:srgbClr val="4E7CDD"/>
                </a:solidFill>
                <a:latin typeface="Arial"/>
                <a:cs typeface="Arial"/>
              </a:rPr>
              <a:t>navegación </a:t>
            </a:r>
            <a:r>
              <a:rPr lang="es-ES" sz="1800">
                <a:latin typeface="Arial"/>
                <a:cs typeface="Arial"/>
              </a:rPr>
              <a:t>de contenido en la web.</a:t>
            </a:r>
            <a:endParaRPr lang="es-ES"/>
          </a:p>
        </p:txBody>
      </p:sp>
      <p:sp>
        <p:nvSpPr>
          <p:cNvPr id="7" name="Rectángulo: esquinas redondeadas 6">
            <a:extLst>
              <a:ext uri="{FF2B5EF4-FFF2-40B4-BE49-F238E27FC236}">
                <a16:creationId xmlns:a16="http://schemas.microsoft.com/office/drawing/2014/main" id="{2E38E719-FA09-6DAC-C3C7-E9C9C1338C77}"/>
              </a:ext>
            </a:extLst>
          </p:cNvPr>
          <p:cNvSpPr/>
          <p:nvPr/>
        </p:nvSpPr>
        <p:spPr>
          <a:xfrm>
            <a:off x="787354" y="2546607"/>
            <a:ext cx="10603765" cy="726813"/>
          </a:xfrm>
          <a:prstGeom prst="roundRect">
            <a:avLst/>
          </a:prstGeom>
          <a:solidFill>
            <a:schemeClr val="tx1">
              <a:lumMod val="85000"/>
              <a:lumOff val="15000"/>
            </a:schemeClr>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600">
                <a:latin typeface="Montserrat"/>
                <a:ea typeface="+mn-lt"/>
                <a:cs typeface="+mn-lt"/>
              </a:rPr>
              <a:t>HTML utiliza principalmente los métodos </a:t>
            </a:r>
            <a:r>
              <a:rPr lang="es-ES" sz="1600" b="1">
                <a:latin typeface="Montserrat"/>
                <a:ea typeface="+mn-lt"/>
                <a:cs typeface="+mn-lt"/>
              </a:rPr>
              <a:t>HTTP GET </a:t>
            </a:r>
            <a:r>
              <a:rPr lang="es-ES" sz="1600">
                <a:latin typeface="Montserrat"/>
                <a:ea typeface="+mn-lt"/>
                <a:cs typeface="+mn-lt"/>
              </a:rPr>
              <a:t>y </a:t>
            </a:r>
            <a:r>
              <a:rPr lang="es-ES" sz="1600" b="1">
                <a:latin typeface="Montserrat"/>
                <a:ea typeface="+mn-lt"/>
                <a:cs typeface="+mn-lt"/>
              </a:rPr>
              <a:t>POST</a:t>
            </a:r>
            <a:r>
              <a:rPr lang="es-ES" sz="1600">
                <a:latin typeface="Montserrat"/>
                <a:ea typeface="+mn-lt"/>
                <a:cs typeface="+mn-lt"/>
              </a:rPr>
              <a:t> para interactuar con los servidores.</a:t>
            </a:r>
          </a:p>
        </p:txBody>
      </p:sp>
      <p:sp>
        <p:nvSpPr>
          <p:cNvPr id="11" name="Rectángulo: esquinas redondeadas 10">
            <a:extLst>
              <a:ext uri="{FF2B5EF4-FFF2-40B4-BE49-F238E27FC236}">
                <a16:creationId xmlns:a16="http://schemas.microsoft.com/office/drawing/2014/main" id="{DCD95477-DE66-E1E7-3909-A34AF2E4884E}"/>
              </a:ext>
            </a:extLst>
          </p:cNvPr>
          <p:cNvSpPr/>
          <p:nvPr/>
        </p:nvSpPr>
        <p:spPr>
          <a:xfrm>
            <a:off x="6023276" y="3539592"/>
            <a:ext cx="5388574" cy="574490"/>
          </a:xfrm>
          <a:prstGeom prst="roundRect">
            <a:avLst/>
          </a:prstGeom>
          <a:solidFill>
            <a:srgbClr val="00B050"/>
          </a:solidFill>
          <a:ln>
            <a:solidFill>
              <a:schemeClr val="tx1">
                <a:lumMod val="65000"/>
                <a:lumOff val="35000"/>
              </a:schemeClr>
            </a:solid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600" b="1">
                <a:solidFill>
                  <a:schemeClr val="bg1"/>
                </a:solidFill>
                <a:latin typeface="Montserrat"/>
                <a:ea typeface="+mn-lt"/>
                <a:cs typeface="+mn-lt"/>
              </a:rPr>
              <a:t>POST </a:t>
            </a:r>
            <a:r>
              <a:rPr lang="es-ES" sz="1600">
                <a:solidFill>
                  <a:schemeClr val="bg1"/>
                </a:solidFill>
                <a:latin typeface="Montserrat"/>
                <a:ea typeface="+mn-lt"/>
                <a:cs typeface="+mn-lt"/>
              </a:rPr>
              <a:t>se usa para enviar datos de formularios al servidor.</a:t>
            </a:r>
          </a:p>
        </p:txBody>
      </p:sp>
      <p:sp>
        <p:nvSpPr>
          <p:cNvPr id="14" name="Rectángulo: esquinas redondeadas 13">
            <a:extLst>
              <a:ext uri="{FF2B5EF4-FFF2-40B4-BE49-F238E27FC236}">
                <a16:creationId xmlns:a16="http://schemas.microsoft.com/office/drawing/2014/main" id="{9306907F-0D27-B965-7AA5-8E5CF5212B26}"/>
              </a:ext>
            </a:extLst>
          </p:cNvPr>
          <p:cNvSpPr/>
          <p:nvPr/>
        </p:nvSpPr>
        <p:spPr>
          <a:xfrm>
            <a:off x="787354" y="3543068"/>
            <a:ext cx="4888765" cy="570505"/>
          </a:xfrm>
          <a:prstGeom prst="roundRect">
            <a:avLst/>
          </a:prstGeom>
          <a:solidFill>
            <a:srgbClr val="4E7CDD"/>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600" b="1">
                <a:latin typeface="Montserrat"/>
                <a:ea typeface="+mn-lt"/>
                <a:cs typeface="+mn-lt"/>
              </a:rPr>
              <a:t>GET </a:t>
            </a:r>
            <a:r>
              <a:rPr lang="es-ES" sz="1600">
                <a:latin typeface="Montserrat"/>
                <a:ea typeface="+mn-lt"/>
                <a:cs typeface="+mn-lt"/>
              </a:rPr>
              <a:t>se usa para solicitar y mostrar contenido.</a:t>
            </a:r>
            <a:endParaRPr lang="es-ES" sz="1600">
              <a:latin typeface="Montserrat"/>
            </a:endParaRPr>
          </a:p>
        </p:txBody>
      </p:sp>
      <p:sp>
        <p:nvSpPr>
          <p:cNvPr id="19" name="Rectángulo: esquinas redondeadas 18">
            <a:extLst>
              <a:ext uri="{FF2B5EF4-FFF2-40B4-BE49-F238E27FC236}">
                <a16:creationId xmlns:a16="http://schemas.microsoft.com/office/drawing/2014/main" id="{836C7F4C-84C1-15E5-52C2-3F4625729AAA}"/>
              </a:ext>
            </a:extLst>
          </p:cNvPr>
          <p:cNvSpPr/>
          <p:nvPr/>
        </p:nvSpPr>
        <p:spPr>
          <a:xfrm>
            <a:off x="724582" y="4601356"/>
            <a:ext cx="10710935" cy="1276827"/>
          </a:xfrm>
          <a:prstGeom prst="roundRect">
            <a:avLst/>
          </a:prstGeom>
          <a:solidFill>
            <a:srgbClr val="BB0034"/>
          </a:solidFill>
          <a:ln>
            <a:solidFill>
              <a:schemeClr val="tx1">
                <a:lumMod val="65000"/>
                <a:lumOff val="35000"/>
              </a:schemeClr>
            </a:solidFill>
          </a:ln>
        </p:spPr>
        <p:style>
          <a:lnRef idx="0">
            <a:schemeClr val="accent5"/>
          </a:lnRef>
          <a:fillRef idx="3">
            <a:schemeClr val="accent5"/>
          </a:fillRef>
          <a:effectRef idx="3">
            <a:schemeClr val="accent5"/>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600">
                <a:solidFill>
                  <a:schemeClr val="bg1"/>
                </a:solidFill>
                <a:latin typeface="Montserrat"/>
                <a:ea typeface="+mn-lt"/>
                <a:cs typeface="+mn-lt"/>
              </a:rPr>
              <a:t>Tradicionalmente, </a:t>
            </a:r>
            <a:r>
              <a:rPr lang="es-ES" sz="1600" b="1">
                <a:solidFill>
                  <a:schemeClr val="bg1"/>
                </a:solidFill>
                <a:latin typeface="Montserrat"/>
                <a:ea typeface="+mn-lt"/>
                <a:cs typeface="+mn-lt"/>
              </a:rPr>
              <a:t>HTML </a:t>
            </a:r>
            <a:r>
              <a:rPr lang="es-ES" sz="1600">
                <a:solidFill>
                  <a:schemeClr val="bg1"/>
                </a:solidFill>
                <a:latin typeface="Montserrat"/>
                <a:ea typeface="+mn-lt"/>
                <a:cs typeface="+mn-lt"/>
              </a:rPr>
              <a:t>solo soporta métodos </a:t>
            </a:r>
            <a:r>
              <a:rPr lang="es-ES" sz="1600" b="1">
                <a:solidFill>
                  <a:schemeClr val="bg1"/>
                </a:solidFill>
                <a:latin typeface="Montserrat"/>
                <a:ea typeface="+mn-lt"/>
                <a:cs typeface="+mn-lt"/>
              </a:rPr>
              <a:t>GET </a:t>
            </a:r>
            <a:r>
              <a:rPr lang="es-ES" sz="1600">
                <a:solidFill>
                  <a:schemeClr val="bg1"/>
                </a:solidFill>
                <a:latin typeface="Montserrat"/>
                <a:ea typeface="+mn-lt"/>
                <a:cs typeface="+mn-lt"/>
              </a:rPr>
              <a:t>y </a:t>
            </a:r>
            <a:r>
              <a:rPr lang="es-ES" sz="1600" b="1">
                <a:solidFill>
                  <a:schemeClr val="bg1"/>
                </a:solidFill>
                <a:latin typeface="Montserrat"/>
                <a:ea typeface="+mn-lt"/>
                <a:cs typeface="+mn-lt"/>
              </a:rPr>
              <a:t>POST </a:t>
            </a:r>
            <a:r>
              <a:rPr lang="es-ES" sz="1600">
                <a:solidFill>
                  <a:schemeClr val="bg1"/>
                </a:solidFill>
                <a:latin typeface="Montserrat"/>
                <a:ea typeface="+mn-lt"/>
                <a:cs typeface="+mn-lt"/>
              </a:rPr>
              <a:t>para formularios. </a:t>
            </a:r>
            <a:endParaRPr lang="es-ES">
              <a:solidFill>
                <a:schemeClr val="bg1"/>
              </a:solidFill>
              <a:latin typeface="Montserrat"/>
            </a:endParaRPr>
          </a:p>
          <a:p>
            <a:pPr algn="ctr"/>
            <a:endParaRPr lang="es-ES">
              <a:latin typeface="Montserrat"/>
            </a:endParaRPr>
          </a:p>
          <a:p>
            <a:pPr algn="ctr"/>
            <a:r>
              <a:rPr lang="es-ES" sz="1600">
                <a:solidFill>
                  <a:schemeClr val="bg1"/>
                </a:solidFill>
                <a:latin typeface="Montserrat"/>
                <a:ea typeface="+mn-lt"/>
                <a:cs typeface="+mn-lt"/>
              </a:rPr>
              <a:t>Los métodos </a:t>
            </a:r>
            <a:r>
              <a:rPr lang="es-ES" sz="1600" b="1">
                <a:solidFill>
                  <a:schemeClr val="bg1"/>
                </a:solidFill>
                <a:latin typeface="Montserrat"/>
                <a:ea typeface="+mn-lt"/>
                <a:cs typeface="+mn-lt"/>
              </a:rPr>
              <a:t>PUT, PATCH </a:t>
            </a:r>
            <a:r>
              <a:rPr lang="es-ES" sz="1600">
                <a:solidFill>
                  <a:schemeClr val="bg1"/>
                </a:solidFill>
                <a:latin typeface="Montserrat"/>
                <a:ea typeface="+mn-lt"/>
                <a:cs typeface="+mn-lt"/>
              </a:rPr>
              <a:t>y </a:t>
            </a:r>
            <a:r>
              <a:rPr lang="es-ES" sz="1600" b="1">
                <a:solidFill>
                  <a:schemeClr val="bg1"/>
                </a:solidFill>
                <a:latin typeface="Montserrat"/>
                <a:ea typeface="+mn-lt"/>
                <a:cs typeface="+mn-lt"/>
              </a:rPr>
              <a:t>DELETE</a:t>
            </a:r>
            <a:r>
              <a:rPr lang="es-ES" sz="1600">
                <a:solidFill>
                  <a:schemeClr val="bg1"/>
                </a:solidFill>
                <a:latin typeface="Montserrat"/>
                <a:ea typeface="+mn-lt"/>
                <a:cs typeface="+mn-lt"/>
              </a:rPr>
              <a:t> no son nativamente compatibles con formularios HTML.</a:t>
            </a:r>
            <a:endParaRPr lang="es-ES">
              <a:solidFill>
                <a:schemeClr val="bg1"/>
              </a:solidFill>
              <a:latin typeface="Montserrat"/>
              <a:ea typeface="+mn-lt"/>
              <a:cs typeface="+mn-lt"/>
            </a:endParaRPr>
          </a:p>
        </p:txBody>
      </p:sp>
      <p:pic>
        <p:nvPicPr>
          <p:cNvPr id="20" name="Imagen 19" descr="HTML and CSS for beginners | Udemy">
            <a:extLst>
              <a:ext uri="{FF2B5EF4-FFF2-40B4-BE49-F238E27FC236}">
                <a16:creationId xmlns:a16="http://schemas.microsoft.com/office/drawing/2014/main" id="{AC232028-936F-A1E4-3CFC-F202BFEC3A42}"/>
              </a:ext>
            </a:extLst>
          </p:cNvPr>
          <p:cNvPicPr>
            <a:picLocks noChangeAspect="1"/>
          </p:cNvPicPr>
          <p:nvPr/>
        </p:nvPicPr>
        <p:blipFill rotWithShape="1">
          <a:blip r:embed="rId3"/>
          <a:srcRect t="-1597" r="53025" b="2132"/>
          <a:stretch/>
        </p:blipFill>
        <p:spPr>
          <a:xfrm>
            <a:off x="10340369" y="1189199"/>
            <a:ext cx="896417" cy="1053404"/>
          </a:xfrm>
          <a:prstGeom prst="rect">
            <a:avLst/>
          </a:prstGeom>
          <a:ln>
            <a:solidFill>
              <a:schemeClr val="bg1"/>
            </a:solidFill>
          </a:ln>
        </p:spPr>
      </p:pic>
    </p:spTree>
    <p:extLst>
      <p:ext uri="{BB962C8B-B14F-4D97-AF65-F5344CB8AC3E}">
        <p14:creationId xmlns:p14="http://schemas.microsoft.com/office/powerpoint/2010/main" val="22042781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975D5F-3083-1EF5-C86C-E4F5A64AC628}"/>
              </a:ext>
            </a:extLst>
          </p:cNvPr>
          <p:cNvSpPr>
            <a:spLocks noGrp="1"/>
          </p:cNvSpPr>
          <p:nvPr>
            <p:ph type="title"/>
          </p:nvPr>
        </p:nvSpPr>
        <p:spPr>
          <a:xfrm>
            <a:off x="7928659" y="2569580"/>
            <a:ext cx="3649725" cy="2129742"/>
          </a:xfrm>
        </p:spPr>
        <p:txBody>
          <a:bodyPr>
            <a:normAutofit/>
          </a:bodyPr>
          <a:lstStyle/>
          <a:p>
            <a:r>
              <a:rPr lang="es-ES" dirty="0">
                <a:latin typeface="Arial"/>
                <a:cs typeface="Arial"/>
              </a:rPr>
              <a:t>Conceptos de HTTP</a:t>
            </a:r>
            <a:endParaRPr lang="es-ES" dirty="0"/>
          </a:p>
        </p:txBody>
      </p:sp>
    </p:spTree>
    <p:extLst>
      <p:ext uri="{BB962C8B-B14F-4D97-AF65-F5344CB8AC3E}">
        <p14:creationId xmlns:p14="http://schemas.microsoft.com/office/powerpoint/2010/main" val="23609300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41317" y="551041"/>
            <a:ext cx="5906037" cy="429580"/>
          </a:xfrm>
        </p:spPr>
        <p:txBody>
          <a:bodyPr vert="horz" lIns="91440" tIns="45720" rIns="91440" bIns="45720" rtlCol="0" anchor="t">
            <a:noAutofit/>
          </a:bodyPr>
          <a:lstStyle/>
          <a:p>
            <a:pPr marL="227965" indent="-227965"/>
            <a:r>
              <a:rPr lang="es-CL">
                <a:solidFill>
                  <a:srgbClr val="000000"/>
                </a:solidFill>
                <a:latin typeface="Arial"/>
                <a:cs typeface="Arial"/>
              </a:rPr>
              <a:t>¿Qué es HTTP?</a:t>
            </a:r>
            <a:endParaRPr lang="es-ES"/>
          </a:p>
        </p:txBody>
      </p:sp>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57705" y="1142310"/>
            <a:ext cx="11024171" cy="87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defTabSz="914400">
              <a:lnSpc>
                <a:spcPct val="150000"/>
              </a:lnSpc>
              <a:spcBef>
                <a:spcPct val="0"/>
              </a:spcBef>
              <a:spcAft>
                <a:spcPct val="0"/>
              </a:spcAft>
              <a:buNone/>
            </a:pPr>
            <a:r>
              <a:rPr lang="es-ES" sz="1800">
                <a:latin typeface="Arial"/>
                <a:cs typeface="Arial"/>
              </a:rPr>
              <a:t>HTTP </a:t>
            </a:r>
            <a:r>
              <a:rPr lang="es-ES" sz="1800" b="1">
                <a:solidFill>
                  <a:srgbClr val="4E7CDD"/>
                </a:solidFill>
                <a:latin typeface="Arial"/>
                <a:cs typeface="Arial"/>
              </a:rPr>
              <a:t>(</a:t>
            </a:r>
            <a:r>
              <a:rPr lang="es-ES" sz="1800" b="1" err="1">
                <a:solidFill>
                  <a:srgbClr val="4E7CDD"/>
                </a:solidFill>
                <a:latin typeface="Arial"/>
                <a:cs typeface="Arial"/>
              </a:rPr>
              <a:t>HyperText</a:t>
            </a:r>
            <a:r>
              <a:rPr lang="es-ES" sz="1800" b="1">
                <a:solidFill>
                  <a:srgbClr val="4E7CDD"/>
                </a:solidFill>
                <a:latin typeface="Arial"/>
                <a:cs typeface="Arial"/>
              </a:rPr>
              <a:t> Transfer </a:t>
            </a:r>
            <a:r>
              <a:rPr lang="es-ES" sz="1800" b="1" err="1">
                <a:solidFill>
                  <a:srgbClr val="4E7CDD"/>
                </a:solidFill>
                <a:latin typeface="Arial"/>
                <a:cs typeface="Arial"/>
              </a:rPr>
              <a:t>Protocol</a:t>
            </a:r>
            <a:r>
              <a:rPr lang="es-ES" sz="1800" b="1">
                <a:solidFill>
                  <a:srgbClr val="4E7CDD"/>
                </a:solidFill>
                <a:latin typeface="Arial"/>
                <a:cs typeface="Arial"/>
              </a:rPr>
              <a:t>)</a:t>
            </a:r>
            <a:r>
              <a:rPr lang="es-ES" sz="1800">
                <a:latin typeface="Arial"/>
                <a:cs typeface="Arial"/>
              </a:rPr>
              <a:t> es el protocolo utilizado por la web para la transferencia de documentos y datos</a:t>
            </a:r>
            <a:r>
              <a:rPr kumimoji="0" lang="es-ES" sz="1800" b="0" i="0" u="none" strike="noStrike" cap="none" normalizeH="0" baseline="0">
                <a:ln>
                  <a:noFill/>
                </a:ln>
                <a:effectLst/>
                <a:latin typeface="Arial"/>
                <a:cs typeface="Arial"/>
              </a:rPr>
              <a:t>.</a:t>
            </a:r>
            <a:endParaRPr lang="es-ES"/>
          </a:p>
        </p:txBody>
      </p:sp>
      <p:sp>
        <p:nvSpPr>
          <p:cNvPr id="8" name="Rectángulo: esquinas redondeadas 7">
            <a:extLst>
              <a:ext uri="{FF2B5EF4-FFF2-40B4-BE49-F238E27FC236}">
                <a16:creationId xmlns:a16="http://schemas.microsoft.com/office/drawing/2014/main" id="{8D159CFC-BF80-6893-FC4A-3B603603EFAF}"/>
              </a:ext>
            </a:extLst>
          </p:cNvPr>
          <p:cNvSpPr/>
          <p:nvPr/>
        </p:nvSpPr>
        <p:spPr>
          <a:xfrm>
            <a:off x="796832" y="2523715"/>
            <a:ext cx="4771243" cy="521367"/>
          </a:xfrm>
          <a:prstGeom prst="roundRect">
            <a:avLst/>
          </a:prstGeom>
          <a:solidFill>
            <a:srgbClr val="4E7CDD"/>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600">
                <a:latin typeface="Montserrat"/>
                <a:ea typeface="+mn-lt"/>
                <a:cs typeface="+mn-lt"/>
              </a:rPr>
              <a:t>El usuario ingresa una URL en el navegador.</a:t>
            </a:r>
            <a:endParaRPr lang="es-ES">
              <a:latin typeface="Montserrat"/>
              <a:ea typeface="+mn-lt"/>
              <a:cs typeface="+mn-lt"/>
            </a:endParaRPr>
          </a:p>
        </p:txBody>
      </p:sp>
      <p:sp>
        <p:nvSpPr>
          <p:cNvPr id="11" name="Rectángulo: esquinas redondeadas 10">
            <a:extLst>
              <a:ext uri="{FF2B5EF4-FFF2-40B4-BE49-F238E27FC236}">
                <a16:creationId xmlns:a16="http://schemas.microsoft.com/office/drawing/2014/main" id="{ABF4295B-7CB8-FDED-88C9-D7361725DA8F}"/>
              </a:ext>
            </a:extLst>
          </p:cNvPr>
          <p:cNvSpPr/>
          <p:nvPr/>
        </p:nvSpPr>
        <p:spPr>
          <a:xfrm>
            <a:off x="798927" y="4558946"/>
            <a:ext cx="4776904" cy="807493"/>
          </a:xfrm>
          <a:prstGeom prst="roundRect">
            <a:avLst/>
          </a:prstGeom>
          <a:solidFill>
            <a:srgbClr val="00B050"/>
          </a:solidFill>
          <a:ln>
            <a:solidFill>
              <a:schemeClr val="tx1">
                <a:lumMod val="65000"/>
                <a:lumOff val="35000"/>
              </a:schemeClr>
            </a:solid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600">
                <a:solidFill>
                  <a:schemeClr val="bg1"/>
                </a:solidFill>
                <a:latin typeface="Montserrat"/>
                <a:ea typeface="+mn-lt"/>
                <a:cs typeface="+mn-lt"/>
              </a:rPr>
              <a:t>El navegador envía una solicitud HTTP al servidor web correspondiente.</a:t>
            </a:r>
            <a:endParaRPr lang="es-ES">
              <a:solidFill>
                <a:schemeClr val="bg1"/>
              </a:solidFill>
              <a:latin typeface="Montserrat"/>
              <a:ea typeface="+mn-lt"/>
              <a:cs typeface="+mn-lt"/>
            </a:endParaRPr>
          </a:p>
        </p:txBody>
      </p:sp>
      <p:pic>
        <p:nvPicPr>
          <p:cNvPr id="14" name="Imagen 13" descr="Texto, Sitio web&#10;&#10;Descripción generada automáticamente">
            <a:extLst>
              <a:ext uri="{FF2B5EF4-FFF2-40B4-BE49-F238E27FC236}">
                <a16:creationId xmlns:a16="http://schemas.microsoft.com/office/drawing/2014/main" id="{2C2180C6-0A99-6306-D119-7DBA14EAB6D1}"/>
              </a:ext>
            </a:extLst>
          </p:cNvPr>
          <p:cNvPicPr>
            <a:picLocks noChangeAspect="1"/>
          </p:cNvPicPr>
          <p:nvPr/>
        </p:nvPicPr>
        <p:blipFill rotWithShape="1">
          <a:blip r:embed="rId3"/>
          <a:srcRect l="-1437" t="13766" r="-242" b="25974"/>
          <a:stretch/>
        </p:blipFill>
        <p:spPr>
          <a:xfrm>
            <a:off x="6110811" y="2644111"/>
            <a:ext cx="4782057" cy="522405"/>
          </a:xfrm>
          <a:prstGeom prst="rect">
            <a:avLst/>
          </a:prstGeom>
        </p:spPr>
      </p:pic>
      <p:pic>
        <p:nvPicPr>
          <p:cNvPr id="16" name="Imagen 15" descr="Icono&#10;&#10;Descripción generada automáticamente">
            <a:extLst>
              <a:ext uri="{FF2B5EF4-FFF2-40B4-BE49-F238E27FC236}">
                <a16:creationId xmlns:a16="http://schemas.microsoft.com/office/drawing/2014/main" id="{EE52D93B-BBAC-EB64-72EA-E452D4D710E2}"/>
              </a:ext>
            </a:extLst>
          </p:cNvPr>
          <p:cNvPicPr>
            <a:picLocks noChangeAspect="1"/>
          </p:cNvPicPr>
          <p:nvPr/>
        </p:nvPicPr>
        <p:blipFill>
          <a:blip r:embed="rId4"/>
          <a:stretch>
            <a:fillRect/>
          </a:stretch>
        </p:blipFill>
        <p:spPr>
          <a:xfrm>
            <a:off x="6488671" y="3577377"/>
            <a:ext cx="4098167" cy="2783147"/>
          </a:xfrm>
          <a:prstGeom prst="rect">
            <a:avLst/>
          </a:prstGeom>
        </p:spPr>
      </p:pic>
    </p:spTree>
    <p:extLst>
      <p:ext uri="{BB962C8B-B14F-4D97-AF65-F5344CB8AC3E}">
        <p14:creationId xmlns:p14="http://schemas.microsoft.com/office/powerpoint/2010/main" val="1874293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41317" y="551041"/>
            <a:ext cx="5906037" cy="429580"/>
          </a:xfrm>
        </p:spPr>
        <p:txBody>
          <a:bodyPr vert="horz" lIns="91440" tIns="45720" rIns="91440" bIns="45720" rtlCol="0" anchor="t">
            <a:noAutofit/>
          </a:bodyPr>
          <a:lstStyle/>
          <a:p>
            <a:pPr marL="227965" indent="-227965"/>
            <a:r>
              <a:rPr lang="es-CL">
                <a:solidFill>
                  <a:srgbClr val="000000"/>
                </a:solidFill>
                <a:latin typeface="Arial"/>
                <a:cs typeface="Arial"/>
              </a:rPr>
              <a:t>¿Qué es HTTP?</a:t>
            </a:r>
            <a:endParaRPr lang="es-ES"/>
          </a:p>
        </p:txBody>
      </p:sp>
      <p:sp>
        <p:nvSpPr>
          <p:cNvPr id="9" name="Rectángulo: esquinas redondeadas 8">
            <a:extLst>
              <a:ext uri="{FF2B5EF4-FFF2-40B4-BE49-F238E27FC236}">
                <a16:creationId xmlns:a16="http://schemas.microsoft.com/office/drawing/2014/main" id="{FFB4D878-72C0-08A0-C217-A67101AEFCAE}"/>
              </a:ext>
            </a:extLst>
          </p:cNvPr>
          <p:cNvSpPr/>
          <p:nvPr/>
        </p:nvSpPr>
        <p:spPr>
          <a:xfrm>
            <a:off x="795566" y="1296055"/>
            <a:ext cx="4780258" cy="828840"/>
          </a:xfrm>
          <a:prstGeom prst="roundRect">
            <a:avLst/>
          </a:prstGeom>
          <a:solidFill>
            <a:srgbClr val="0F9ED5"/>
          </a:solidFill>
          <a:ln>
            <a:solidFill>
              <a:schemeClr val="tx1">
                <a:lumMod val="65000"/>
                <a:lumOff val="35000"/>
              </a:schemeClr>
            </a:solidFill>
          </a:ln>
        </p:spPr>
        <p:style>
          <a:lnRef idx="0">
            <a:schemeClr val="accent4"/>
          </a:lnRef>
          <a:fillRef idx="3">
            <a:schemeClr val="accent4"/>
          </a:fillRef>
          <a:effectRef idx="3">
            <a:schemeClr val="accent4"/>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600">
                <a:solidFill>
                  <a:schemeClr val="bg1"/>
                </a:solidFill>
                <a:latin typeface="Montserrat"/>
                <a:ea typeface="+mn-lt"/>
                <a:cs typeface="+mn-lt"/>
              </a:rPr>
              <a:t>El servidor web responde con el archivo HTML de la página web.</a:t>
            </a:r>
            <a:endParaRPr lang="es-ES">
              <a:latin typeface="Montserrat"/>
            </a:endParaRPr>
          </a:p>
        </p:txBody>
      </p:sp>
      <p:sp>
        <p:nvSpPr>
          <p:cNvPr id="10" name="Rectángulo: esquinas redondeadas 9">
            <a:extLst>
              <a:ext uri="{FF2B5EF4-FFF2-40B4-BE49-F238E27FC236}">
                <a16:creationId xmlns:a16="http://schemas.microsoft.com/office/drawing/2014/main" id="{E4F79CCA-7C7B-BAAD-3719-4F6746B81460}"/>
              </a:ext>
            </a:extLst>
          </p:cNvPr>
          <p:cNvSpPr/>
          <p:nvPr/>
        </p:nvSpPr>
        <p:spPr>
          <a:xfrm>
            <a:off x="745623" y="4656903"/>
            <a:ext cx="4828629" cy="876823"/>
          </a:xfrm>
          <a:prstGeom prst="roundRect">
            <a:avLst/>
          </a:prstGeom>
          <a:solidFill>
            <a:srgbClr val="9B50C0"/>
          </a:solidFill>
          <a:ln>
            <a:solidFill>
              <a:schemeClr val="tx1">
                <a:lumMod val="65000"/>
                <a:lumOff val="35000"/>
              </a:schemeClr>
            </a:solidFill>
          </a:ln>
        </p:spPr>
        <p:style>
          <a:lnRef idx="0">
            <a:schemeClr val="accent5"/>
          </a:lnRef>
          <a:fillRef idx="3">
            <a:schemeClr val="accent5"/>
          </a:fillRef>
          <a:effectRef idx="3">
            <a:schemeClr val="accent5"/>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600">
                <a:solidFill>
                  <a:schemeClr val="bg1"/>
                </a:solidFill>
                <a:latin typeface="Montserrat"/>
                <a:ea typeface="+mn-lt"/>
                <a:cs typeface="+mn-lt"/>
              </a:rPr>
              <a:t>El navegador renderiza la página web completa para el usuario.</a:t>
            </a:r>
            <a:endParaRPr lang="es-ES">
              <a:solidFill>
                <a:schemeClr val="bg1"/>
              </a:solidFill>
              <a:latin typeface="Montserrat"/>
            </a:endParaRPr>
          </a:p>
        </p:txBody>
      </p:sp>
      <p:sp>
        <p:nvSpPr>
          <p:cNvPr id="12" name="Rectángulo: esquinas redondeadas 11">
            <a:extLst>
              <a:ext uri="{FF2B5EF4-FFF2-40B4-BE49-F238E27FC236}">
                <a16:creationId xmlns:a16="http://schemas.microsoft.com/office/drawing/2014/main" id="{B59FA1EF-84E9-F4E6-253E-D1545372F7F5}"/>
              </a:ext>
            </a:extLst>
          </p:cNvPr>
          <p:cNvSpPr/>
          <p:nvPr/>
        </p:nvSpPr>
        <p:spPr>
          <a:xfrm>
            <a:off x="803853" y="2548953"/>
            <a:ext cx="4783149" cy="884331"/>
          </a:xfrm>
          <a:prstGeom prst="roundRect">
            <a:avLst/>
          </a:prstGeom>
          <a:solidFill>
            <a:srgbClr val="F9B71C"/>
          </a:solidFill>
          <a:ln>
            <a:solidFill>
              <a:schemeClr val="tx1">
                <a:lumMod val="65000"/>
                <a:lumOff val="35000"/>
              </a:schemeClr>
            </a:solidFill>
          </a:ln>
        </p:spPr>
        <p:style>
          <a:lnRef idx="0">
            <a:schemeClr val="accent2"/>
          </a:lnRef>
          <a:fillRef idx="3">
            <a:schemeClr val="accent2"/>
          </a:fillRef>
          <a:effectRef idx="3">
            <a:schemeClr val="accent2"/>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600">
                <a:solidFill>
                  <a:schemeClr val="bg1"/>
                </a:solidFill>
                <a:latin typeface="Montserrat"/>
                <a:ea typeface="+mn-lt"/>
                <a:cs typeface="+mn-lt"/>
              </a:rPr>
              <a:t>El navegador analiza el HTML y descarga los recursos adicionales (CSS, JavaScript, imágenes, etc.).</a:t>
            </a:r>
            <a:endParaRPr lang="es-ES">
              <a:solidFill>
                <a:schemeClr val="bg1"/>
              </a:solidFill>
              <a:latin typeface="Montserrat"/>
            </a:endParaRPr>
          </a:p>
        </p:txBody>
      </p:sp>
      <p:pic>
        <p:nvPicPr>
          <p:cNvPr id="13" name="Imagen 12" descr="Interfaz de usuario gráfica, Sitio web&#10;&#10;Descripción generada automáticamente">
            <a:extLst>
              <a:ext uri="{FF2B5EF4-FFF2-40B4-BE49-F238E27FC236}">
                <a16:creationId xmlns:a16="http://schemas.microsoft.com/office/drawing/2014/main" id="{EF22D2D2-7682-AEED-67F4-D7A5E0F4958C}"/>
              </a:ext>
            </a:extLst>
          </p:cNvPr>
          <p:cNvPicPr>
            <a:picLocks noChangeAspect="1"/>
          </p:cNvPicPr>
          <p:nvPr/>
        </p:nvPicPr>
        <p:blipFill>
          <a:blip r:embed="rId3"/>
          <a:stretch>
            <a:fillRect/>
          </a:stretch>
        </p:blipFill>
        <p:spPr>
          <a:xfrm>
            <a:off x="6346860" y="3832372"/>
            <a:ext cx="4808724" cy="2286258"/>
          </a:xfrm>
          <a:prstGeom prst="rect">
            <a:avLst/>
          </a:prstGeom>
        </p:spPr>
      </p:pic>
      <p:pic>
        <p:nvPicPr>
          <p:cNvPr id="14" name="Imagen 13">
            <a:extLst>
              <a:ext uri="{FF2B5EF4-FFF2-40B4-BE49-F238E27FC236}">
                <a16:creationId xmlns:a16="http://schemas.microsoft.com/office/drawing/2014/main" id="{120AF6B1-81E3-EF67-5544-E34A1EAD4201}"/>
              </a:ext>
            </a:extLst>
          </p:cNvPr>
          <p:cNvPicPr>
            <a:picLocks noChangeAspect="1"/>
          </p:cNvPicPr>
          <p:nvPr/>
        </p:nvPicPr>
        <p:blipFill>
          <a:blip r:embed="rId4"/>
          <a:stretch>
            <a:fillRect/>
          </a:stretch>
        </p:blipFill>
        <p:spPr>
          <a:xfrm>
            <a:off x="6351652" y="786222"/>
            <a:ext cx="4768918" cy="2667000"/>
          </a:xfrm>
          <a:prstGeom prst="rect">
            <a:avLst/>
          </a:prstGeom>
        </p:spPr>
      </p:pic>
    </p:spTree>
    <p:extLst>
      <p:ext uri="{BB962C8B-B14F-4D97-AF65-F5344CB8AC3E}">
        <p14:creationId xmlns:p14="http://schemas.microsoft.com/office/powerpoint/2010/main" val="20385072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41317" y="551041"/>
            <a:ext cx="5906037" cy="429580"/>
          </a:xfrm>
        </p:spPr>
        <p:txBody>
          <a:bodyPr vert="horz" lIns="91440" tIns="45720" rIns="91440" bIns="45720" rtlCol="0" anchor="t">
            <a:noAutofit/>
          </a:bodyPr>
          <a:lstStyle/>
          <a:p>
            <a:pPr marL="227965" indent="-227965"/>
            <a:r>
              <a:rPr lang="es-CL">
                <a:solidFill>
                  <a:srgbClr val="000000"/>
                </a:solidFill>
                <a:latin typeface="Arial"/>
                <a:cs typeface="Arial"/>
              </a:rPr>
              <a:t>Métodos de HTTP</a:t>
            </a:r>
            <a:endParaRPr lang="es-CL"/>
          </a:p>
        </p:txBody>
      </p:sp>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35934" y="1076075"/>
            <a:ext cx="11024171" cy="128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defTabSz="914400">
              <a:lnSpc>
                <a:spcPct val="150000"/>
              </a:lnSpc>
              <a:spcBef>
                <a:spcPct val="0"/>
              </a:spcBef>
              <a:spcAft>
                <a:spcPct val="0"/>
              </a:spcAft>
              <a:buNone/>
            </a:pPr>
            <a:r>
              <a:rPr lang="es-ES" sz="1800">
                <a:latin typeface="Arial"/>
                <a:cs typeface="Arial"/>
              </a:rPr>
              <a:t>Son las </a:t>
            </a:r>
            <a:r>
              <a:rPr lang="es-ES" sz="1800" b="1">
                <a:solidFill>
                  <a:srgbClr val="4E7CDD"/>
                </a:solidFill>
                <a:latin typeface="Arial"/>
                <a:cs typeface="Arial"/>
              </a:rPr>
              <a:t>acciones </a:t>
            </a:r>
            <a:r>
              <a:rPr lang="es-ES" sz="1800">
                <a:latin typeface="Arial"/>
                <a:cs typeface="Arial"/>
              </a:rPr>
              <a:t>que se pueden realizar sobre los recursos en una arquitectura web, como solicitar, crear, actualizar o eliminar información. Cada uno tiene un propósito y semántica específica para interactuar con los recursos en el servidor</a:t>
            </a:r>
            <a:r>
              <a:rPr kumimoji="0" lang="es-ES" sz="1800" b="0" i="0" u="none" strike="noStrike" cap="none" normalizeH="0" baseline="0">
                <a:ln>
                  <a:noFill/>
                </a:ln>
                <a:effectLst/>
                <a:latin typeface="Arial"/>
                <a:cs typeface="Arial"/>
              </a:rPr>
              <a:t>.</a:t>
            </a:r>
            <a:endParaRPr lang="es-ES"/>
          </a:p>
        </p:txBody>
      </p:sp>
      <p:sp>
        <p:nvSpPr>
          <p:cNvPr id="8" name="Rectángulo: esquinas redondeadas 7">
            <a:extLst>
              <a:ext uri="{FF2B5EF4-FFF2-40B4-BE49-F238E27FC236}">
                <a16:creationId xmlns:a16="http://schemas.microsoft.com/office/drawing/2014/main" id="{8D159CFC-BF80-6893-FC4A-3B603603EFAF}"/>
              </a:ext>
            </a:extLst>
          </p:cNvPr>
          <p:cNvSpPr/>
          <p:nvPr/>
        </p:nvSpPr>
        <p:spPr>
          <a:xfrm>
            <a:off x="2663326" y="2608852"/>
            <a:ext cx="2250793" cy="733232"/>
          </a:xfrm>
          <a:prstGeom prst="roundRect">
            <a:avLst/>
          </a:prstGeom>
          <a:solidFill>
            <a:srgbClr val="4E7CDD"/>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2800" b="1">
                <a:latin typeface="Montserrat"/>
                <a:ea typeface="+mn-lt"/>
                <a:cs typeface="+mn-lt"/>
              </a:rPr>
              <a:t>GET</a:t>
            </a:r>
            <a:endParaRPr lang="es-ES" sz="2800" b="1">
              <a:latin typeface="Montserrat"/>
            </a:endParaRPr>
          </a:p>
        </p:txBody>
      </p:sp>
      <p:sp>
        <p:nvSpPr>
          <p:cNvPr id="10" name="Rectángulo: esquinas redondeadas 9">
            <a:extLst>
              <a:ext uri="{FF2B5EF4-FFF2-40B4-BE49-F238E27FC236}">
                <a16:creationId xmlns:a16="http://schemas.microsoft.com/office/drawing/2014/main" id="{E4F79CCA-7C7B-BAAD-3719-4F6746B81460}"/>
              </a:ext>
            </a:extLst>
          </p:cNvPr>
          <p:cNvSpPr/>
          <p:nvPr/>
        </p:nvSpPr>
        <p:spPr>
          <a:xfrm>
            <a:off x="2661508" y="5157645"/>
            <a:ext cx="2259600" cy="735309"/>
          </a:xfrm>
          <a:prstGeom prst="roundRect">
            <a:avLst/>
          </a:prstGeom>
          <a:solidFill>
            <a:srgbClr val="BB0034"/>
          </a:solidFill>
          <a:ln>
            <a:solidFill>
              <a:schemeClr val="tx1">
                <a:lumMod val="65000"/>
                <a:lumOff val="35000"/>
              </a:schemeClr>
            </a:solidFill>
          </a:ln>
        </p:spPr>
        <p:style>
          <a:lnRef idx="0">
            <a:schemeClr val="accent5"/>
          </a:lnRef>
          <a:fillRef idx="3">
            <a:schemeClr val="accent5"/>
          </a:fillRef>
          <a:effectRef idx="3">
            <a:schemeClr val="accent5"/>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2800" b="1">
                <a:solidFill>
                  <a:schemeClr val="bg1"/>
                </a:solidFill>
                <a:latin typeface="Montserrat"/>
                <a:ea typeface="+mn-lt"/>
                <a:cs typeface="+mn-lt"/>
              </a:rPr>
              <a:t>DELETE</a:t>
            </a:r>
          </a:p>
        </p:txBody>
      </p:sp>
      <p:sp>
        <p:nvSpPr>
          <p:cNvPr id="11" name="Rectángulo: esquinas redondeadas 10">
            <a:extLst>
              <a:ext uri="{FF2B5EF4-FFF2-40B4-BE49-F238E27FC236}">
                <a16:creationId xmlns:a16="http://schemas.microsoft.com/office/drawing/2014/main" id="{ABF4295B-7CB8-FDED-88C9-D7361725DA8F}"/>
              </a:ext>
            </a:extLst>
          </p:cNvPr>
          <p:cNvSpPr/>
          <p:nvPr/>
        </p:nvSpPr>
        <p:spPr>
          <a:xfrm>
            <a:off x="2660709" y="3461438"/>
            <a:ext cx="2251253" cy="734705"/>
          </a:xfrm>
          <a:prstGeom prst="roundRect">
            <a:avLst/>
          </a:prstGeom>
          <a:solidFill>
            <a:srgbClr val="00B050"/>
          </a:solidFill>
          <a:ln>
            <a:solidFill>
              <a:schemeClr val="tx1">
                <a:lumMod val="65000"/>
                <a:lumOff val="35000"/>
              </a:schemeClr>
            </a:solid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2800" b="1">
                <a:solidFill>
                  <a:schemeClr val="bg1"/>
                </a:solidFill>
                <a:latin typeface="Montserrat"/>
                <a:ea typeface="+mn-lt"/>
                <a:cs typeface="+mn-lt"/>
              </a:rPr>
              <a:t>POST</a:t>
            </a:r>
          </a:p>
        </p:txBody>
      </p:sp>
      <p:sp>
        <p:nvSpPr>
          <p:cNvPr id="12" name="Rectángulo: esquinas redondeadas 11">
            <a:extLst>
              <a:ext uri="{FF2B5EF4-FFF2-40B4-BE49-F238E27FC236}">
                <a16:creationId xmlns:a16="http://schemas.microsoft.com/office/drawing/2014/main" id="{B59FA1EF-84E9-F4E6-253E-D1545372F7F5}"/>
              </a:ext>
            </a:extLst>
          </p:cNvPr>
          <p:cNvSpPr/>
          <p:nvPr/>
        </p:nvSpPr>
        <p:spPr>
          <a:xfrm>
            <a:off x="2639801" y="4316013"/>
            <a:ext cx="2268549" cy="721045"/>
          </a:xfrm>
          <a:prstGeom prst="roundRect">
            <a:avLst/>
          </a:prstGeom>
          <a:solidFill>
            <a:srgbClr val="F9B71C"/>
          </a:solidFill>
          <a:ln>
            <a:solidFill>
              <a:schemeClr val="tx1">
                <a:lumMod val="65000"/>
                <a:lumOff val="35000"/>
              </a:schemeClr>
            </a:solidFill>
          </a:ln>
        </p:spPr>
        <p:style>
          <a:lnRef idx="0">
            <a:schemeClr val="accent2"/>
          </a:lnRef>
          <a:fillRef idx="3">
            <a:schemeClr val="accent2"/>
          </a:fillRef>
          <a:effectRef idx="3">
            <a:schemeClr val="accent2"/>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2800" b="1">
                <a:solidFill>
                  <a:schemeClr val="bg1"/>
                </a:solidFill>
                <a:latin typeface="Montserrat"/>
                <a:ea typeface="+mn-lt"/>
                <a:cs typeface="+mn-lt"/>
              </a:rPr>
              <a:t>PUT</a:t>
            </a:r>
            <a:endParaRPr lang="es-ES" sz="2800">
              <a:solidFill>
                <a:schemeClr val="bg1"/>
              </a:solidFill>
              <a:latin typeface="Montserrat"/>
              <a:ea typeface="+mn-lt"/>
              <a:cs typeface="+mn-lt"/>
            </a:endParaRPr>
          </a:p>
        </p:txBody>
      </p:sp>
      <p:sp>
        <p:nvSpPr>
          <p:cNvPr id="3" name="Rectángulo: esquinas redondeadas 2">
            <a:extLst>
              <a:ext uri="{FF2B5EF4-FFF2-40B4-BE49-F238E27FC236}">
                <a16:creationId xmlns:a16="http://schemas.microsoft.com/office/drawing/2014/main" id="{1B0C4B48-4D7A-B9D0-198D-CA8B480BAFF1}"/>
              </a:ext>
            </a:extLst>
          </p:cNvPr>
          <p:cNvSpPr/>
          <p:nvPr/>
        </p:nvSpPr>
        <p:spPr>
          <a:xfrm>
            <a:off x="7048515" y="4316013"/>
            <a:ext cx="2268549" cy="721045"/>
          </a:xfrm>
          <a:prstGeom prst="roundRect">
            <a:avLst/>
          </a:prstGeom>
          <a:solidFill>
            <a:srgbClr val="F9B71C"/>
          </a:solidFill>
          <a:ln>
            <a:solidFill>
              <a:schemeClr val="tx1">
                <a:lumMod val="65000"/>
                <a:lumOff val="35000"/>
              </a:schemeClr>
            </a:solidFill>
          </a:ln>
        </p:spPr>
        <p:style>
          <a:lnRef idx="0">
            <a:schemeClr val="accent2"/>
          </a:lnRef>
          <a:fillRef idx="3">
            <a:schemeClr val="accent2"/>
          </a:fillRef>
          <a:effectRef idx="3">
            <a:schemeClr val="accent2"/>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2800" b="1">
                <a:solidFill>
                  <a:schemeClr val="bg1"/>
                </a:solidFill>
                <a:latin typeface="Montserrat"/>
                <a:ea typeface="+mn-lt"/>
                <a:cs typeface="+mn-lt"/>
              </a:rPr>
              <a:t>PATCH</a:t>
            </a:r>
            <a:endParaRPr lang="es-ES" sz="2800">
              <a:solidFill>
                <a:schemeClr val="bg1"/>
              </a:solidFill>
              <a:latin typeface="Montserrat"/>
              <a:ea typeface="+mn-lt"/>
              <a:cs typeface="+mn-lt"/>
            </a:endParaRPr>
          </a:p>
        </p:txBody>
      </p:sp>
      <p:sp>
        <p:nvSpPr>
          <p:cNvPr id="5" name="Rectángulo: esquinas redondeadas 4">
            <a:extLst>
              <a:ext uri="{FF2B5EF4-FFF2-40B4-BE49-F238E27FC236}">
                <a16:creationId xmlns:a16="http://schemas.microsoft.com/office/drawing/2014/main" id="{10321EE5-6109-E382-E599-624F68E7E084}"/>
              </a:ext>
            </a:extLst>
          </p:cNvPr>
          <p:cNvSpPr/>
          <p:nvPr/>
        </p:nvSpPr>
        <p:spPr>
          <a:xfrm>
            <a:off x="7072040" y="2608852"/>
            <a:ext cx="2250793" cy="733232"/>
          </a:xfrm>
          <a:prstGeom prst="roundRect">
            <a:avLst/>
          </a:prstGeom>
          <a:solidFill>
            <a:schemeClr val="bg2">
              <a:lumMod val="25000"/>
            </a:schemeClr>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2800" b="1">
                <a:latin typeface="Montserrat"/>
                <a:ea typeface="+mn-lt"/>
                <a:cs typeface="+mn-lt"/>
              </a:rPr>
              <a:t>HEAD</a:t>
            </a:r>
            <a:endParaRPr lang="es-ES" sz="2800" b="1">
              <a:latin typeface="Montserrat"/>
            </a:endParaRPr>
          </a:p>
        </p:txBody>
      </p:sp>
      <p:sp>
        <p:nvSpPr>
          <p:cNvPr id="6" name="Rectángulo: esquinas redondeadas 5">
            <a:extLst>
              <a:ext uri="{FF2B5EF4-FFF2-40B4-BE49-F238E27FC236}">
                <a16:creationId xmlns:a16="http://schemas.microsoft.com/office/drawing/2014/main" id="{DF5EC1F4-87FE-595B-90DE-34549BD714B4}"/>
              </a:ext>
            </a:extLst>
          </p:cNvPr>
          <p:cNvSpPr/>
          <p:nvPr/>
        </p:nvSpPr>
        <p:spPr>
          <a:xfrm>
            <a:off x="7069423" y="3461438"/>
            <a:ext cx="2251253" cy="734705"/>
          </a:xfrm>
          <a:prstGeom prst="roundRect">
            <a:avLst/>
          </a:prstGeom>
          <a:solidFill>
            <a:schemeClr val="tx2">
              <a:lumMod val="90000"/>
              <a:lumOff val="10000"/>
            </a:schemeClr>
          </a:solidFill>
          <a:ln>
            <a:solidFill>
              <a:schemeClr val="tx1">
                <a:lumMod val="65000"/>
                <a:lumOff val="35000"/>
              </a:schemeClr>
            </a:solid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2800" b="1">
                <a:solidFill>
                  <a:schemeClr val="bg1"/>
                </a:solidFill>
                <a:latin typeface="Montserrat"/>
              </a:rPr>
              <a:t>OPTIONS</a:t>
            </a:r>
          </a:p>
        </p:txBody>
      </p:sp>
    </p:spTree>
    <p:extLst>
      <p:ext uri="{BB962C8B-B14F-4D97-AF65-F5344CB8AC3E}">
        <p14:creationId xmlns:p14="http://schemas.microsoft.com/office/powerpoint/2010/main" val="2365440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41317" y="551041"/>
            <a:ext cx="5906037" cy="429580"/>
          </a:xfrm>
        </p:spPr>
        <p:txBody>
          <a:bodyPr vert="horz" lIns="91440" tIns="45720" rIns="91440" bIns="45720" rtlCol="0" anchor="t">
            <a:noAutofit/>
          </a:bodyPr>
          <a:lstStyle/>
          <a:p>
            <a:pPr marL="227965" indent="-227965"/>
            <a:r>
              <a:rPr lang="es-CL">
                <a:solidFill>
                  <a:srgbClr val="000000"/>
                </a:solidFill>
                <a:latin typeface="Arial"/>
                <a:cs typeface="Arial"/>
              </a:rPr>
              <a:t>Método GET</a:t>
            </a:r>
            <a:endParaRPr lang="es-CL"/>
          </a:p>
        </p:txBody>
      </p:sp>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46372" y="1119024"/>
            <a:ext cx="10895019"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defTabSz="914400">
              <a:lnSpc>
                <a:spcPct val="150000"/>
              </a:lnSpc>
              <a:spcBef>
                <a:spcPct val="0"/>
              </a:spcBef>
              <a:spcAft>
                <a:spcPct val="0"/>
              </a:spcAft>
              <a:buNone/>
            </a:pPr>
            <a:r>
              <a:rPr lang="es-ES" sz="1800">
                <a:latin typeface="Arial"/>
                <a:cs typeface="Arial"/>
              </a:rPr>
              <a:t>El método </a:t>
            </a:r>
            <a:r>
              <a:rPr lang="es-ES" sz="1800" b="1">
                <a:solidFill>
                  <a:srgbClr val="4E7CDD"/>
                </a:solidFill>
                <a:latin typeface="Arial"/>
                <a:cs typeface="Arial"/>
              </a:rPr>
              <a:t>GET </a:t>
            </a:r>
            <a:r>
              <a:rPr lang="es-ES" sz="1800">
                <a:latin typeface="Arial"/>
                <a:cs typeface="Arial"/>
              </a:rPr>
              <a:t>se utiliza para </a:t>
            </a:r>
            <a:r>
              <a:rPr lang="es-ES" sz="1800" b="1">
                <a:solidFill>
                  <a:srgbClr val="4E7CDD"/>
                </a:solidFill>
                <a:latin typeface="Arial"/>
                <a:cs typeface="Arial"/>
              </a:rPr>
              <a:t>solicitar datos de un servidor.</a:t>
            </a:r>
            <a:r>
              <a:rPr lang="es-ES" sz="1800">
                <a:latin typeface="Arial"/>
                <a:cs typeface="Arial"/>
              </a:rPr>
              <a:t> Es una operación de solo lectura y no modifica los datos en el servidor</a:t>
            </a:r>
            <a:r>
              <a:rPr kumimoji="0" lang="es-ES" sz="1800" b="0" i="0" u="none" strike="noStrike" cap="none" normalizeH="0" baseline="0">
                <a:ln>
                  <a:noFill/>
                </a:ln>
                <a:effectLst/>
                <a:latin typeface="Arial"/>
                <a:cs typeface="Arial"/>
              </a:rPr>
              <a:t>.</a:t>
            </a:r>
            <a:r>
              <a:rPr lang="es-ES" sz="1800">
                <a:latin typeface="Arial"/>
                <a:cs typeface="Arial"/>
              </a:rPr>
              <a:t> </a:t>
            </a:r>
            <a:endParaRPr lang="es-ES" sz="1800"/>
          </a:p>
          <a:p>
            <a:pPr marL="0" indent="0" algn="just" defTabSz="914400">
              <a:lnSpc>
                <a:spcPct val="150000"/>
              </a:lnSpc>
              <a:spcBef>
                <a:spcPct val="0"/>
              </a:spcBef>
              <a:spcAft>
                <a:spcPct val="0"/>
              </a:spcAft>
              <a:buNone/>
            </a:pPr>
            <a:endParaRPr lang="es-ES" sz="1800">
              <a:latin typeface="Arial"/>
              <a:cs typeface="Arial"/>
            </a:endParaRPr>
          </a:p>
          <a:p>
            <a:pPr marL="0" indent="0" algn="just" defTabSz="914400">
              <a:lnSpc>
                <a:spcPct val="150000"/>
              </a:lnSpc>
              <a:spcBef>
                <a:spcPct val="0"/>
              </a:spcBef>
              <a:spcAft>
                <a:spcPct val="0"/>
              </a:spcAft>
              <a:buNone/>
            </a:pPr>
            <a:r>
              <a:rPr lang="es-ES" sz="1800">
                <a:latin typeface="Arial"/>
                <a:cs typeface="Arial"/>
              </a:rPr>
              <a:t>Siempre que navegamos por internet o en una aplicación utilizamos este método para obtener recursos.</a:t>
            </a:r>
            <a:endParaRPr lang="es-ES" sz="1800"/>
          </a:p>
        </p:txBody>
      </p:sp>
      <p:sp>
        <p:nvSpPr>
          <p:cNvPr id="8" name="Rectángulo: esquinas redondeadas 7">
            <a:extLst>
              <a:ext uri="{FF2B5EF4-FFF2-40B4-BE49-F238E27FC236}">
                <a16:creationId xmlns:a16="http://schemas.microsoft.com/office/drawing/2014/main" id="{8D159CFC-BF80-6893-FC4A-3B603603EFAF}"/>
              </a:ext>
            </a:extLst>
          </p:cNvPr>
          <p:cNvSpPr/>
          <p:nvPr/>
        </p:nvSpPr>
        <p:spPr>
          <a:xfrm>
            <a:off x="10307003" y="547213"/>
            <a:ext cx="1117563" cy="381540"/>
          </a:xfrm>
          <a:prstGeom prst="roundRect">
            <a:avLst/>
          </a:prstGeom>
          <a:solidFill>
            <a:srgbClr val="4E7CDD"/>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2000" b="1">
                <a:latin typeface="Montserrat"/>
                <a:ea typeface="+mn-lt"/>
                <a:cs typeface="+mn-lt"/>
              </a:rPr>
              <a:t>GET</a:t>
            </a:r>
            <a:endParaRPr lang="es-ES" sz="2000" b="1">
              <a:latin typeface="Montserrat"/>
            </a:endParaRPr>
          </a:p>
        </p:txBody>
      </p:sp>
      <p:pic>
        <p:nvPicPr>
          <p:cNvPr id="13" name="Imagen 12" descr="Interfaz de usuario gráfica, Escala de tiempo&#10;&#10;Descripción generada automáticamente">
            <a:extLst>
              <a:ext uri="{FF2B5EF4-FFF2-40B4-BE49-F238E27FC236}">
                <a16:creationId xmlns:a16="http://schemas.microsoft.com/office/drawing/2014/main" id="{115D562B-F2C9-201E-9601-D0BE20F7120C}"/>
              </a:ext>
            </a:extLst>
          </p:cNvPr>
          <p:cNvPicPr>
            <a:picLocks noChangeAspect="1"/>
          </p:cNvPicPr>
          <p:nvPr/>
        </p:nvPicPr>
        <p:blipFill>
          <a:blip r:embed="rId3"/>
          <a:stretch>
            <a:fillRect/>
          </a:stretch>
        </p:blipFill>
        <p:spPr>
          <a:xfrm>
            <a:off x="3587312" y="2945162"/>
            <a:ext cx="5012411" cy="3189100"/>
          </a:xfrm>
          <a:prstGeom prst="rect">
            <a:avLst/>
          </a:prstGeom>
          <a:ln>
            <a:solidFill>
              <a:schemeClr val="bg1"/>
            </a:solidFill>
          </a:ln>
        </p:spPr>
      </p:pic>
    </p:spTree>
    <p:extLst>
      <p:ext uri="{BB962C8B-B14F-4D97-AF65-F5344CB8AC3E}">
        <p14:creationId xmlns:p14="http://schemas.microsoft.com/office/powerpoint/2010/main" val="1040933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41317" y="551041"/>
            <a:ext cx="5906037" cy="429580"/>
          </a:xfrm>
        </p:spPr>
        <p:txBody>
          <a:bodyPr vert="horz" lIns="91440" tIns="45720" rIns="91440" bIns="45720" rtlCol="0" anchor="t">
            <a:noAutofit/>
          </a:bodyPr>
          <a:lstStyle/>
          <a:p>
            <a:pPr marL="227965" indent="-227965"/>
            <a:r>
              <a:rPr lang="es-CL">
                <a:solidFill>
                  <a:srgbClr val="000000"/>
                </a:solidFill>
                <a:latin typeface="Arial"/>
                <a:cs typeface="Arial"/>
              </a:rPr>
              <a:t>Método POST</a:t>
            </a:r>
            <a:endParaRPr lang="es-CL"/>
          </a:p>
        </p:txBody>
      </p:sp>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46372" y="1146871"/>
            <a:ext cx="10895019" cy="154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defTabSz="914400">
              <a:lnSpc>
                <a:spcPct val="150000"/>
              </a:lnSpc>
              <a:spcBef>
                <a:spcPct val="0"/>
              </a:spcBef>
              <a:spcAft>
                <a:spcPct val="0"/>
              </a:spcAft>
              <a:buNone/>
            </a:pPr>
            <a:r>
              <a:rPr lang="es-ES" sz="1800">
                <a:latin typeface="Arial"/>
                <a:cs typeface="Arial"/>
              </a:rPr>
              <a:t>El método </a:t>
            </a:r>
            <a:r>
              <a:rPr lang="es-ES" sz="1800" b="1">
                <a:solidFill>
                  <a:srgbClr val="4E7CDD"/>
                </a:solidFill>
                <a:latin typeface="Arial"/>
                <a:cs typeface="Arial"/>
              </a:rPr>
              <a:t>POST </a:t>
            </a:r>
            <a:r>
              <a:rPr lang="es-ES" sz="1800">
                <a:latin typeface="Arial"/>
                <a:cs typeface="Arial"/>
              </a:rPr>
              <a:t>se utiliza para</a:t>
            </a:r>
            <a:r>
              <a:rPr lang="es-ES" sz="1800" b="1">
                <a:solidFill>
                  <a:srgbClr val="4E7CDD"/>
                </a:solidFill>
                <a:latin typeface="Arial"/>
                <a:cs typeface="Arial"/>
              </a:rPr>
              <a:t> enviar datos al servidor</a:t>
            </a:r>
            <a:r>
              <a:rPr lang="es-ES" sz="1800">
                <a:latin typeface="Arial"/>
                <a:cs typeface="Arial"/>
              </a:rPr>
              <a:t> con el fin de crear un nuevo recurso.</a:t>
            </a:r>
            <a:endParaRPr lang="es-ES"/>
          </a:p>
          <a:p>
            <a:pPr marL="227965" indent="-227965" algn="just" defTabSz="914400">
              <a:lnSpc>
                <a:spcPct val="150000"/>
              </a:lnSpc>
              <a:buNone/>
            </a:pPr>
            <a:r>
              <a:rPr lang="es-ES" sz="1800">
                <a:latin typeface="Arial"/>
                <a:cs typeface="Arial"/>
              </a:rPr>
              <a:t>Se utiliza para enviar formularios, archivos, etc.</a:t>
            </a:r>
          </a:p>
          <a:p>
            <a:pPr marL="227965" indent="-227965" algn="just" defTabSz="914400">
              <a:lnSpc>
                <a:spcPct val="150000"/>
              </a:lnSpc>
              <a:buNone/>
            </a:pPr>
            <a:r>
              <a:rPr lang="es-ES" sz="1800">
                <a:latin typeface="Arial"/>
                <a:cs typeface="Arial"/>
              </a:rPr>
              <a:t>Los datos enviados se incluyen en el cuerpo de la solicitud. </a:t>
            </a:r>
            <a:endParaRPr lang="es-ES"/>
          </a:p>
        </p:txBody>
      </p:sp>
      <p:sp>
        <p:nvSpPr>
          <p:cNvPr id="6" name="Rectángulo: esquinas redondeadas 5">
            <a:extLst>
              <a:ext uri="{FF2B5EF4-FFF2-40B4-BE49-F238E27FC236}">
                <a16:creationId xmlns:a16="http://schemas.microsoft.com/office/drawing/2014/main" id="{4B127DC4-32D0-5607-9A81-0CB4108765BE}"/>
              </a:ext>
            </a:extLst>
          </p:cNvPr>
          <p:cNvSpPr/>
          <p:nvPr/>
        </p:nvSpPr>
        <p:spPr>
          <a:xfrm>
            <a:off x="9438237" y="575044"/>
            <a:ext cx="1334271" cy="385994"/>
          </a:xfrm>
          <a:prstGeom prst="roundRect">
            <a:avLst/>
          </a:prstGeom>
          <a:solidFill>
            <a:srgbClr val="00B050"/>
          </a:solidFill>
          <a:ln>
            <a:solidFill>
              <a:schemeClr val="tx1">
                <a:lumMod val="65000"/>
                <a:lumOff val="35000"/>
              </a:schemeClr>
            </a:solid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b="1">
                <a:solidFill>
                  <a:schemeClr val="bg1"/>
                </a:solidFill>
                <a:latin typeface="Montserrat"/>
                <a:ea typeface="+mn-lt"/>
                <a:cs typeface="+mn-lt"/>
              </a:rPr>
              <a:t>POST</a:t>
            </a:r>
          </a:p>
        </p:txBody>
      </p:sp>
      <p:pic>
        <p:nvPicPr>
          <p:cNvPr id="9" name="Imagen 8" descr="Imagen que contiene Texto&#10;&#10;Descripción generada automáticamente">
            <a:extLst>
              <a:ext uri="{FF2B5EF4-FFF2-40B4-BE49-F238E27FC236}">
                <a16:creationId xmlns:a16="http://schemas.microsoft.com/office/drawing/2014/main" id="{EF9E50B0-6B19-8C54-3EA8-F7B81CBF5A55}"/>
              </a:ext>
            </a:extLst>
          </p:cNvPr>
          <p:cNvPicPr>
            <a:picLocks noChangeAspect="1"/>
          </p:cNvPicPr>
          <p:nvPr/>
        </p:nvPicPr>
        <p:blipFill>
          <a:blip r:embed="rId3"/>
          <a:stretch>
            <a:fillRect/>
          </a:stretch>
        </p:blipFill>
        <p:spPr>
          <a:xfrm>
            <a:off x="7563254" y="1922998"/>
            <a:ext cx="3213154" cy="1106837"/>
          </a:xfrm>
          <a:prstGeom prst="rect">
            <a:avLst/>
          </a:prstGeom>
        </p:spPr>
      </p:pic>
      <p:pic>
        <p:nvPicPr>
          <p:cNvPr id="10" name="Imagen 9" descr="Captura de pantalla de un celular&#10;&#10;Descripción generada automáticamente">
            <a:extLst>
              <a:ext uri="{FF2B5EF4-FFF2-40B4-BE49-F238E27FC236}">
                <a16:creationId xmlns:a16="http://schemas.microsoft.com/office/drawing/2014/main" id="{B3D8B49A-6849-1627-FAD6-1EA4D5481BFB}"/>
              </a:ext>
            </a:extLst>
          </p:cNvPr>
          <p:cNvPicPr>
            <a:picLocks noChangeAspect="1"/>
          </p:cNvPicPr>
          <p:nvPr/>
        </p:nvPicPr>
        <p:blipFill>
          <a:blip r:embed="rId4"/>
          <a:stretch>
            <a:fillRect/>
          </a:stretch>
        </p:blipFill>
        <p:spPr>
          <a:xfrm>
            <a:off x="1497341" y="3247639"/>
            <a:ext cx="9273980" cy="2821257"/>
          </a:xfrm>
          <a:prstGeom prst="rect">
            <a:avLst/>
          </a:prstGeom>
          <a:ln>
            <a:solidFill>
              <a:schemeClr val="tx1">
                <a:lumMod val="50000"/>
                <a:lumOff val="50000"/>
              </a:schemeClr>
            </a:solidFill>
          </a:ln>
        </p:spPr>
      </p:pic>
    </p:spTree>
    <p:extLst>
      <p:ext uri="{BB962C8B-B14F-4D97-AF65-F5344CB8AC3E}">
        <p14:creationId xmlns:p14="http://schemas.microsoft.com/office/powerpoint/2010/main" val="2978943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41317" y="551041"/>
            <a:ext cx="5906037" cy="429580"/>
          </a:xfrm>
        </p:spPr>
        <p:txBody>
          <a:bodyPr vert="horz" lIns="91440" tIns="45720" rIns="91440" bIns="45720" rtlCol="0" anchor="t">
            <a:noAutofit/>
          </a:bodyPr>
          <a:lstStyle/>
          <a:p>
            <a:pPr marL="227965" indent="-227965"/>
            <a:r>
              <a:rPr lang="es-CL">
                <a:solidFill>
                  <a:srgbClr val="000000"/>
                </a:solidFill>
                <a:latin typeface="Arial"/>
                <a:cs typeface="Arial"/>
              </a:rPr>
              <a:t>Método PUT </a:t>
            </a:r>
            <a:endParaRPr lang="es-CL"/>
          </a:p>
        </p:txBody>
      </p:sp>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33457" y="1018658"/>
            <a:ext cx="10895019" cy="115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defTabSz="914400">
              <a:lnSpc>
                <a:spcPct val="150000"/>
              </a:lnSpc>
              <a:spcBef>
                <a:spcPct val="0"/>
              </a:spcBef>
              <a:spcAft>
                <a:spcPct val="0"/>
              </a:spcAft>
              <a:buNone/>
            </a:pPr>
            <a:r>
              <a:rPr lang="es-ES" sz="1600">
                <a:latin typeface="Arial"/>
                <a:cs typeface="Arial"/>
              </a:rPr>
              <a:t>El método </a:t>
            </a:r>
            <a:r>
              <a:rPr lang="es-ES" sz="1600" b="1">
                <a:solidFill>
                  <a:srgbClr val="4E7CDD"/>
                </a:solidFill>
                <a:latin typeface="Arial"/>
                <a:cs typeface="Arial"/>
              </a:rPr>
              <a:t>PUT </a:t>
            </a:r>
            <a:r>
              <a:rPr lang="es-ES" sz="1600">
                <a:latin typeface="Arial"/>
                <a:cs typeface="Arial"/>
              </a:rPr>
              <a:t>se utiliza para </a:t>
            </a:r>
            <a:r>
              <a:rPr lang="es-ES" sz="1600" b="1">
                <a:solidFill>
                  <a:srgbClr val="4E7CDD"/>
                </a:solidFill>
                <a:latin typeface="Arial"/>
                <a:cs typeface="Arial"/>
              </a:rPr>
              <a:t>reemplazar por completo un recurso existente</a:t>
            </a:r>
            <a:r>
              <a:rPr lang="es-ES" sz="1600">
                <a:latin typeface="Arial"/>
                <a:cs typeface="Arial"/>
              </a:rPr>
              <a:t> en el servidor con un nuevo conjunto de datos. Cuando se envía una solicitud </a:t>
            </a:r>
            <a:r>
              <a:rPr lang="es-ES" sz="1600" b="1">
                <a:solidFill>
                  <a:srgbClr val="4E7CDD"/>
                </a:solidFill>
                <a:latin typeface="Arial"/>
                <a:cs typeface="Arial"/>
              </a:rPr>
              <a:t>PUT</a:t>
            </a:r>
            <a:r>
              <a:rPr lang="es-ES" sz="1600">
                <a:latin typeface="Arial"/>
                <a:cs typeface="Arial"/>
              </a:rPr>
              <a:t>, se deben incluir todos los campos del recurso en el cuerpo de la solicitud, incluso si algunos de ellos no han cambiado.</a:t>
            </a:r>
            <a:endParaRPr lang="es-ES" sz="1600"/>
          </a:p>
        </p:txBody>
      </p:sp>
      <p:sp>
        <p:nvSpPr>
          <p:cNvPr id="5" name="Rectángulo: esquinas redondeadas 4">
            <a:extLst>
              <a:ext uri="{FF2B5EF4-FFF2-40B4-BE49-F238E27FC236}">
                <a16:creationId xmlns:a16="http://schemas.microsoft.com/office/drawing/2014/main" id="{8DDBC7AB-E16B-8083-B724-18D4FBAE2814}"/>
              </a:ext>
            </a:extLst>
          </p:cNvPr>
          <p:cNvSpPr/>
          <p:nvPr/>
        </p:nvSpPr>
        <p:spPr>
          <a:xfrm>
            <a:off x="10350208" y="583504"/>
            <a:ext cx="1196584" cy="385250"/>
          </a:xfrm>
          <a:prstGeom prst="roundRect">
            <a:avLst/>
          </a:prstGeom>
          <a:solidFill>
            <a:srgbClr val="F9B71C"/>
          </a:solidFill>
          <a:ln>
            <a:solidFill>
              <a:schemeClr val="tx1">
                <a:lumMod val="65000"/>
                <a:lumOff val="35000"/>
              </a:schemeClr>
            </a:solidFill>
          </a:ln>
        </p:spPr>
        <p:style>
          <a:lnRef idx="0">
            <a:schemeClr val="accent2"/>
          </a:lnRef>
          <a:fillRef idx="3">
            <a:schemeClr val="accent2"/>
          </a:fillRef>
          <a:effectRef idx="3">
            <a:schemeClr val="accent2"/>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2000" b="1">
                <a:solidFill>
                  <a:schemeClr val="bg1"/>
                </a:solidFill>
                <a:latin typeface="Montserrat"/>
                <a:ea typeface="+mn-lt"/>
                <a:cs typeface="+mn-lt"/>
              </a:rPr>
              <a:t>PUT</a:t>
            </a:r>
            <a:endParaRPr lang="es-ES" sz="2000">
              <a:solidFill>
                <a:schemeClr val="bg1"/>
              </a:solidFill>
              <a:latin typeface="Montserrat"/>
              <a:ea typeface="+mn-lt"/>
              <a:cs typeface="+mn-lt"/>
            </a:endParaRPr>
          </a:p>
        </p:txBody>
      </p:sp>
      <p:sp>
        <p:nvSpPr>
          <p:cNvPr id="8" name="Rectángulo: esquinas redondeadas 7">
            <a:extLst>
              <a:ext uri="{FF2B5EF4-FFF2-40B4-BE49-F238E27FC236}">
                <a16:creationId xmlns:a16="http://schemas.microsoft.com/office/drawing/2014/main" id="{51DA44EF-E510-ECDA-E079-EDD1753FC39E}"/>
              </a:ext>
            </a:extLst>
          </p:cNvPr>
          <p:cNvSpPr/>
          <p:nvPr/>
        </p:nvSpPr>
        <p:spPr>
          <a:xfrm>
            <a:off x="10341905" y="2559539"/>
            <a:ext cx="1209500" cy="423995"/>
          </a:xfrm>
          <a:prstGeom prst="roundRect">
            <a:avLst/>
          </a:prstGeom>
          <a:solidFill>
            <a:srgbClr val="F9B71C"/>
          </a:solidFill>
          <a:ln>
            <a:solidFill>
              <a:schemeClr val="tx1">
                <a:lumMod val="65000"/>
                <a:lumOff val="35000"/>
              </a:schemeClr>
            </a:solidFill>
          </a:ln>
        </p:spPr>
        <p:style>
          <a:lnRef idx="0">
            <a:schemeClr val="accent2"/>
          </a:lnRef>
          <a:fillRef idx="3">
            <a:schemeClr val="accent2"/>
          </a:fillRef>
          <a:effectRef idx="3">
            <a:schemeClr val="accent2"/>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2000" b="1">
                <a:solidFill>
                  <a:schemeClr val="bg1"/>
                </a:solidFill>
                <a:latin typeface="Montserrat"/>
                <a:ea typeface="+mn-lt"/>
                <a:cs typeface="+mn-lt"/>
              </a:rPr>
              <a:t>PATCH</a:t>
            </a:r>
            <a:endParaRPr lang="es-ES" sz="2000">
              <a:solidFill>
                <a:schemeClr val="bg1"/>
              </a:solidFill>
              <a:latin typeface="Montserrat"/>
              <a:ea typeface="+mn-lt"/>
              <a:cs typeface="+mn-lt"/>
            </a:endParaRPr>
          </a:p>
        </p:txBody>
      </p:sp>
      <p:pic>
        <p:nvPicPr>
          <p:cNvPr id="12" name="Imagen 11" descr="Forma, Rectángulo&#10;&#10;Descripción generada automáticamente">
            <a:extLst>
              <a:ext uri="{FF2B5EF4-FFF2-40B4-BE49-F238E27FC236}">
                <a16:creationId xmlns:a16="http://schemas.microsoft.com/office/drawing/2014/main" id="{AD6E9311-4C19-9468-DD62-09835BE71D19}"/>
              </a:ext>
            </a:extLst>
          </p:cNvPr>
          <p:cNvPicPr>
            <a:picLocks noChangeAspect="1"/>
          </p:cNvPicPr>
          <p:nvPr/>
        </p:nvPicPr>
        <p:blipFill>
          <a:blip r:embed="rId3"/>
          <a:stretch>
            <a:fillRect/>
          </a:stretch>
        </p:blipFill>
        <p:spPr>
          <a:xfrm>
            <a:off x="0" y="4689458"/>
            <a:ext cx="12192000" cy="1412928"/>
          </a:xfrm>
          <a:prstGeom prst="rect">
            <a:avLst/>
          </a:prstGeom>
        </p:spPr>
      </p:pic>
      <p:sp>
        <p:nvSpPr>
          <p:cNvPr id="14" name="Rectangle 1">
            <a:extLst>
              <a:ext uri="{FF2B5EF4-FFF2-40B4-BE49-F238E27FC236}">
                <a16:creationId xmlns:a16="http://schemas.microsoft.com/office/drawing/2014/main" id="{9B683A37-5E3C-6C2F-6D67-A086F12A54AB}"/>
              </a:ext>
            </a:extLst>
          </p:cNvPr>
          <p:cNvSpPr txBox="1">
            <a:spLocks noChangeArrowheads="1"/>
          </p:cNvSpPr>
          <p:nvPr/>
        </p:nvSpPr>
        <p:spPr bwMode="auto">
          <a:xfrm>
            <a:off x="254489" y="4808806"/>
            <a:ext cx="11684167" cy="1158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914400">
              <a:lnSpc>
                <a:spcPct val="150000"/>
              </a:lnSpc>
              <a:spcBef>
                <a:spcPct val="0"/>
              </a:spcBef>
              <a:spcAft>
                <a:spcPct val="0"/>
              </a:spcAft>
              <a:buNone/>
            </a:pPr>
            <a:r>
              <a:rPr lang="es-ES" sz="1600">
                <a:solidFill>
                  <a:schemeClr val="bg1"/>
                </a:solidFill>
                <a:latin typeface="Montserrat"/>
                <a:cs typeface="Arial"/>
              </a:rPr>
              <a:t>PUT reemplaza por completo un recurso, mientras que PATCH actualiza solo los campos especificados de un recurso existente. PATCH es más eficiente cuando solo se necesita actualizar una parte de un recurso, ya que reduce el tamaño de la solicitud y la carga de procesamiento en el servidor.</a:t>
            </a:r>
            <a:endParaRPr lang="es-ES" sz="1600">
              <a:solidFill>
                <a:schemeClr val="bg1"/>
              </a:solidFill>
              <a:latin typeface="Montserrat"/>
            </a:endParaRPr>
          </a:p>
        </p:txBody>
      </p:sp>
      <p:sp>
        <p:nvSpPr>
          <p:cNvPr id="16" name="Marcador de texto 1">
            <a:extLst>
              <a:ext uri="{FF2B5EF4-FFF2-40B4-BE49-F238E27FC236}">
                <a16:creationId xmlns:a16="http://schemas.microsoft.com/office/drawing/2014/main" id="{0E9E3034-4200-A4E7-27B4-1A8B624274C4}"/>
              </a:ext>
            </a:extLst>
          </p:cNvPr>
          <p:cNvSpPr txBox="1">
            <a:spLocks/>
          </p:cNvSpPr>
          <p:nvPr/>
        </p:nvSpPr>
        <p:spPr>
          <a:xfrm>
            <a:off x="651649" y="2563237"/>
            <a:ext cx="5906037" cy="429580"/>
          </a:xfrm>
          <a:prstGeom prst="rect">
            <a:avLst/>
          </a:prstGeom>
        </p:spPr>
        <p:txBody>
          <a:bodyPr vert="horz" lIns="91440" tIns="45720" rIns="91440" bIns="45720" rtlCol="0" anchor="t">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7965" indent="-227965"/>
            <a:r>
              <a:rPr lang="es-CL">
                <a:solidFill>
                  <a:srgbClr val="000000"/>
                </a:solidFill>
                <a:latin typeface="Arial"/>
                <a:cs typeface="Arial"/>
              </a:rPr>
              <a:t>Método PATCH</a:t>
            </a:r>
            <a:endParaRPr lang="es-CL"/>
          </a:p>
        </p:txBody>
      </p:sp>
      <p:sp>
        <p:nvSpPr>
          <p:cNvPr id="18" name="Rectangle 1">
            <a:extLst>
              <a:ext uri="{FF2B5EF4-FFF2-40B4-BE49-F238E27FC236}">
                <a16:creationId xmlns:a16="http://schemas.microsoft.com/office/drawing/2014/main" id="{C06C3E0E-F389-70C2-F81E-6561A43F8F42}"/>
              </a:ext>
            </a:extLst>
          </p:cNvPr>
          <p:cNvSpPr txBox="1">
            <a:spLocks noChangeArrowheads="1"/>
          </p:cNvSpPr>
          <p:nvPr/>
        </p:nvSpPr>
        <p:spPr bwMode="auto">
          <a:xfrm>
            <a:off x="643789" y="3130550"/>
            <a:ext cx="11050002" cy="1006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7965" indent="-227965" defTabSz="914400">
              <a:buNone/>
            </a:pPr>
            <a:r>
              <a:rPr lang="es-ES" sz="1600">
                <a:latin typeface="Arial"/>
                <a:cs typeface="Arial"/>
              </a:rPr>
              <a:t>El método </a:t>
            </a:r>
            <a:r>
              <a:rPr lang="es-ES" sz="1600" b="1">
                <a:solidFill>
                  <a:srgbClr val="4E7CDD"/>
                </a:solidFill>
                <a:latin typeface="Arial"/>
                <a:cs typeface="Arial"/>
              </a:rPr>
              <a:t>PATCH </a:t>
            </a:r>
            <a:r>
              <a:rPr lang="es-ES" sz="1600">
                <a:latin typeface="Arial"/>
                <a:cs typeface="Arial"/>
              </a:rPr>
              <a:t>se utiliza para realizar </a:t>
            </a:r>
            <a:r>
              <a:rPr lang="es-ES" sz="1600" b="1">
                <a:solidFill>
                  <a:srgbClr val="4E7CDD"/>
                </a:solidFill>
                <a:latin typeface="Arial"/>
                <a:cs typeface="Arial"/>
              </a:rPr>
              <a:t>una actualización parcial de un recurso existente</a:t>
            </a:r>
            <a:r>
              <a:rPr lang="es-ES" sz="1600">
                <a:latin typeface="Arial"/>
                <a:cs typeface="Arial"/>
              </a:rPr>
              <a:t> en el servidor. </a:t>
            </a:r>
            <a:endParaRPr lang="es-ES" sz="1600"/>
          </a:p>
          <a:p>
            <a:pPr marL="0" indent="0" defTabSz="914400">
              <a:lnSpc>
                <a:spcPct val="150000"/>
              </a:lnSpc>
              <a:spcBef>
                <a:spcPct val="0"/>
              </a:spcBef>
              <a:spcAft>
                <a:spcPct val="0"/>
              </a:spcAft>
              <a:buNone/>
            </a:pPr>
            <a:r>
              <a:rPr lang="es-ES" sz="1600">
                <a:latin typeface="Arial"/>
                <a:cs typeface="Arial"/>
              </a:rPr>
              <a:t>Cuando se envía una solicitud PATCH, solo se incluyen los campos del recurso que se van a actualizar en el cuerpo de la solicitud. Los campos que no se incluyen en la solicitud PATCH no se modifican.</a:t>
            </a:r>
            <a:endParaRPr lang="es-ES"/>
          </a:p>
        </p:txBody>
      </p:sp>
    </p:spTree>
    <p:extLst>
      <p:ext uri="{BB962C8B-B14F-4D97-AF65-F5344CB8AC3E}">
        <p14:creationId xmlns:p14="http://schemas.microsoft.com/office/powerpoint/2010/main" val="42681269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41317" y="551041"/>
            <a:ext cx="5906037" cy="429580"/>
          </a:xfrm>
        </p:spPr>
        <p:txBody>
          <a:bodyPr vert="horz" lIns="91440" tIns="45720" rIns="91440" bIns="45720" rtlCol="0" anchor="t">
            <a:noAutofit/>
          </a:bodyPr>
          <a:lstStyle/>
          <a:p>
            <a:pPr marL="227965" indent="-227965"/>
            <a:r>
              <a:rPr lang="es-CL">
                <a:solidFill>
                  <a:srgbClr val="000000"/>
                </a:solidFill>
                <a:latin typeface="Arial"/>
                <a:cs typeface="Arial"/>
              </a:rPr>
              <a:t>Método DELETE</a:t>
            </a:r>
            <a:endParaRPr lang="es-CL"/>
          </a:p>
        </p:txBody>
      </p:sp>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46372" y="1289131"/>
            <a:ext cx="10895019" cy="87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defTabSz="914400">
              <a:lnSpc>
                <a:spcPct val="150000"/>
              </a:lnSpc>
              <a:spcBef>
                <a:spcPct val="0"/>
              </a:spcBef>
              <a:spcAft>
                <a:spcPct val="0"/>
              </a:spcAft>
              <a:buNone/>
            </a:pPr>
            <a:r>
              <a:rPr lang="es-ES" sz="1800">
                <a:latin typeface="Arial"/>
                <a:cs typeface="Arial"/>
              </a:rPr>
              <a:t>El método </a:t>
            </a:r>
            <a:r>
              <a:rPr lang="es-ES" sz="1800" b="1">
                <a:solidFill>
                  <a:srgbClr val="4E7CDD"/>
                </a:solidFill>
                <a:latin typeface="Arial"/>
                <a:cs typeface="Arial"/>
              </a:rPr>
              <a:t>DELETE </a:t>
            </a:r>
            <a:r>
              <a:rPr lang="es-ES" sz="1800">
                <a:latin typeface="Arial"/>
                <a:cs typeface="Arial"/>
              </a:rPr>
              <a:t>se utiliza para </a:t>
            </a:r>
            <a:r>
              <a:rPr lang="es-ES" sz="1800" b="1">
                <a:solidFill>
                  <a:srgbClr val="4E7CDD"/>
                </a:solidFill>
                <a:latin typeface="Arial"/>
                <a:cs typeface="Arial"/>
              </a:rPr>
              <a:t>eliminar un recurso del servidor</a:t>
            </a:r>
            <a:r>
              <a:rPr lang="es-ES" sz="1800">
                <a:solidFill>
                  <a:srgbClr val="000000"/>
                </a:solidFill>
                <a:latin typeface="Arial"/>
                <a:cs typeface="Arial"/>
              </a:rPr>
              <a:t>, </a:t>
            </a:r>
            <a:r>
              <a:rPr lang="es-ES" sz="1800">
                <a:latin typeface="Arial"/>
                <a:cs typeface="Arial"/>
              </a:rPr>
              <a:t>no se incluyen datos en el cuerpo de la solicitud.</a:t>
            </a:r>
            <a:endParaRPr lang="es-ES" sz="1800"/>
          </a:p>
        </p:txBody>
      </p:sp>
      <p:sp>
        <p:nvSpPr>
          <p:cNvPr id="6" name="Rectángulo: esquinas redondeadas 5">
            <a:extLst>
              <a:ext uri="{FF2B5EF4-FFF2-40B4-BE49-F238E27FC236}">
                <a16:creationId xmlns:a16="http://schemas.microsoft.com/office/drawing/2014/main" id="{34A527EE-D8F0-278D-FB3F-7DE7A83AC476}"/>
              </a:ext>
            </a:extLst>
          </p:cNvPr>
          <p:cNvSpPr/>
          <p:nvPr/>
        </p:nvSpPr>
        <p:spPr>
          <a:xfrm>
            <a:off x="10139439" y="572730"/>
            <a:ext cx="1407194" cy="399513"/>
          </a:xfrm>
          <a:prstGeom prst="roundRect">
            <a:avLst/>
          </a:prstGeom>
          <a:solidFill>
            <a:srgbClr val="BB0034"/>
          </a:solidFill>
          <a:ln>
            <a:solidFill>
              <a:schemeClr val="tx1">
                <a:lumMod val="65000"/>
                <a:lumOff val="35000"/>
              </a:schemeClr>
            </a:solidFill>
          </a:ln>
        </p:spPr>
        <p:style>
          <a:lnRef idx="0">
            <a:schemeClr val="accent5"/>
          </a:lnRef>
          <a:fillRef idx="3">
            <a:schemeClr val="accent5"/>
          </a:fillRef>
          <a:effectRef idx="3">
            <a:schemeClr val="accent5"/>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2000" b="1">
                <a:solidFill>
                  <a:schemeClr val="bg1"/>
                </a:solidFill>
                <a:latin typeface="Montserrat"/>
                <a:ea typeface="+mn-lt"/>
                <a:cs typeface="+mn-lt"/>
              </a:rPr>
              <a:t>DELETE</a:t>
            </a:r>
          </a:p>
        </p:txBody>
      </p:sp>
      <p:sp>
        <p:nvSpPr>
          <p:cNvPr id="12" name="Marcador de texto 1">
            <a:extLst>
              <a:ext uri="{FF2B5EF4-FFF2-40B4-BE49-F238E27FC236}">
                <a16:creationId xmlns:a16="http://schemas.microsoft.com/office/drawing/2014/main" id="{FBD0119E-FAE5-FD5C-C39B-E068D6B4069B}"/>
              </a:ext>
            </a:extLst>
          </p:cNvPr>
          <p:cNvSpPr txBox="1">
            <a:spLocks/>
          </p:cNvSpPr>
          <p:nvPr/>
        </p:nvSpPr>
        <p:spPr>
          <a:xfrm>
            <a:off x="574158" y="2395339"/>
            <a:ext cx="5906037" cy="429580"/>
          </a:xfrm>
          <a:prstGeom prst="rect">
            <a:avLst/>
          </a:prstGeom>
        </p:spPr>
        <p:txBody>
          <a:bodyPr vert="horz" lIns="91440" tIns="45720" rIns="91440" bIns="45720" rtlCol="0" anchor="t">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7965" indent="-227965"/>
            <a:r>
              <a:rPr lang="es-CL">
                <a:solidFill>
                  <a:srgbClr val="000000"/>
                </a:solidFill>
                <a:latin typeface="Arial"/>
                <a:cs typeface="Arial"/>
              </a:rPr>
              <a:t>Método HEAD</a:t>
            </a:r>
            <a:endParaRPr lang="es-CL"/>
          </a:p>
        </p:txBody>
      </p:sp>
      <p:sp>
        <p:nvSpPr>
          <p:cNvPr id="14" name="Rectangle 1">
            <a:extLst>
              <a:ext uri="{FF2B5EF4-FFF2-40B4-BE49-F238E27FC236}">
                <a16:creationId xmlns:a16="http://schemas.microsoft.com/office/drawing/2014/main" id="{56A0EFC2-4E79-5B9A-F60E-9904996DA292}"/>
              </a:ext>
            </a:extLst>
          </p:cNvPr>
          <p:cNvSpPr txBox="1">
            <a:spLocks noChangeArrowheads="1"/>
          </p:cNvSpPr>
          <p:nvPr/>
        </p:nvSpPr>
        <p:spPr bwMode="auto">
          <a:xfrm>
            <a:off x="579213" y="3133429"/>
            <a:ext cx="10895019" cy="87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914400">
              <a:lnSpc>
                <a:spcPct val="150000"/>
              </a:lnSpc>
              <a:spcBef>
                <a:spcPct val="0"/>
              </a:spcBef>
              <a:spcAft>
                <a:spcPct val="0"/>
              </a:spcAft>
              <a:buNone/>
            </a:pPr>
            <a:r>
              <a:rPr lang="es-ES" sz="1800">
                <a:latin typeface="Arial"/>
                <a:cs typeface="Arial"/>
              </a:rPr>
              <a:t>El método </a:t>
            </a:r>
            <a:r>
              <a:rPr lang="es-ES" sz="1800" b="1">
                <a:solidFill>
                  <a:srgbClr val="4E7CDD"/>
                </a:solidFill>
                <a:latin typeface="Arial"/>
                <a:cs typeface="Arial"/>
              </a:rPr>
              <a:t>HEAD </a:t>
            </a:r>
            <a:r>
              <a:rPr lang="es-ES" sz="1800">
                <a:latin typeface="Arial"/>
                <a:cs typeface="Arial"/>
              </a:rPr>
              <a:t>es similar al método </a:t>
            </a:r>
            <a:r>
              <a:rPr lang="es-ES" sz="1800" b="1">
                <a:solidFill>
                  <a:srgbClr val="4E7CDD"/>
                </a:solidFill>
                <a:latin typeface="Arial"/>
                <a:cs typeface="Arial"/>
              </a:rPr>
              <a:t>GET</a:t>
            </a:r>
            <a:r>
              <a:rPr lang="es-ES" sz="1800">
                <a:latin typeface="Arial"/>
                <a:cs typeface="Arial"/>
              </a:rPr>
              <a:t>, pero en lugar de </a:t>
            </a:r>
            <a:r>
              <a:rPr lang="es-ES" sz="1800" b="1">
                <a:solidFill>
                  <a:srgbClr val="4E7CDD"/>
                </a:solidFill>
                <a:latin typeface="Arial"/>
                <a:cs typeface="Arial"/>
              </a:rPr>
              <a:t>devolver el cuerpo de la respuesta</a:t>
            </a:r>
            <a:r>
              <a:rPr lang="es-ES" sz="1800">
                <a:latin typeface="Arial"/>
                <a:cs typeface="Arial"/>
              </a:rPr>
              <a:t>, </a:t>
            </a:r>
            <a:r>
              <a:rPr lang="es-ES" sz="1800" b="1">
                <a:solidFill>
                  <a:srgbClr val="4E7CDD"/>
                </a:solidFill>
                <a:latin typeface="Arial"/>
                <a:cs typeface="Arial"/>
              </a:rPr>
              <a:t>solo devuelve los encabezados de la respuesta</a:t>
            </a:r>
            <a:r>
              <a:rPr lang="es-ES" sz="1800">
                <a:latin typeface="Arial"/>
                <a:cs typeface="Arial"/>
              </a:rPr>
              <a:t>.</a:t>
            </a:r>
            <a:endParaRPr lang="es-ES"/>
          </a:p>
        </p:txBody>
      </p:sp>
      <p:sp>
        <p:nvSpPr>
          <p:cNvPr id="16" name="Marcador de texto 1">
            <a:extLst>
              <a:ext uri="{FF2B5EF4-FFF2-40B4-BE49-F238E27FC236}">
                <a16:creationId xmlns:a16="http://schemas.microsoft.com/office/drawing/2014/main" id="{35E3D1CF-1445-977E-E2F6-4D26AFD43FE9}"/>
              </a:ext>
            </a:extLst>
          </p:cNvPr>
          <p:cNvSpPr txBox="1">
            <a:spLocks/>
          </p:cNvSpPr>
          <p:nvPr/>
        </p:nvSpPr>
        <p:spPr>
          <a:xfrm>
            <a:off x="587072" y="4306796"/>
            <a:ext cx="5906037" cy="429580"/>
          </a:xfrm>
          <a:prstGeom prst="rect">
            <a:avLst/>
          </a:prstGeom>
        </p:spPr>
        <p:txBody>
          <a:bodyPr vert="horz" lIns="91440" tIns="45720" rIns="91440" bIns="45720" rtlCol="0" anchor="t">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7965" indent="-227965"/>
            <a:r>
              <a:rPr lang="es-CL">
                <a:solidFill>
                  <a:srgbClr val="000000"/>
                </a:solidFill>
                <a:latin typeface="Arial"/>
                <a:cs typeface="Arial"/>
              </a:rPr>
              <a:t>Método OPTIONS</a:t>
            </a:r>
            <a:endParaRPr lang="es-CL"/>
          </a:p>
        </p:txBody>
      </p:sp>
      <p:sp>
        <p:nvSpPr>
          <p:cNvPr id="17" name="Rectangle 1">
            <a:extLst>
              <a:ext uri="{FF2B5EF4-FFF2-40B4-BE49-F238E27FC236}">
                <a16:creationId xmlns:a16="http://schemas.microsoft.com/office/drawing/2014/main" id="{03D6854A-1484-F9A6-9B71-6E193CA7FF90}"/>
              </a:ext>
            </a:extLst>
          </p:cNvPr>
          <p:cNvSpPr txBox="1">
            <a:spLocks noChangeArrowheads="1"/>
          </p:cNvSpPr>
          <p:nvPr/>
        </p:nvSpPr>
        <p:spPr bwMode="auto">
          <a:xfrm>
            <a:off x="592127" y="5044886"/>
            <a:ext cx="10895019" cy="87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914400">
              <a:lnSpc>
                <a:spcPct val="150000"/>
              </a:lnSpc>
              <a:spcBef>
                <a:spcPct val="0"/>
              </a:spcBef>
              <a:spcAft>
                <a:spcPct val="0"/>
              </a:spcAft>
              <a:buNone/>
            </a:pPr>
            <a:r>
              <a:rPr lang="es-ES" sz="1800">
                <a:latin typeface="Arial"/>
                <a:cs typeface="Arial"/>
              </a:rPr>
              <a:t>El método </a:t>
            </a:r>
            <a:r>
              <a:rPr lang="es-ES" sz="1800" b="1">
                <a:solidFill>
                  <a:srgbClr val="4E7CDD"/>
                </a:solidFill>
                <a:latin typeface="Arial"/>
                <a:cs typeface="Arial"/>
              </a:rPr>
              <a:t>OPTIONS </a:t>
            </a:r>
            <a:r>
              <a:rPr lang="es-ES" sz="1800">
                <a:latin typeface="Arial"/>
                <a:cs typeface="Arial"/>
              </a:rPr>
              <a:t>se utiliza para </a:t>
            </a:r>
            <a:r>
              <a:rPr lang="es-ES" sz="1800" b="1">
                <a:solidFill>
                  <a:srgbClr val="4E7CDD"/>
                </a:solidFill>
                <a:latin typeface="Arial"/>
                <a:cs typeface="Arial"/>
              </a:rPr>
              <a:t>solicitar información sobre las opciones de comunicación disponibles</a:t>
            </a:r>
            <a:r>
              <a:rPr lang="es-ES" sz="1800">
                <a:latin typeface="Arial"/>
                <a:cs typeface="Arial"/>
              </a:rPr>
              <a:t> para un recurso determinado o un servidor en general.</a:t>
            </a:r>
            <a:endParaRPr lang="es-ES"/>
          </a:p>
        </p:txBody>
      </p:sp>
      <p:sp>
        <p:nvSpPr>
          <p:cNvPr id="20" name="Rectángulo: esquinas redondeadas 19">
            <a:extLst>
              <a:ext uri="{FF2B5EF4-FFF2-40B4-BE49-F238E27FC236}">
                <a16:creationId xmlns:a16="http://schemas.microsoft.com/office/drawing/2014/main" id="{36BFC522-CAF2-17F8-3843-3D96A094A089}"/>
              </a:ext>
            </a:extLst>
          </p:cNvPr>
          <p:cNvSpPr/>
          <p:nvPr/>
        </p:nvSpPr>
        <p:spPr>
          <a:xfrm>
            <a:off x="10094209" y="2389293"/>
            <a:ext cx="1398387" cy="410351"/>
          </a:xfrm>
          <a:prstGeom prst="roundRect">
            <a:avLst/>
          </a:prstGeom>
          <a:solidFill>
            <a:schemeClr val="bg2">
              <a:lumMod val="25000"/>
            </a:schemeClr>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2000" b="1">
                <a:latin typeface="Montserrat"/>
                <a:ea typeface="+mn-lt"/>
                <a:cs typeface="+mn-lt"/>
              </a:rPr>
              <a:t>HEAD</a:t>
            </a:r>
            <a:endParaRPr lang="es-ES" sz="2000" b="1">
              <a:latin typeface="Montserrat"/>
            </a:endParaRPr>
          </a:p>
        </p:txBody>
      </p:sp>
      <p:sp>
        <p:nvSpPr>
          <p:cNvPr id="22" name="Rectángulo: esquinas redondeadas 21">
            <a:extLst>
              <a:ext uri="{FF2B5EF4-FFF2-40B4-BE49-F238E27FC236}">
                <a16:creationId xmlns:a16="http://schemas.microsoft.com/office/drawing/2014/main" id="{1D4553E8-468E-EADA-9A68-DC952CCCBBC1}"/>
              </a:ext>
            </a:extLst>
          </p:cNvPr>
          <p:cNvSpPr/>
          <p:nvPr/>
        </p:nvSpPr>
        <p:spPr>
          <a:xfrm>
            <a:off x="9988270" y="4081371"/>
            <a:ext cx="1553830" cy="450569"/>
          </a:xfrm>
          <a:prstGeom prst="roundRect">
            <a:avLst/>
          </a:prstGeom>
          <a:solidFill>
            <a:schemeClr val="tx2">
              <a:lumMod val="90000"/>
              <a:lumOff val="10000"/>
            </a:schemeClr>
          </a:solidFill>
          <a:ln>
            <a:solidFill>
              <a:schemeClr val="tx1">
                <a:lumMod val="65000"/>
                <a:lumOff val="35000"/>
              </a:schemeClr>
            </a:solid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2000" b="1">
                <a:solidFill>
                  <a:schemeClr val="bg1"/>
                </a:solidFill>
                <a:latin typeface="Montserrat"/>
              </a:rPr>
              <a:t>OPTIONS</a:t>
            </a:r>
          </a:p>
        </p:txBody>
      </p:sp>
    </p:spTree>
    <p:extLst>
      <p:ext uri="{BB962C8B-B14F-4D97-AF65-F5344CB8AC3E}">
        <p14:creationId xmlns:p14="http://schemas.microsoft.com/office/powerpoint/2010/main" val="1584121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41317" y="551041"/>
            <a:ext cx="5906037" cy="429580"/>
          </a:xfrm>
        </p:spPr>
        <p:txBody>
          <a:bodyPr vert="horz" lIns="91440" tIns="45720" rIns="91440" bIns="45720" rtlCol="0" anchor="t">
            <a:noAutofit/>
          </a:bodyPr>
          <a:lstStyle/>
          <a:p>
            <a:pPr marL="227965" indent="-227965"/>
            <a:r>
              <a:rPr lang="es-CL" dirty="0">
                <a:solidFill>
                  <a:srgbClr val="000000"/>
                </a:solidFill>
                <a:latin typeface="Arial"/>
                <a:cs typeface="Arial"/>
              </a:rPr>
              <a:t>Respuestas en HTTP</a:t>
            </a:r>
            <a:endParaRPr lang="es-CL" dirty="0"/>
          </a:p>
        </p:txBody>
      </p:sp>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46372" y="1126190"/>
            <a:ext cx="10895019"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defTabSz="914400">
              <a:lnSpc>
                <a:spcPct val="150000"/>
              </a:lnSpc>
              <a:spcBef>
                <a:spcPct val="0"/>
              </a:spcBef>
              <a:spcAft>
                <a:spcPct val="0"/>
              </a:spcAft>
              <a:buNone/>
            </a:pPr>
            <a:r>
              <a:rPr lang="es-ES" sz="1800" dirty="0">
                <a:latin typeface="Arial"/>
                <a:cs typeface="Arial"/>
              </a:rPr>
              <a:t>Son </a:t>
            </a:r>
            <a:r>
              <a:rPr lang="es-ES" sz="1800" b="1" dirty="0">
                <a:solidFill>
                  <a:srgbClr val="4E7CDD"/>
                </a:solidFill>
                <a:latin typeface="Arial"/>
                <a:cs typeface="Arial"/>
              </a:rPr>
              <a:t>mensajes enviados por el servidor al cliente</a:t>
            </a:r>
            <a:r>
              <a:rPr lang="es-ES" sz="1800" dirty="0">
                <a:latin typeface="Arial"/>
                <a:cs typeface="Arial"/>
              </a:rPr>
              <a:t> (normalmente </a:t>
            </a:r>
            <a:r>
              <a:rPr lang="es-ES" sz="1800" dirty="0">
                <a:solidFill>
                  <a:srgbClr val="000000"/>
                </a:solidFill>
                <a:latin typeface="Arial"/>
                <a:cs typeface="Arial"/>
              </a:rPr>
              <a:t>un navegador web o una aplicación) en respuesta a una solicitud </a:t>
            </a:r>
            <a:r>
              <a:rPr lang="es-ES" sz="1800" b="1" dirty="0">
                <a:solidFill>
                  <a:srgbClr val="4E7CDD"/>
                </a:solidFill>
                <a:latin typeface="Arial"/>
                <a:cs typeface="Arial"/>
              </a:rPr>
              <a:t>HTTP</a:t>
            </a:r>
            <a:r>
              <a:rPr lang="es-ES" sz="1800" dirty="0">
                <a:solidFill>
                  <a:srgbClr val="000000"/>
                </a:solidFill>
                <a:latin typeface="Arial"/>
                <a:cs typeface="Arial"/>
              </a:rPr>
              <a:t>. Estas respuestas indican si la solicitud fue </a:t>
            </a:r>
            <a:r>
              <a:rPr lang="es-ES" sz="1800" b="1" dirty="0">
                <a:solidFill>
                  <a:srgbClr val="4E7CDD"/>
                </a:solidFill>
                <a:latin typeface="Arial"/>
                <a:cs typeface="Arial"/>
              </a:rPr>
              <a:t>exitosa </a:t>
            </a:r>
            <a:r>
              <a:rPr lang="es-ES" sz="1800" dirty="0">
                <a:solidFill>
                  <a:srgbClr val="000000"/>
                </a:solidFill>
                <a:latin typeface="Arial"/>
                <a:cs typeface="Arial"/>
              </a:rPr>
              <a:t>y proporcionan los datos solicitados o una explicación del error si la solicitud </a:t>
            </a:r>
            <a:r>
              <a:rPr lang="es-ES" sz="1800" dirty="0">
                <a:latin typeface="Arial"/>
                <a:cs typeface="Arial"/>
              </a:rPr>
              <a:t>no se pudo completar. </a:t>
            </a:r>
            <a:endParaRPr lang="es-ES" dirty="0"/>
          </a:p>
          <a:p>
            <a:pPr marL="0" indent="0" algn="just" defTabSz="914400">
              <a:lnSpc>
                <a:spcPct val="150000"/>
              </a:lnSpc>
              <a:spcBef>
                <a:spcPct val="0"/>
              </a:spcBef>
              <a:spcAft>
                <a:spcPct val="0"/>
              </a:spcAft>
              <a:buNone/>
            </a:pPr>
            <a:endParaRPr lang="es-ES" sz="1800" dirty="0">
              <a:latin typeface="Arial"/>
              <a:cs typeface="Arial"/>
            </a:endParaRPr>
          </a:p>
          <a:p>
            <a:pPr marL="0" indent="0" algn="just" defTabSz="914400">
              <a:lnSpc>
                <a:spcPct val="150000"/>
              </a:lnSpc>
              <a:spcBef>
                <a:spcPct val="0"/>
              </a:spcBef>
              <a:spcAft>
                <a:spcPct val="0"/>
              </a:spcAft>
              <a:buNone/>
            </a:pPr>
            <a:r>
              <a:rPr lang="es-ES" sz="1800" dirty="0">
                <a:latin typeface="Arial"/>
                <a:cs typeface="Arial"/>
              </a:rPr>
              <a:t>Cada respuesta HTTP incluye un código de estado HTTP y, opcionalmente, datos adicionales en el cuerpo de la respuesta.</a:t>
            </a:r>
            <a:endParaRPr lang="es-ES"/>
          </a:p>
        </p:txBody>
      </p:sp>
      <p:pic>
        <p:nvPicPr>
          <p:cNvPr id="3" name="Imagen 2" descr="Captura de pantalla de un celular&#10;&#10;Descripción generada automáticamente">
            <a:extLst>
              <a:ext uri="{FF2B5EF4-FFF2-40B4-BE49-F238E27FC236}">
                <a16:creationId xmlns:a16="http://schemas.microsoft.com/office/drawing/2014/main" id="{53AB4003-D95E-7AC3-C2C2-BB16472782F6}"/>
              </a:ext>
            </a:extLst>
          </p:cNvPr>
          <p:cNvPicPr>
            <a:picLocks noChangeAspect="1"/>
          </p:cNvPicPr>
          <p:nvPr/>
        </p:nvPicPr>
        <p:blipFill>
          <a:blip r:embed="rId3"/>
          <a:stretch>
            <a:fillRect/>
          </a:stretch>
        </p:blipFill>
        <p:spPr>
          <a:xfrm>
            <a:off x="3409364" y="3666929"/>
            <a:ext cx="5383713" cy="2540828"/>
          </a:xfrm>
          <a:prstGeom prst="rect">
            <a:avLst/>
          </a:prstGeom>
        </p:spPr>
      </p:pic>
    </p:spTree>
    <p:extLst>
      <p:ext uri="{BB962C8B-B14F-4D97-AF65-F5344CB8AC3E}">
        <p14:creationId xmlns:p14="http://schemas.microsoft.com/office/powerpoint/2010/main" val="38824761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41317" y="551041"/>
            <a:ext cx="8118968" cy="304320"/>
          </a:xfrm>
        </p:spPr>
        <p:txBody>
          <a:bodyPr vert="horz" lIns="91440" tIns="45720" rIns="91440" bIns="45720" rtlCol="0" anchor="t">
            <a:noAutofit/>
          </a:bodyPr>
          <a:lstStyle/>
          <a:p>
            <a:pPr marL="227965" indent="-227965"/>
            <a:r>
              <a:rPr lang="es-CL" dirty="0">
                <a:solidFill>
                  <a:srgbClr val="000000"/>
                </a:solidFill>
                <a:latin typeface="Arial"/>
                <a:cs typeface="Arial"/>
              </a:rPr>
              <a:t>Estructura de una Respuesta HTTP </a:t>
            </a:r>
            <a:endParaRPr lang="es-CL" dirty="0"/>
          </a:p>
        </p:txBody>
      </p:sp>
      <p:sp>
        <p:nvSpPr>
          <p:cNvPr id="8" name="Rectangle 1">
            <a:extLst>
              <a:ext uri="{FF2B5EF4-FFF2-40B4-BE49-F238E27FC236}">
                <a16:creationId xmlns:a16="http://schemas.microsoft.com/office/drawing/2014/main" id="{9543833E-EC58-3697-47E8-BFE3FA40796A}"/>
              </a:ext>
            </a:extLst>
          </p:cNvPr>
          <p:cNvSpPr txBox="1">
            <a:spLocks noChangeArrowheads="1"/>
          </p:cNvSpPr>
          <p:nvPr/>
        </p:nvSpPr>
        <p:spPr bwMode="auto">
          <a:xfrm>
            <a:off x="659287" y="1013181"/>
            <a:ext cx="11124662" cy="3749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914400">
              <a:lnSpc>
                <a:spcPct val="150000"/>
              </a:lnSpc>
              <a:buNone/>
            </a:pPr>
            <a:r>
              <a:rPr lang="es-ES" sz="1800" dirty="0">
                <a:latin typeface="Arial"/>
                <a:cs typeface="Arial"/>
              </a:rPr>
              <a:t>Una </a:t>
            </a:r>
            <a:r>
              <a:rPr lang="es-ES" sz="1800" dirty="0">
                <a:solidFill>
                  <a:srgbClr val="000000"/>
                </a:solidFill>
                <a:latin typeface="Arial"/>
                <a:cs typeface="Arial"/>
              </a:rPr>
              <a:t>respuesta HTTP típica tiene la siguiente estructura:</a:t>
            </a:r>
            <a:endParaRPr lang="es-ES" sz="1800"/>
          </a:p>
          <a:p>
            <a:pPr marL="285750" indent="-285750" algn="just" defTabSz="914400">
              <a:lnSpc>
                <a:spcPct val="150000"/>
              </a:lnSpc>
            </a:pPr>
            <a:r>
              <a:rPr lang="es-ES" sz="1800" b="1" dirty="0">
                <a:solidFill>
                  <a:srgbClr val="4E7CDD"/>
                </a:solidFill>
                <a:latin typeface="Arial"/>
                <a:cs typeface="Arial"/>
              </a:rPr>
              <a:t>Línea de estado:</a:t>
            </a:r>
            <a:r>
              <a:rPr lang="es-ES" sz="1800" dirty="0">
                <a:solidFill>
                  <a:srgbClr val="4E7CDD"/>
                </a:solidFill>
                <a:latin typeface="Arial"/>
                <a:cs typeface="Arial"/>
              </a:rPr>
              <a:t> </a:t>
            </a:r>
            <a:r>
              <a:rPr lang="es-ES" sz="1800" dirty="0">
                <a:solidFill>
                  <a:srgbClr val="000000"/>
                </a:solidFill>
                <a:latin typeface="Arial"/>
                <a:cs typeface="Arial"/>
              </a:rPr>
              <a:t>Indica el resultado de la solicitud, incluido el</a:t>
            </a:r>
            <a:r>
              <a:rPr lang="es-ES" sz="1800" dirty="0">
                <a:latin typeface="Arial"/>
                <a:cs typeface="Arial"/>
              </a:rPr>
              <a:t> código de estado HTTP y una breve descripción.</a:t>
            </a:r>
            <a:endParaRPr lang="es-ES" sz="1800"/>
          </a:p>
          <a:p>
            <a:pPr marL="285750" indent="-285750" algn="just" defTabSz="914400">
              <a:lnSpc>
                <a:spcPct val="150000"/>
              </a:lnSpc>
            </a:pPr>
            <a:r>
              <a:rPr lang="es-ES" sz="1800" b="1" dirty="0">
                <a:solidFill>
                  <a:srgbClr val="4E7CDD"/>
                </a:solidFill>
                <a:latin typeface="Arial"/>
                <a:cs typeface="Arial"/>
              </a:rPr>
              <a:t>Encabezados HTTP:</a:t>
            </a:r>
            <a:r>
              <a:rPr lang="es-ES" sz="1800" b="1" dirty="0">
                <a:latin typeface="Arial"/>
                <a:cs typeface="Arial"/>
              </a:rPr>
              <a:t> </a:t>
            </a:r>
            <a:r>
              <a:rPr lang="es-ES" sz="1800" dirty="0">
                <a:latin typeface="Arial"/>
                <a:cs typeface="Arial"/>
              </a:rPr>
              <a:t>Proporcionan información adicional sobre la respuesta, como el tipo de contenido, la longitud del contenido y las políticas de caché.</a:t>
            </a:r>
            <a:endParaRPr lang="es-ES" sz="1800"/>
          </a:p>
          <a:p>
            <a:pPr marL="285750" indent="-285750" algn="just" defTabSz="914400">
              <a:lnSpc>
                <a:spcPct val="150000"/>
              </a:lnSpc>
            </a:pPr>
            <a:r>
              <a:rPr lang="es-ES" sz="1800" b="1" dirty="0">
                <a:solidFill>
                  <a:srgbClr val="4E7CDD"/>
                </a:solidFill>
                <a:latin typeface="Arial"/>
                <a:cs typeface="Arial"/>
              </a:rPr>
              <a:t>Cuerpo de la respuesta:</a:t>
            </a:r>
            <a:r>
              <a:rPr lang="es-ES" sz="1800" b="1" dirty="0">
                <a:latin typeface="Arial"/>
                <a:cs typeface="Arial"/>
              </a:rPr>
              <a:t> </a:t>
            </a:r>
            <a:r>
              <a:rPr lang="es-ES" sz="1800" dirty="0">
                <a:latin typeface="Arial"/>
                <a:cs typeface="Arial"/>
              </a:rPr>
              <a:t>Contiene los datos solicitados, como una página HTML, un archivo JSON, una imagen, etc.</a:t>
            </a:r>
            <a:endParaRPr lang="es-ES" sz="1800" b="1"/>
          </a:p>
          <a:p>
            <a:pPr marL="0" indent="0" algn="just" defTabSz="914400">
              <a:lnSpc>
                <a:spcPct val="150000"/>
              </a:lnSpc>
              <a:spcBef>
                <a:spcPct val="0"/>
              </a:spcBef>
              <a:spcAft>
                <a:spcPct val="0"/>
              </a:spcAft>
              <a:buFont typeface="Arial" panose="020B0604020202020204" pitchFamily="34" charset="0"/>
              <a:buNone/>
            </a:pPr>
            <a:endParaRPr lang="es-ES" sz="1800" dirty="0"/>
          </a:p>
        </p:txBody>
      </p:sp>
      <p:pic>
        <p:nvPicPr>
          <p:cNvPr id="11" name="Imagen 10" descr="Texto&#10;&#10;Descripción generada automáticamente">
            <a:extLst>
              <a:ext uri="{FF2B5EF4-FFF2-40B4-BE49-F238E27FC236}">
                <a16:creationId xmlns:a16="http://schemas.microsoft.com/office/drawing/2014/main" id="{41B9999B-5302-0CA3-4028-CE60EBB614D3}"/>
              </a:ext>
            </a:extLst>
          </p:cNvPr>
          <p:cNvPicPr>
            <a:picLocks noChangeAspect="1"/>
          </p:cNvPicPr>
          <p:nvPr/>
        </p:nvPicPr>
        <p:blipFill>
          <a:blip r:embed="rId3"/>
          <a:stretch>
            <a:fillRect/>
          </a:stretch>
        </p:blipFill>
        <p:spPr>
          <a:xfrm>
            <a:off x="1083556" y="4527787"/>
            <a:ext cx="4229655" cy="1586596"/>
          </a:xfrm>
          <a:prstGeom prst="rect">
            <a:avLst/>
          </a:prstGeom>
        </p:spPr>
      </p:pic>
      <p:pic>
        <p:nvPicPr>
          <p:cNvPr id="12" name="Imagen 11" descr="Interfaz de usuario gráfica, Texto&#10;&#10;Descripción generada automáticamente">
            <a:extLst>
              <a:ext uri="{FF2B5EF4-FFF2-40B4-BE49-F238E27FC236}">
                <a16:creationId xmlns:a16="http://schemas.microsoft.com/office/drawing/2014/main" id="{3D8EE60B-0F26-1533-5F76-F5247949C1C3}"/>
              </a:ext>
            </a:extLst>
          </p:cNvPr>
          <p:cNvPicPr>
            <a:picLocks noChangeAspect="1"/>
          </p:cNvPicPr>
          <p:nvPr/>
        </p:nvPicPr>
        <p:blipFill>
          <a:blip r:embed="rId4"/>
          <a:stretch>
            <a:fillRect/>
          </a:stretch>
        </p:blipFill>
        <p:spPr>
          <a:xfrm>
            <a:off x="9699567" y="4389222"/>
            <a:ext cx="1781175" cy="514350"/>
          </a:xfrm>
          <a:prstGeom prst="rect">
            <a:avLst/>
          </a:prstGeom>
        </p:spPr>
      </p:pic>
      <p:sp>
        <p:nvSpPr>
          <p:cNvPr id="13" name="CuadroTexto 12">
            <a:extLst>
              <a:ext uri="{FF2B5EF4-FFF2-40B4-BE49-F238E27FC236}">
                <a16:creationId xmlns:a16="http://schemas.microsoft.com/office/drawing/2014/main" id="{D92D1A87-7876-23BD-5724-904809ED24EF}"/>
              </a:ext>
            </a:extLst>
          </p:cNvPr>
          <p:cNvSpPr txBox="1"/>
          <p:nvPr/>
        </p:nvSpPr>
        <p:spPr>
          <a:xfrm>
            <a:off x="5606530" y="4524832"/>
            <a:ext cx="4893501"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L" sz="1400" dirty="0">
                <a:latin typeface="Montserrat"/>
              </a:rPr>
              <a:t>1.- Abrir </a:t>
            </a:r>
            <a:r>
              <a:rPr lang="es-CL" sz="1400" b="1" dirty="0">
                <a:latin typeface="Montserrat"/>
              </a:rPr>
              <a:t>Símbolo del sistema</a:t>
            </a:r>
          </a:p>
          <a:p>
            <a:r>
              <a:rPr lang="es-CL" sz="1400" dirty="0">
                <a:latin typeface="Montserrat"/>
              </a:rPr>
              <a:t>2.- escribir el siguiente comando </a:t>
            </a:r>
            <a:r>
              <a:rPr lang="es-CL" sz="1400" err="1">
                <a:latin typeface="Montserrat"/>
              </a:rPr>
              <a:t>curl</a:t>
            </a:r>
            <a:endParaRPr lang="es-CL" sz="1400" dirty="0">
              <a:latin typeface="Montserrat"/>
            </a:endParaRPr>
          </a:p>
          <a:p>
            <a:endParaRPr lang="es-CL" sz="1400" dirty="0">
              <a:latin typeface="Montserrat"/>
            </a:endParaRPr>
          </a:p>
          <a:p>
            <a:pPr algn="ctr"/>
            <a:r>
              <a:rPr lang="es-CL" sz="1200" b="1" err="1">
                <a:latin typeface="Montserrat"/>
              </a:rPr>
              <a:t>curl</a:t>
            </a:r>
            <a:r>
              <a:rPr lang="es-CL" sz="1200" b="1" dirty="0">
                <a:latin typeface="Montserrat"/>
              </a:rPr>
              <a:t> -i https://jsonplaceholder.typicode.com/posts/1</a:t>
            </a:r>
          </a:p>
          <a:p>
            <a:pPr algn="ctr"/>
            <a:endParaRPr lang="es-CL" sz="1400" b="1" dirty="0">
              <a:latin typeface="Montserrat"/>
            </a:endParaRPr>
          </a:p>
          <a:p>
            <a:r>
              <a:rPr lang="es-CL" sz="1400" dirty="0">
                <a:latin typeface="Montserrat"/>
              </a:rPr>
              <a:t>3.- Observa</a:t>
            </a:r>
          </a:p>
          <a:p>
            <a:r>
              <a:rPr lang="es-CL" sz="1400" dirty="0">
                <a:solidFill>
                  <a:srgbClr val="000000"/>
                </a:solidFill>
                <a:latin typeface="Montserrat"/>
              </a:rPr>
              <a:t>4.- Identifica el </a:t>
            </a:r>
            <a:r>
              <a:rPr lang="es-CL" sz="1400" b="1" dirty="0">
                <a:solidFill>
                  <a:srgbClr val="000000"/>
                </a:solidFill>
                <a:latin typeface="Montserrat"/>
              </a:rPr>
              <a:t>estado, encabezados y el cuerpo.</a:t>
            </a:r>
          </a:p>
        </p:txBody>
      </p:sp>
    </p:spTree>
    <p:extLst>
      <p:ext uri="{BB962C8B-B14F-4D97-AF65-F5344CB8AC3E}">
        <p14:creationId xmlns:p14="http://schemas.microsoft.com/office/powerpoint/2010/main" val="479618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41317" y="551041"/>
            <a:ext cx="8118968" cy="304320"/>
          </a:xfrm>
        </p:spPr>
        <p:txBody>
          <a:bodyPr vert="horz" lIns="91440" tIns="45720" rIns="91440" bIns="45720" rtlCol="0" anchor="t">
            <a:noAutofit/>
          </a:bodyPr>
          <a:lstStyle/>
          <a:p>
            <a:pPr marL="227965" indent="-227965"/>
            <a:r>
              <a:rPr lang="es-CL" dirty="0">
                <a:solidFill>
                  <a:srgbClr val="000000"/>
                </a:solidFill>
                <a:latin typeface="Arial"/>
                <a:cs typeface="Arial"/>
              </a:rPr>
              <a:t>Códigos de Estado HTTP</a:t>
            </a:r>
            <a:endParaRPr lang="es-CL" dirty="0"/>
          </a:p>
        </p:txBody>
      </p:sp>
      <p:pic>
        <p:nvPicPr>
          <p:cNvPr id="3" name="Imagen 2" descr="Texto&#10;&#10;Descripción generada automáticamente">
            <a:extLst>
              <a:ext uri="{FF2B5EF4-FFF2-40B4-BE49-F238E27FC236}">
                <a16:creationId xmlns:a16="http://schemas.microsoft.com/office/drawing/2014/main" id="{3CD7533F-0676-1F81-72E2-32B54F897BDF}"/>
              </a:ext>
            </a:extLst>
          </p:cNvPr>
          <p:cNvPicPr>
            <a:picLocks noChangeAspect="1"/>
          </p:cNvPicPr>
          <p:nvPr/>
        </p:nvPicPr>
        <p:blipFill>
          <a:blip r:embed="rId3"/>
          <a:stretch>
            <a:fillRect/>
          </a:stretch>
        </p:blipFill>
        <p:spPr>
          <a:xfrm>
            <a:off x="652659" y="1451388"/>
            <a:ext cx="4383589" cy="4351883"/>
          </a:xfrm>
          <a:prstGeom prst="rect">
            <a:avLst/>
          </a:prstGeom>
        </p:spPr>
      </p:pic>
      <p:sp>
        <p:nvSpPr>
          <p:cNvPr id="4" name="CuadroTexto 3">
            <a:extLst>
              <a:ext uri="{FF2B5EF4-FFF2-40B4-BE49-F238E27FC236}">
                <a16:creationId xmlns:a16="http://schemas.microsoft.com/office/drawing/2014/main" id="{7DAF409A-E812-013C-9709-DF6DE6D8B2F1}"/>
              </a:ext>
            </a:extLst>
          </p:cNvPr>
          <p:cNvSpPr txBox="1"/>
          <p:nvPr/>
        </p:nvSpPr>
        <p:spPr>
          <a:xfrm>
            <a:off x="5371578" y="1572016"/>
            <a:ext cx="6501008"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q"/>
            </a:pPr>
            <a:r>
              <a:rPr lang="es-CL" b="1" dirty="0">
                <a:latin typeface="Montserrat"/>
              </a:rPr>
              <a:t>100 Continue:</a:t>
            </a:r>
            <a:r>
              <a:rPr lang="es-CL" dirty="0">
                <a:latin typeface="Montserrat"/>
              </a:rPr>
              <a:t> El cliente debe continuar con la solicitud.</a:t>
            </a:r>
            <a:endParaRPr lang="es-ES" dirty="0"/>
          </a:p>
          <a:p>
            <a:pPr marL="285750" indent="-285750" algn="just">
              <a:buFont typeface="Wingdings"/>
              <a:buChar char="q"/>
            </a:pPr>
            <a:r>
              <a:rPr lang="es-CL" b="1" dirty="0">
                <a:latin typeface="Montserrat"/>
              </a:rPr>
              <a:t>101 </a:t>
            </a:r>
            <a:r>
              <a:rPr lang="es-CL" b="1" err="1">
                <a:latin typeface="Montserrat"/>
              </a:rPr>
              <a:t>Switching</a:t>
            </a:r>
            <a:r>
              <a:rPr lang="es-CL" b="1" dirty="0">
                <a:latin typeface="Montserrat"/>
              </a:rPr>
              <a:t> </a:t>
            </a:r>
            <a:r>
              <a:rPr lang="es-CL" b="1" err="1">
                <a:latin typeface="Montserrat"/>
              </a:rPr>
              <a:t>Protocols</a:t>
            </a:r>
            <a:r>
              <a:rPr lang="es-CL" b="1" dirty="0">
                <a:latin typeface="Montserrat"/>
              </a:rPr>
              <a:t>:</a:t>
            </a:r>
            <a:r>
              <a:rPr lang="es-CL" dirty="0">
                <a:latin typeface="Montserrat"/>
              </a:rPr>
              <a:t> El servidor acepta cambiar a un protocolo diferente.</a:t>
            </a:r>
          </a:p>
        </p:txBody>
      </p:sp>
      <p:sp>
        <p:nvSpPr>
          <p:cNvPr id="5" name="CuadroTexto 4">
            <a:extLst>
              <a:ext uri="{FF2B5EF4-FFF2-40B4-BE49-F238E27FC236}">
                <a16:creationId xmlns:a16="http://schemas.microsoft.com/office/drawing/2014/main" id="{55C76DA1-5754-D7F7-A32B-0C8AE1C19B65}"/>
              </a:ext>
            </a:extLst>
          </p:cNvPr>
          <p:cNvSpPr txBox="1"/>
          <p:nvPr/>
        </p:nvSpPr>
        <p:spPr>
          <a:xfrm>
            <a:off x="5371578" y="3430043"/>
            <a:ext cx="6501008"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q"/>
            </a:pPr>
            <a:r>
              <a:rPr lang="es-CL" b="1" dirty="0">
                <a:latin typeface="Montserrat"/>
              </a:rPr>
              <a:t>200 OK:</a:t>
            </a:r>
            <a:r>
              <a:rPr lang="es-CL" dirty="0">
                <a:latin typeface="Montserrat"/>
              </a:rPr>
              <a:t> La solicitud ha tenido éxito.</a:t>
            </a:r>
            <a:endParaRPr lang="es-ES"/>
          </a:p>
          <a:p>
            <a:pPr marL="285750" indent="-285750" algn="just">
              <a:buFont typeface="Wingdings"/>
              <a:buChar char="q"/>
            </a:pPr>
            <a:r>
              <a:rPr lang="es-CL" b="1" dirty="0">
                <a:latin typeface="Montserrat"/>
              </a:rPr>
              <a:t>201 </a:t>
            </a:r>
            <a:r>
              <a:rPr lang="es-CL" b="1" err="1">
                <a:latin typeface="Montserrat"/>
              </a:rPr>
              <a:t>Created</a:t>
            </a:r>
            <a:r>
              <a:rPr lang="es-CL" b="1" dirty="0">
                <a:latin typeface="Montserrat"/>
              </a:rPr>
              <a:t>:</a:t>
            </a:r>
            <a:r>
              <a:rPr lang="es-CL" dirty="0">
                <a:latin typeface="Montserrat"/>
              </a:rPr>
              <a:t> La solicitud ha sido cumplida y se ha creado un nuevo recurso.</a:t>
            </a:r>
          </a:p>
          <a:p>
            <a:pPr marL="285750" indent="-285750" algn="just">
              <a:buFont typeface="Wingdings"/>
              <a:buChar char="q"/>
            </a:pPr>
            <a:r>
              <a:rPr lang="es-CL" b="1" dirty="0">
                <a:latin typeface="Montserrat"/>
              </a:rPr>
              <a:t>202 </a:t>
            </a:r>
            <a:r>
              <a:rPr lang="es-CL" b="1" err="1">
                <a:latin typeface="Montserrat"/>
              </a:rPr>
              <a:t>Accepted</a:t>
            </a:r>
            <a:r>
              <a:rPr lang="es-CL" b="1" dirty="0">
                <a:latin typeface="Montserrat"/>
              </a:rPr>
              <a:t>:</a:t>
            </a:r>
            <a:r>
              <a:rPr lang="es-CL" dirty="0">
                <a:latin typeface="Montserrat"/>
              </a:rPr>
              <a:t> La solicitud ha sido aceptada para procesamiento, pero el procesamiento no se ha completado.</a:t>
            </a:r>
          </a:p>
          <a:p>
            <a:pPr marL="285750" indent="-285750" algn="just">
              <a:buFont typeface="Wingdings"/>
              <a:buChar char="q"/>
            </a:pPr>
            <a:r>
              <a:rPr lang="es-CL" b="1" dirty="0">
                <a:latin typeface="Montserrat"/>
              </a:rPr>
              <a:t>204 No Content:</a:t>
            </a:r>
            <a:r>
              <a:rPr lang="es-CL" dirty="0">
                <a:latin typeface="Montserrat"/>
              </a:rPr>
              <a:t> La solicitud ha tenido éxito, pero no hay contenido que enviar en la respuesta.</a:t>
            </a:r>
          </a:p>
        </p:txBody>
      </p:sp>
    </p:spTree>
    <p:extLst>
      <p:ext uri="{BB962C8B-B14F-4D97-AF65-F5344CB8AC3E}">
        <p14:creationId xmlns:p14="http://schemas.microsoft.com/office/powerpoint/2010/main" val="17440875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41317" y="551041"/>
            <a:ext cx="8118968" cy="304320"/>
          </a:xfrm>
        </p:spPr>
        <p:txBody>
          <a:bodyPr vert="horz" lIns="91440" tIns="45720" rIns="91440" bIns="45720" rtlCol="0" anchor="t">
            <a:noAutofit/>
          </a:bodyPr>
          <a:lstStyle/>
          <a:p>
            <a:pPr marL="227965" indent="-227965"/>
            <a:r>
              <a:rPr lang="es-CL" dirty="0">
                <a:solidFill>
                  <a:srgbClr val="000000"/>
                </a:solidFill>
                <a:latin typeface="Arial"/>
                <a:cs typeface="Arial"/>
              </a:rPr>
              <a:t>Códigos de Estado HTTP</a:t>
            </a:r>
            <a:endParaRPr lang="es-CL" dirty="0"/>
          </a:p>
        </p:txBody>
      </p:sp>
      <p:pic>
        <p:nvPicPr>
          <p:cNvPr id="3" name="Imagen 2" descr="Texto&#10;&#10;Descripción generada automáticamente">
            <a:extLst>
              <a:ext uri="{FF2B5EF4-FFF2-40B4-BE49-F238E27FC236}">
                <a16:creationId xmlns:a16="http://schemas.microsoft.com/office/drawing/2014/main" id="{3CD7533F-0676-1F81-72E2-32B54F897BDF}"/>
              </a:ext>
            </a:extLst>
          </p:cNvPr>
          <p:cNvPicPr>
            <a:picLocks noChangeAspect="1"/>
          </p:cNvPicPr>
          <p:nvPr/>
        </p:nvPicPr>
        <p:blipFill>
          <a:blip r:embed="rId3"/>
          <a:stretch>
            <a:fillRect/>
          </a:stretch>
        </p:blipFill>
        <p:spPr>
          <a:xfrm>
            <a:off x="652659" y="1451388"/>
            <a:ext cx="4383589" cy="4351883"/>
          </a:xfrm>
          <a:prstGeom prst="rect">
            <a:avLst/>
          </a:prstGeom>
        </p:spPr>
      </p:pic>
      <p:sp>
        <p:nvSpPr>
          <p:cNvPr id="6" name="CuadroTexto 5">
            <a:extLst>
              <a:ext uri="{FF2B5EF4-FFF2-40B4-BE49-F238E27FC236}">
                <a16:creationId xmlns:a16="http://schemas.microsoft.com/office/drawing/2014/main" id="{E5FD3F76-BDE3-09C3-F2F5-2538CEE7F2C1}"/>
              </a:ext>
            </a:extLst>
          </p:cNvPr>
          <p:cNvSpPr txBox="1"/>
          <p:nvPr/>
        </p:nvSpPr>
        <p:spPr>
          <a:xfrm>
            <a:off x="5308948" y="1446756"/>
            <a:ext cx="65532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q"/>
            </a:pPr>
            <a:r>
              <a:rPr lang="es-CL" b="1" dirty="0">
                <a:latin typeface="Montserrat"/>
              </a:rPr>
              <a:t>301 Moved </a:t>
            </a:r>
            <a:r>
              <a:rPr lang="es-CL" b="1" dirty="0" err="1">
                <a:latin typeface="Montserrat"/>
              </a:rPr>
              <a:t>Permanently</a:t>
            </a:r>
            <a:r>
              <a:rPr lang="es-CL" b="1" dirty="0">
                <a:latin typeface="Montserrat"/>
              </a:rPr>
              <a:t>:</a:t>
            </a:r>
            <a:r>
              <a:rPr lang="es-CL" dirty="0">
                <a:latin typeface="Montserrat"/>
              </a:rPr>
              <a:t> El recurso solicitado ha sido movido permanentemente a una nueva URL.</a:t>
            </a:r>
            <a:endParaRPr lang="es-ES" dirty="0"/>
          </a:p>
          <a:p>
            <a:pPr marL="285750" indent="-285750" algn="just">
              <a:buFont typeface="Wingdings"/>
              <a:buChar char="q"/>
            </a:pPr>
            <a:r>
              <a:rPr lang="es-CL" b="1" dirty="0">
                <a:latin typeface="Montserrat"/>
              </a:rPr>
              <a:t>302 </a:t>
            </a:r>
            <a:r>
              <a:rPr lang="es-CL" b="1" dirty="0" err="1">
                <a:latin typeface="Montserrat"/>
              </a:rPr>
              <a:t>Found</a:t>
            </a:r>
            <a:r>
              <a:rPr lang="es-CL" b="1" dirty="0">
                <a:latin typeface="Montserrat"/>
              </a:rPr>
              <a:t>:</a:t>
            </a:r>
            <a:r>
              <a:rPr lang="es-CL" dirty="0">
                <a:latin typeface="Montserrat"/>
              </a:rPr>
              <a:t> El recurso solicitado se encuentra temporalmente en una URL diferente.</a:t>
            </a:r>
          </a:p>
          <a:p>
            <a:pPr marL="285750" indent="-285750" algn="just">
              <a:buFont typeface="Wingdings"/>
              <a:buChar char="q"/>
            </a:pPr>
            <a:r>
              <a:rPr lang="es-CL" b="1" dirty="0">
                <a:latin typeface="Montserrat"/>
              </a:rPr>
              <a:t>304 </a:t>
            </a:r>
            <a:r>
              <a:rPr lang="es-CL" b="1" dirty="0" err="1">
                <a:latin typeface="Montserrat"/>
              </a:rPr>
              <a:t>Not</a:t>
            </a:r>
            <a:r>
              <a:rPr lang="es-CL" b="1" dirty="0">
                <a:latin typeface="Montserrat"/>
              </a:rPr>
              <a:t> </a:t>
            </a:r>
            <a:r>
              <a:rPr lang="es-CL" b="1" dirty="0" err="1">
                <a:latin typeface="Montserrat"/>
              </a:rPr>
              <a:t>Modified</a:t>
            </a:r>
            <a:r>
              <a:rPr lang="es-CL" b="1" dirty="0">
                <a:latin typeface="Montserrat"/>
              </a:rPr>
              <a:t>:</a:t>
            </a:r>
            <a:r>
              <a:rPr lang="es-CL" dirty="0">
                <a:latin typeface="Montserrat"/>
              </a:rPr>
              <a:t> El recurso no ha sido modificado desde la última solicitud.</a:t>
            </a:r>
          </a:p>
        </p:txBody>
      </p:sp>
      <p:sp>
        <p:nvSpPr>
          <p:cNvPr id="7" name="CuadroTexto 6">
            <a:extLst>
              <a:ext uri="{FF2B5EF4-FFF2-40B4-BE49-F238E27FC236}">
                <a16:creationId xmlns:a16="http://schemas.microsoft.com/office/drawing/2014/main" id="{81D22825-7FEC-24DD-B38F-44F791FF9DE0}"/>
              </a:ext>
            </a:extLst>
          </p:cNvPr>
          <p:cNvSpPr txBox="1"/>
          <p:nvPr/>
        </p:nvSpPr>
        <p:spPr>
          <a:xfrm>
            <a:off x="5308948" y="3597057"/>
            <a:ext cx="65532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q"/>
            </a:pPr>
            <a:r>
              <a:rPr lang="es-CL" b="1" dirty="0">
                <a:latin typeface="Montserrat"/>
              </a:rPr>
              <a:t>400 </a:t>
            </a:r>
            <a:r>
              <a:rPr lang="es-CL" b="1" dirty="0" err="1">
                <a:latin typeface="Montserrat"/>
              </a:rPr>
              <a:t>Bad</a:t>
            </a:r>
            <a:r>
              <a:rPr lang="es-CL" b="1" dirty="0">
                <a:latin typeface="Montserrat"/>
              </a:rPr>
              <a:t> </a:t>
            </a:r>
            <a:r>
              <a:rPr lang="es-CL" b="1" dirty="0" err="1">
                <a:latin typeface="Montserrat"/>
              </a:rPr>
              <a:t>Request</a:t>
            </a:r>
            <a:r>
              <a:rPr lang="es-CL" b="1" dirty="0">
                <a:latin typeface="Montserrat"/>
              </a:rPr>
              <a:t>:</a:t>
            </a:r>
            <a:r>
              <a:rPr lang="es-CL" dirty="0">
                <a:latin typeface="Montserrat"/>
              </a:rPr>
              <a:t> La solicitud no pudo ser entendida o estaba mal formada.</a:t>
            </a:r>
            <a:endParaRPr lang="es-ES"/>
          </a:p>
          <a:p>
            <a:pPr marL="285750" indent="-285750" algn="just">
              <a:buFont typeface="Wingdings"/>
              <a:buChar char="q"/>
            </a:pPr>
            <a:r>
              <a:rPr lang="es-CL" b="1" dirty="0">
                <a:latin typeface="Montserrat"/>
              </a:rPr>
              <a:t>401 </a:t>
            </a:r>
            <a:r>
              <a:rPr lang="es-CL" b="1" dirty="0" err="1">
                <a:latin typeface="Montserrat"/>
              </a:rPr>
              <a:t>Unauthorized</a:t>
            </a:r>
            <a:r>
              <a:rPr lang="es-CL" b="1" dirty="0">
                <a:latin typeface="Montserrat"/>
              </a:rPr>
              <a:t>:</a:t>
            </a:r>
            <a:r>
              <a:rPr lang="es-CL" dirty="0">
                <a:latin typeface="Montserrat"/>
              </a:rPr>
              <a:t> La autenticación es necesaria y ha fallado o no se ha proporcionado.</a:t>
            </a:r>
          </a:p>
          <a:p>
            <a:pPr marL="285750" indent="-285750" algn="just">
              <a:buFont typeface="Wingdings"/>
              <a:buChar char="q"/>
            </a:pPr>
            <a:r>
              <a:rPr lang="es-CL" b="1" dirty="0">
                <a:latin typeface="Montserrat"/>
              </a:rPr>
              <a:t>403 </a:t>
            </a:r>
            <a:r>
              <a:rPr lang="es-CL" b="1" dirty="0" err="1">
                <a:latin typeface="Montserrat"/>
              </a:rPr>
              <a:t>Forbidden</a:t>
            </a:r>
            <a:r>
              <a:rPr lang="es-CL" b="1" dirty="0">
                <a:latin typeface="Montserrat"/>
              </a:rPr>
              <a:t>:</a:t>
            </a:r>
            <a:r>
              <a:rPr lang="es-CL" dirty="0">
                <a:latin typeface="Montserrat"/>
              </a:rPr>
              <a:t> El servidor entiende la solicitud, pero se niega a autorizarla.</a:t>
            </a:r>
          </a:p>
          <a:p>
            <a:pPr marL="285750" indent="-285750" algn="just">
              <a:buFont typeface="Wingdings"/>
              <a:buChar char="q"/>
            </a:pPr>
            <a:r>
              <a:rPr lang="es-CL" b="1" dirty="0">
                <a:latin typeface="Montserrat"/>
              </a:rPr>
              <a:t>404 </a:t>
            </a:r>
            <a:r>
              <a:rPr lang="es-CL" b="1" dirty="0" err="1">
                <a:latin typeface="Montserrat"/>
              </a:rPr>
              <a:t>Not</a:t>
            </a:r>
            <a:r>
              <a:rPr lang="es-CL" b="1" dirty="0">
                <a:latin typeface="Montserrat"/>
              </a:rPr>
              <a:t> </a:t>
            </a:r>
            <a:r>
              <a:rPr lang="es-CL" b="1" dirty="0" err="1">
                <a:latin typeface="Montserrat"/>
              </a:rPr>
              <a:t>Found</a:t>
            </a:r>
            <a:r>
              <a:rPr lang="es-CL" b="1" dirty="0">
                <a:latin typeface="Montserrat"/>
              </a:rPr>
              <a:t>:</a:t>
            </a:r>
            <a:r>
              <a:rPr lang="es-CL" dirty="0">
                <a:latin typeface="Montserrat"/>
              </a:rPr>
              <a:t> El recurso solicitado no pudo ser encontrado en el servidor.</a:t>
            </a:r>
          </a:p>
        </p:txBody>
      </p:sp>
    </p:spTree>
    <p:extLst>
      <p:ext uri="{BB962C8B-B14F-4D97-AF65-F5344CB8AC3E}">
        <p14:creationId xmlns:p14="http://schemas.microsoft.com/office/powerpoint/2010/main" val="2623988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41317" y="551041"/>
            <a:ext cx="8118968" cy="304320"/>
          </a:xfrm>
        </p:spPr>
        <p:txBody>
          <a:bodyPr vert="horz" lIns="91440" tIns="45720" rIns="91440" bIns="45720" rtlCol="0" anchor="t">
            <a:noAutofit/>
          </a:bodyPr>
          <a:lstStyle/>
          <a:p>
            <a:pPr marL="227965" indent="-227965"/>
            <a:r>
              <a:rPr lang="es-CL" dirty="0">
                <a:solidFill>
                  <a:srgbClr val="000000"/>
                </a:solidFill>
                <a:latin typeface="Arial"/>
                <a:cs typeface="Arial"/>
              </a:rPr>
              <a:t>Códigos de Estado HTTP</a:t>
            </a:r>
            <a:endParaRPr lang="es-CL" dirty="0"/>
          </a:p>
        </p:txBody>
      </p:sp>
      <p:pic>
        <p:nvPicPr>
          <p:cNvPr id="3" name="Imagen 2" descr="Texto&#10;&#10;Descripción generada automáticamente">
            <a:extLst>
              <a:ext uri="{FF2B5EF4-FFF2-40B4-BE49-F238E27FC236}">
                <a16:creationId xmlns:a16="http://schemas.microsoft.com/office/drawing/2014/main" id="{3CD7533F-0676-1F81-72E2-32B54F897BDF}"/>
              </a:ext>
            </a:extLst>
          </p:cNvPr>
          <p:cNvPicPr>
            <a:picLocks noChangeAspect="1"/>
          </p:cNvPicPr>
          <p:nvPr/>
        </p:nvPicPr>
        <p:blipFill>
          <a:blip r:embed="rId3"/>
          <a:stretch>
            <a:fillRect/>
          </a:stretch>
        </p:blipFill>
        <p:spPr>
          <a:xfrm>
            <a:off x="652659" y="1451388"/>
            <a:ext cx="4383589" cy="4351883"/>
          </a:xfrm>
          <a:prstGeom prst="rect">
            <a:avLst/>
          </a:prstGeom>
        </p:spPr>
      </p:pic>
      <p:sp>
        <p:nvSpPr>
          <p:cNvPr id="6" name="CuadroTexto 5">
            <a:extLst>
              <a:ext uri="{FF2B5EF4-FFF2-40B4-BE49-F238E27FC236}">
                <a16:creationId xmlns:a16="http://schemas.microsoft.com/office/drawing/2014/main" id="{E5FD3F76-BDE3-09C3-F2F5-2538CEE7F2C1}"/>
              </a:ext>
            </a:extLst>
          </p:cNvPr>
          <p:cNvSpPr txBox="1"/>
          <p:nvPr/>
        </p:nvSpPr>
        <p:spPr>
          <a:xfrm>
            <a:off x="5308948" y="1446756"/>
            <a:ext cx="6553200" cy="37850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lnSpc>
                <a:spcPct val="150000"/>
              </a:lnSpc>
              <a:buFont typeface="Wingdings"/>
              <a:buChar char="q"/>
            </a:pPr>
            <a:r>
              <a:rPr lang="es-CL" b="1" dirty="0">
                <a:latin typeface="Montserrat"/>
                <a:ea typeface="+mn-lt"/>
                <a:cs typeface="+mn-lt"/>
              </a:rPr>
              <a:t>500 </a:t>
            </a:r>
            <a:r>
              <a:rPr lang="es-CL" b="1" err="1">
                <a:latin typeface="Montserrat"/>
                <a:ea typeface="+mn-lt"/>
                <a:cs typeface="+mn-lt"/>
              </a:rPr>
              <a:t>Internal</a:t>
            </a:r>
            <a:r>
              <a:rPr lang="es-CL" b="1" dirty="0">
                <a:latin typeface="Montserrat"/>
                <a:ea typeface="+mn-lt"/>
                <a:cs typeface="+mn-lt"/>
              </a:rPr>
              <a:t> Server Error: </a:t>
            </a:r>
            <a:r>
              <a:rPr lang="es-CL" dirty="0">
                <a:latin typeface="Montserrat"/>
                <a:ea typeface="+mn-lt"/>
                <a:cs typeface="+mn-lt"/>
              </a:rPr>
              <a:t>Se ha producido un error en el servidor y no se puede completar la solicitud.</a:t>
            </a:r>
            <a:endParaRPr lang="es-ES" dirty="0">
              <a:latin typeface="Montserrat"/>
            </a:endParaRPr>
          </a:p>
          <a:p>
            <a:pPr marL="342900" indent="-342900" algn="just">
              <a:lnSpc>
                <a:spcPct val="150000"/>
              </a:lnSpc>
              <a:buFont typeface="Wingdings"/>
              <a:buChar char="q"/>
            </a:pPr>
            <a:r>
              <a:rPr lang="es-CL" b="1" dirty="0">
                <a:latin typeface="Montserrat"/>
                <a:ea typeface="+mn-lt"/>
                <a:cs typeface="+mn-lt"/>
              </a:rPr>
              <a:t>501 </a:t>
            </a:r>
            <a:r>
              <a:rPr lang="es-CL" b="1" err="1">
                <a:latin typeface="Montserrat"/>
                <a:ea typeface="+mn-lt"/>
                <a:cs typeface="+mn-lt"/>
              </a:rPr>
              <a:t>Not</a:t>
            </a:r>
            <a:r>
              <a:rPr lang="es-CL" b="1" dirty="0">
                <a:latin typeface="Montserrat"/>
                <a:ea typeface="+mn-lt"/>
                <a:cs typeface="+mn-lt"/>
              </a:rPr>
              <a:t> </a:t>
            </a:r>
            <a:r>
              <a:rPr lang="es-CL" b="1" err="1">
                <a:latin typeface="Montserrat"/>
                <a:ea typeface="+mn-lt"/>
                <a:cs typeface="+mn-lt"/>
              </a:rPr>
              <a:t>Implemented</a:t>
            </a:r>
            <a:r>
              <a:rPr lang="es-CL" b="1" dirty="0">
                <a:latin typeface="Montserrat"/>
                <a:ea typeface="+mn-lt"/>
                <a:cs typeface="+mn-lt"/>
              </a:rPr>
              <a:t>:</a:t>
            </a:r>
            <a:r>
              <a:rPr lang="es-CL" dirty="0">
                <a:latin typeface="Montserrat"/>
                <a:ea typeface="+mn-lt"/>
                <a:cs typeface="+mn-lt"/>
              </a:rPr>
              <a:t> El servidor no reconoce el método de solicitud y no puede soportarlo.</a:t>
            </a:r>
            <a:endParaRPr lang="es-ES" dirty="0">
              <a:latin typeface="Montserrat"/>
              <a:ea typeface="+mn-lt"/>
              <a:cs typeface="+mn-lt"/>
            </a:endParaRPr>
          </a:p>
          <a:p>
            <a:pPr marL="342900" indent="-342900" algn="just">
              <a:lnSpc>
                <a:spcPct val="150000"/>
              </a:lnSpc>
              <a:buFont typeface="Wingdings"/>
              <a:buChar char="q"/>
            </a:pPr>
            <a:r>
              <a:rPr lang="es-CL" b="1" dirty="0">
                <a:latin typeface="Montserrat"/>
                <a:ea typeface="+mn-lt"/>
                <a:cs typeface="+mn-lt"/>
              </a:rPr>
              <a:t>502 </a:t>
            </a:r>
            <a:r>
              <a:rPr lang="es-CL" b="1" err="1">
                <a:latin typeface="Montserrat"/>
                <a:ea typeface="+mn-lt"/>
                <a:cs typeface="+mn-lt"/>
              </a:rPr>
              <a:t>Bad</a:t>
            </a:r>
            <a:r>
              <a:rPr lang="es-CL" b="1" dirty="0">
                <a:latin typeface="Montserrat"/>
                <a:ea typeface="+mn-lt"/>
                <a:cs typeface="+mn-lt"/>
              </a:rPr>
              <a:t> Gateway:</a:t>
            </a:r>
            <a:r>
              <a:rPr lang="es-CL" dirty="0">
                <a:latin typeface="Montserrat"/>
                <a:ea typeface="+mn-lt"/>
                <a:cs typeface="+mn-lt"/>
              </a:rPr>
              <a:t> El servidor recibió una respuesta inválida de un servidor </a:t>
            </a:r>
            <a:r>
              <a:rPr lang="es-CL" err="1">
                <a:latin typeface="Montserrat"/>
                <a:ea typeface="+mn-lt"/>
                <a:cs typeface="+mn-lt"/>
              </a:rPr>
              <a:t>upstream</a:t>
            </a:r>
            <a:r>
              <a:rPr lang="es-CL" dirty="0">
                <a:latin typeface="Montserrat"/>
                <a:ea typeface="+mn-lt"/>
                <a:cs typeface="+mn-lt"/>
              </a:rPr>
              <a:t>.</a:t>
            </a:r>
          </a:p>
          <a:p>
            <a:pPr marL="342900" indent="-342900" algn="just">
              <a:lnSpc>
                <a:spcPct val="150000"/>
              </a:lnSpc>
              <a:buFont typeface="Wingdings"/>
              <a:buChar char="q"/>
            </a:pPr>
            <a:r>
              <a:rPr lang="es-CL" b="1" dirty="0">
                <a:latin typeface="Montserrat"/>
                <a:ea typeface="+mn-lt"/>
                <a:cs typeface="+mn-lt"/>
              </a:rPr>
              <a:t>503 </a:t>
            </a:r>
            <a:r>
              <a:rPr lang="es-CL" b="1" err="1">
                <a:latin typeface="Montserrat"/>
                <a:ea typeface="+mn-lt"/>
                <a:cs typeface="+mn-lt"/>
              </a:rPr>
              <a:t>Service</a:t>
            </a:r>
            <a:r>
              <a:rPr lang="es-CL" b="1" dirty="0">
                <a:latin typeface="Montserrat"/>
                <a:ea typeface="+mn-lt"/>
                <a:cs typeface="+mn-lt"/>
              </a:rPr>
              <a:t> </a:t>
            </a:r>
            <a:r>
              <a:rPr lang="es-CL" b="1" err="1">
                <a:latin typeface="Montserrat"/>
                <a:ea typeface="+mn-lt"/>
                <a:cs typeface="+mn-lt"/>
              </a:rPr>
              <a:t>Unavailable</a:t>
            </a:r>
            <a:r>
              <a:rPr lang="es-CL" b="1" dirty="0">
                <a:latin typeface="Montserrat"/>
                <a:ea typeface="+mn-lt"/>
                <a:cs typeface="+mn-lt"/>
              </a:rPr>
              <a:t>:</a:t>
            </a:r>
            <a:r>
              <a:rPr lang="es-CL" dirty="0">
                <a:latin typeface="Montserrat"/>
                <a:ea typeface="+mn-lt"/>
                <a:cs typeface="+mn-lt"/>
              </a:rPr>
              <a:t> El servidor no está disponible actualmente (sobrecargado o en mantenimiento).</a:t>
            </a:r>
            <a:endParaRPr lang="es-CL" dirty="0">
              <a:latin typeface="Montserrat"/>
            </a:endParaRPr>
          </a:p>
        </p:txBody>
      </p:sp>
    </p:spTree>
    <p:extLst>
      <p:ext uri="{BB962C8B-B14F-4D97-AF65-F5344CB8AC3E}">
        <p14:creationId xmlns:p14="http://schemas.microsoft.com/office/powerpoint/2010/main" val="4057216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A5F066-A122-A7BB-EAE9-7C27932828C3}"/>
              </a:ext>
            </a:extLst>
          </p:cNvPr>
          <p:cNvSpPr>
            <a:spLocks noGrp="1"/>
          </p:cNvSpPr>
          <p:nvPr>
            <p:ph type="title"/>
          </p:nvPr>
        </p:nvSpPr>
        <p:spPr/>
        <p:txBody>
          <a:bodyPr>
            <a:normAutofit/>
          </a:bodyPr>
          <a:lstStyle/>
          <a:p>
            <a:r>
              <a:rPr lang="es-ES" dirty="0">
                <a:latin typeface="Arial"/>
                <a:cs typeface="Arial"/>
              </a:rPr>
              <a:t>REST</a:t>
            </a:r>
            <a:endParaRPr lang="es-ES" dirty="0"/>
          </a:p>
        </p:txBody>
      </p:sp>
    </p:spTree>
    <p:extLst>
      <p:ext uri="{BB962C8B-B14F-4D97-AF65-F5344CB8AC3E}">
        <p14:creationId xmlns:p14="http://schemas.microsoft.com/office/powerpoint/2010/main" val="41006363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54685" y="894325"/>
            <a:ext cx="11024171" cy="820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defTabSz="914400">
              <a:lnSpc>
                <a:spcPct val="150000"/>
              </a:lnSpc>
              <a:spcBef>
                <a:spcPct val="0"/>
              </a:spcBef>
              <a:spcAft>
                <a:spcPct val="0"/>
              </a:spcAft>
              <a:buNone/>
            </a:pPr>
            <a:r>
              <a:rPr lang="es-CL" sz="3600">
                <a:latin typeface="Arial"/>
                <a:cs typeface="Arial"/>
              </a:rPr>
              <a:t>¿Qué se entiende por </a:t>
            </a:r>
            <a:r>
              <a:rPr lang="es-CL" sz="3600" b="1">
                <a:solidFill>
                  <a:srgbClr val="4E7CDD"/>
                </a:solidFill>
                <a:latin typeface="Arial"/>
                <a:cs typeface="Arial"/>
              </a:rPr>
              <a:t>REST</a:t>
            </a:r>
            <a:r>
              <a:rPr lang="es-CL" sz="3600">
                <a:latin typeface="Arial"/>
                <a:cs typeface="Arial"/>
              </a:rPr>
              <a:t>?</a:t>
            </a:r>
            <a:endParaRPr lang="es-ES" sz="3600"/>
          </a:p>
        </p:txBody>
      </p:sp>
      <p:pic>
        <p:nvPicPr>
          <p:cNvPr id="3" name="Imagen 2" descr="Diagrama&#10;&#10;Descripción generada automáticamente">
            <a:extLst>
              <a:ext uri="{FF2B5EF4-FFF2-40B4-BE49-F238E27FC236}">
                <a16:creationId xmlns:a16="http://schemas.microsoft.com/office/drawing/2014/main" id="{001127F7-5F43-F9EC-F3D6-AEEA34A98796}"/>
              </a:ext>
            </a:extLst>
          </p:cNvPr>
          <p:cNvPicPr>
            <a:picLocks noChangeAspect="1"/>
          </p:cNvPicPr>
          <p:nvPr/>
        </p:nvPicPr>
        <p:blipFill>
          <a:blip r:embed="rId3"/>
          <a:stretch>
            <a:fillRect/>
          </a:stretch>
        </p:blipFill>
        <p:spPr>
          <a:xfrm>
            <a:off x="2254293" y="1856331"/>
            <a:ext cx="7829550" cy="4210050"/>
          </a:xfrm>
          <a:prstGeom prst="rect">
            <a:avLst/>
          </a:prstGeom>
        </p:spPr>
      </p:pic>
    </p:spTree>
    <p:extLst>
      <p:ext uri="{BB962C8B-B14F-4D97-AF65-F5344CB8AC3E}">
        <p14:creationId xmlns:p14="http://schemas.microsoft.com/office/powerpoint/2010/main" val="694148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6162804" cy="469685"/>
          </a:xfrm>
        </p:spPr>
        <p:txBody>
          <a:bodyPr vert="horz" lIns="91440" tIns="45720" rIns="91440" bIns="45720" rtlCol="0" anchor="t">
            <a:noAutofit/>
          </a:bodyPr>
          <a:lstStyle/>
          <a:p>
            <a:pPr marL="227965" indent="-227965"/>
            <a:r>
              <a:rPr lang="es-CL">
                <a:latin typeface="Arial"/>
                <a:cs typeface="Arial"/>
              </a:rPr>
              <a:t>REST</a:t>
            </a:r>
            <a:endParaRPr lang="es-ES"/>
          </a:p>
        </p:txBody>
      </p:sp>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83993" y="1180042"/>
            <a:ext cx="10816624" cy="1467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defTabSz="914400">
              <a:buNone/>
            </a:pPr>
            <a:r>
              <a:rPr lang="es-ES" sz="1800" b="1">
                <a:solidFill>
                  <a:srgbClr val="4E7CDD"/>
                </a:solidFill>
                <a:latin typeface="Arial"/>
                <a:cs typeface="Arial"/>
              </a:rPr>
              <a:t>REST (</a:t>
            </a:r>
            <a:r>
              <a:rPr lang="es-ES" sz="1800" b="1" err="1">
                <a:solidFill>
                  <a:srgbClr val="4E7CDD"/>
                </a:solidFill>
                <a:latin typeface="Arial"/>
                <a:cs typeface="Arial"/>
              </a:rPr>
              <a:t>Representational</a:t>
            </a:r>
            <a:r>
              <a:rPr lang="es-ES" sz="1800" b="1">
                <a:solidFill>
                  <a:srgbClr val="4E7CDD"/>
                </a:solidFill>
                <a:latin typeface="Arial"/>
                <a:cs typeface="Arial"/>
              </a:rPr>
              <a:t> </a:t>
            </a:r>
            <a:r>
              <a:rPr lang="es-ES" sz="1800" b="1" err="1">
                <a:solidFill>
                  <a:srgbClr val="4E7CDD"/>
                </a:solidFill>
                <a:latin typeface="Arial"/>
                <a:cs typeface="Arial"/>
              </a:rPr>
              <a:t>State</a:t>
            </a:r>
            <a:r>
              <a:rPr lang="es-ES" sz="1800" b="1">
                <a:solidFill>
                  <a:srgbClr val="4E7CDD"/>
                </a:solidFill>
                <a:latin typeface="Arial"/>
                <a:cs typeface="Arial"/>
              </a:rPr>
              <a:t> Transfer) </a:t>
            </a:r>
            <a:r>
              <a:rPr lang="es-ES" sz="1800">
                <a:latin typeface="Arial"/>
                <a:cs typeface="Arial"/>
              </a:rPr>
              <a:t>es una arquitectura de software que se utiliza para diseñar servicios web que permiten la comunicación entre diferentes sistemas a través de la red, especialmente en la web. </a:t>
            </a:r>
            <a:endParaRPr lang="es-ES"/>
          </a:p>
          <a:p>
            <a:pPr marL="0" indent="0" algn="just" defTabSz="914400">
              <a:buNone/>
            </a:pPr>
            <a:r>
              <a:rPr lang="es-ES" sz="1800">
                <a:latin typeface="Arial"/>
                <a:cs typeface="Arial"/>
              </a:rPr>
              <a:t>Es fundamental en el desarrollo de</a:t>
            </a:r>
            <a:r>
              <a:rPr lang="es-ES" sz="1800" b="1">
                <a:solidFill>
                  <a:srgbClr val="4E7CDD"/>
                </a:solidFill>
                <a:latin typeface="Arial"/>
                <a:cs typeface="Arial"/>
              </a:rPr>
              <a:t> </a:t>
            </a:r>
            <a:r>
              <a:rPr lang="es-ES" sz="1800" b="1" err="1">
                <a:solidFill>
                  <a:srgbClr val="4E7CDD"/>
                </a:solidFill>
                <a:latin typeface="Arial"/>
                <a:cs typeface="Arial"/>
              </a:rPr>
              <a:t>APIs</a:t>
            </a:r>
            <a:r>
              <a:rPr lang="es-ES" sz="1800" b="1">
                <a:solidFill>
                  <a:srgbClr val="4E7CDD"/>
                </a:solidFill>
                <a:latin typeface="Arial"/>
                <a:cs typeface="Arial"/>
              </a:rPr>
              <a:t> (Interfaces de Programación de Aplicaciones) </a:t>
            </a:r>
            <a:r>
              <a:rPr lang="es-ES" sz="1800">
                <a:latin typeface="Arial"/>
                <a:cs typeface="Arial"/>
              </a:rPr>
              <a:t>que permiten que diferentes aplicaciones se </a:t>
            </a:r>
            <a:r>
              <a:rPr lang="es-ES" sz="1800" b="1">
                <a:solidFill>
                  <a:srgbClr val="4E7CDD"/>
                </a:solidFill>
                <a:latin typeface="Arial"/>
                <a:cs typeface="Arial"/>
              </a:rPr>
              <a:t>comuniquen entre sí</a:t>
            </a:r>
            <a:r>
              <a:rPr lang="es-ES" sz="1800">
                <a:latin typeface="Arial"/>
                <a:cs typeface="Arial"/>
              </a:rPr>
              <a:t>.</a:t>
            </a:r>
            <a:endParaRPr lang="es-ES"/>
          </a:p>
        </p:txBody>
      </p:sp>
      <p:sp>
        <p:nvSpPr>
          <p:cNvPr id="7" name="Rectángulo: esquinas redondeadas 6">
            <a:extLst>
              <a:ext uri="{FF2B5EF4-FFF2-40B4-BE49-F238E27FC236}">
                <a16:creationId xmlns:a16="http://schemas.microsoft.com/office/drawing/2014/main" id="{2E38E719-FA09-6DAC-C3C7-E9C9C1338C77}"/>
              </a:ext>
            </a:extLst>
          </p:cNvPr>
          <p:cNvSpPr/>
          <p:nvPr/>
        </p:nvSpPr>
        <p:spPr>
          <a:xfrm>
            <a:off x="766477" y="2776251"/>
            <a:ext cx="10635080" cy="820758"/>
          </a:xfrm>
          <a:prstGeom prst="roundRect">
            <a:avLst/>
          </a:prstGeom>
          <a:solidFill>
            <a:srgbClr val="00B050"/>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a:latin typeface="Montserrat"/>
                <a:ea typeface="+mn-lt"/>
                <a:cs typeface="+mn-lt"/>
              </a:rPr>
              <a:t>REST utiliza los métodos HTTP (</a:t>
            </a:r>
            <a:r>
              <a:rPr lang="es-ES" b="1">
                <a:latin typeface="Montserrat"/>
                <a:ea typeface="+mn-lt"/>
                <a:cs typeface="+mn-lt"/>
              </a:rPr>
              <a:t>GET, POST, PUT, PATCH, DELETE</a:t>
            </a:r>
            <a:r>
              <a:rPr lang="es-ES">
                <a:latin typeface="Montserrat"/>
                <a:ea typeface="+mn-lt"/>
                <a:cs typeface="+mn-lt"/>
              </a:rPr>
              <a:t>) de manera específica para realizar operaciones CRUD (</a:t>
            </a:r>
            <a:r>
              <a:rPr lang="es-ES" b="1">
                <a:latin typeface="Montserrat"/>
                <a:ea typeface="+mn-lt"/>
                <a:cs typeface="+mn-lt"/>
              </a:rPr>
              <a:t>Crear, Leer, Actualizar, Eliminar</a:t>
            </a:r>
            <a:r>
              <a:rPr lang="es-ES">
                <a:latin typeface="Montserrat"/>
                <a:ea typeface="+mn-lt"/>
                <a:cs typeface="+mn-lt"/>
              </a:rPr>
              <a:t>) en los recursos.</a:t>
            </a:r>
          </a:p>
        </p:txBody>
      </p:sp>
      <p:sp>
        <p:nvSpPr>
          <p:cNvPr id="14" name="Rectángulo: esquinas redondeadas 13">
            <a:extLst>
              <a:ext uri="{FF2B5EF4-FFF2-40B4-BE49-F238E27FC236}">
                <a16:creationId xmlns:a16="http://schemas.microsoft.com/office/drawing/2014/main" id="{9306907F-0D27-B965-7AA5-8E5CF5212B26}"/>
              </a:ext>
            </a:extLst>
          </p:cNvPr>
          <p:cNvSpPr/>
          <p:nvPr/>
        </p:nvSpPr>
        <p:spPr>
          <a:xfrm>
            <a:off x="766477" y="3772711"/>
            <a:ext cx="10619422" cy="800148"/>
          </a:xfrm>
          <a:prstGeom prst="roundRect">
            <a:avLst/>
          </a:prstGeom>
          <a:solidFill>
            <a:srgbClr val="EE7623"/>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a:latin typeface="Montserrat"/>
                <a:ea typeface="+mn-lt"/>
                <a:cs typeface="+mn-lt"/>
              </a:rPr>
              <a:t>Se centra en la manipulación de recursos a través de una </a:t>
            </a:r>
            <a:r>
              <a:rPr lang="es-ES" b="1">
                <a:latin typeface="Montserrat"/>
                <a:ea typeface="+mn-lt"/>
                <a:cs typeface="+mn-lt"/>
              </a:rPr>
              <a:t>API web</a:t>
            </a:r>
            <a:r>
              <a:rPr lang="es-ES">
                <a:latin typeface="Montserrat"/>
                <a:ea typeface="+mn-lt"/>
                <a:cs typeface="+mn-lt"/>
              </a:rPr>
              <a:t> utilizando métodos </a:t>
            </a:r>
            <a:r>
              <a:rPr lang="es-ES" b="1">
                <a:latin typeface="Montserrat"/>
                <a:ea typeface="+mn-lt"/>
                <a:cs typeface="+mn-lt"/>
              </a:rPr>
              <a:t>HTTP </a:t>
            </a:r>
            <a:r>
              <a:rPr lang="es-ES">
                <a:latin typeface="Montserrat"/>
                <a:ea typeface="+mn-lt"/>
                <a:cs typeface="+mn-lt"/>
              </a:rPr>
              <a:t>estándar.</a:t>
            </a:r>
          </a:p>
        </p:txBody>
      </p:sp>
      <p:sp>
        <p:nvSpPr>
          <p:cNvPr id="6" name="Rectángulo: esquinas redondeadas 5">
            <a:extLst>
              <a:ext uri="{FF2B5EF4-FFF2-40B4-BE49-F238E27FC236}">
                <a16:creationId xmlns:a16="http://schemas.microsoft.com/office/drawing/2014/main" id="{A9F14C15-C23B-A0AF-60FB-86BA6B304728}"/>
              </a:ext>
            </a:extLst>
          </p:cNvPr>
          <p:cNvSpPr/>
          <p:nvPr/>
        </p:nvSpPr>
        <p:spPr>
          <a:xfrm>
            <a:off x="766477" y="4701724"/>
            <a:ext cx="10640298" cy="1228120"/>
          </a:xfrm>
          <a:prstGeom prst="roundRect">
            <a:avLst/>
          </a:prstGeom>
          <a:solidFill>
            <a:srgbClr val="4E7CDD"/>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just"/>
            <a:r>
              <a:rPr lang="es-ES">
                <a:latin typeface="Montserrat"/>
                <a:ea typeface="+mn-lt"/>
                <a:cs typeface="+mn-lt"/>
              </a:rPr>
              <a:t>Cada solicitud del cliente al servidor debe contener toda la información necesaria para entender y procesar la solicitud, ya que el </a:t>
            </a:r>
            <a:r>
              <a:rPr lang="es-ES" b="1">
                <a:latin typeface="Montserrat"/>
                <a:ea typeface="+mn-lt"/>
                <a:cs typeface="+mn-lt"/>
              </a:rPr>
              <a:t>servidor no guarda ninguna información sobre el estado del cliente entre solicitudes</a:t>
            </a:r>
            <a:r>
              <a:rPr lang="es-ES">
                <a:latin typeface="Montserrat"/>
                <a:ea typeface="+mn-lt"/>
                <a:cs typeface="+mn-lt"/>
              </a:rPr>
              <a:t>. Esto se conoce como </a:t>
            </a:r>
            <a:r>
              <a:rPr lang="es-ES" b="1" err="1">
                <a:latin typeface="Montserrat"/>
                <a:ea typeface="+mn-lt"/>
                <a:cs typeface="+mn-lt"/>
              </a:rPr>
              <a:t>Stateless</a:t>
            </a:r>
            <a:r>
              <a:rPr lang="es-ES" b="1">
                <a:latin typeface="Montserrat"/>
                <a:ea typeface="+mn-lt"/>
                <a:cs typeface="+mn-lt"/>
              </a:rPr>
              <a:t> </a:t>
            </a:r>
            <a:r>
              <a:rPr lang="es-ES">
                <a:latin typeface="Montserrat"/>
                <a:ea typeface="+mn-lt"/>
                <a:cs typeface="+mn-lt"/>
              </a:rPr>
              <a:t>(Sin estado).</a:t>
            </a:r>
            <a:endParaRPr lang="es-ES"/>
          </a:p>
        </p:txBody>
      </p:sp>
    </p:spTree>
    <p:extLst>
      <p:ext uri="{BB962C8B-B14F-4D97-AF65-F5344CB8AC3E}">
        <p14:creationId xmlns:p14="http://schemas.microsoft.com/office/powerpoint/2010/main" val="26884655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13">
            <a:extLst>
              <a:ext uri="{FF2B5EF4-FFF2-40B4-BE49-F238E27FC236}">
                <a16:creationId xmlns:a16="http://schemas.microsoft.com/office/drawing/2014/main" id="{580FE9D2-D410-D6DB-049E-B24CA0DFA53B}"/>
              </a:ext>
            </a:extLst>
          </p:cNvPr>
          <p:cNvSpPr txBox="1">
            <a:spLocks/>
          </p:cNvSpPr>
          <p:nvPr/>
        </p:nvSpPr>
        <p:spPr>
          <a:xfrm>
            <a:off x="4975361" y="471210"/>
            <a:ext cx="6388583" cy="469685"/>
          </a:xfrm>
          <a:prstGeom prst="rect">
            <a:avLst/>
          </a:prstGeom>
        </p:spPr>
        <p:txBody>
          <a:bodyPr lIns="91440" tIns="45720" rIns="91440" bIns="45720" anchor="t"/>
          <a:lst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7965" indent="-227965"/>
            <a:r>
              <a:rPr lang="es-CL" b="1">
                <a:ea typeface="+mn-lt"/>
                <a:cs typeface="+mn-lt"/>
              </a:rPr>
              <a:t>Ventajas de usar REST en el </a:t>
            </a:r>
            <a:r>
              <a:rPr lang="es-CL" b="1" err="1">
                <a:ea typeface="+mn-lt"/>
                <a:cs typeface="+mn-lt"/>
              </a:rPr>
              <a:t>backend</a:t>
            </a:r>
            <a:endParaRPr lang="es-ES" b="1" err="1">
              <a:latin typeface="Arial"/>
              <a:cs typeface="Arial"/>
            </a:endParaRPr>
          </a:p>
        </p:txBody>
      </p:sp>
      <p:sp>
        <p:nvSpPr>
          <p:cNvPr id="7" name="Object 3">
            <a:extLst>
              <a:ext uri="{FF2B5EF4-FFF2-40B4-BE49-F238E27FC236}">
                <a16:creationId xmlns:a16="http://schemas.microsoft.com/office/drawing/2014/main" id="{902C84AB-5856-815A-D7D6-BCC4C3445D73}"/>
              </a:ext>
            </a:extLst>
          </p:cNvPr>
          <p:cNvSpPr/>
          <p:nvPr/>
        </p:nvSpPr>
        <p:spPr>
          <a:xfrm>
            <a:off x="4946669" y="1380686"/>
            <a:ext cx="5870044" cy="205150"/>
          </a:xfrm>
          <a:prstGeom prst="rect">
            <a:avLst/>
          </a:prstGeom>
          <a:noFill/>
        </p:spPr>
        <p:txBody>
          <a:bodyPr wrap="square" lIns="0" tIns="0" rIns="0" bIns="0" rtlCol="0" anchor="t"/>
          <a:lstStyle/>
          <a:p>
            <a:pPr>
              <a:lnSpc>
                <a:spcPts val="1814"/>
              </a:lnSpc>
            </a:pPr>
            <a:r>
              <a:rPr lang="es-CL" b="1">
                <a:latin typeface="Arial"/>
                <a:ea typeface="+mn-lt"/>
                <a:cs typeface="Arial"/>
              </a:rPr>
              <a:t>SIMPLICIDAD</a:t>
            </a:r>
            <a:r>
              <a:rPr lang="en-US" b="1">
                <a:latin typeface="Arial"/>
                <a:ea typeface="+mn-lt"/>
                <a:cs typeface="Arial"/>
              </a:rPr>
              <a:t> Y ESTÁNDAR</a:t>
            </a:r>
            <a:endParaRPr lang="es-ES" b="1">
              <a:latin typeface="Arial"/>
              <a:cs typeface="Arial"/>
            </a:endParaRPr>
          </a:p>
        </p:txBody>
      </p:sp>
      <p:sp>
        <p:nvSpPr>
          <p:cNvPr id="9" name="Object 4">
            <a:extLst>
              <a:ext uri="{FF2B5EF4-FFF2-40B4-BE49-F238E27FC236}">
                <a16:creationId xmlns:a16="http://schemas.microsoft.com/office/drawing/2014/main" id="{0624106E-11C8-8858-4C9F-2E7BE06D863F}"/>
              </a:ext>
            </a:extLst>
          </p:cNvPr>
          <p:cNvSpPr/>
          <p:nvPr/>
        </p:nvSpPr>
        <p:spPr>
          <a:xfrm>
            <a:off x="4937000" y="1670563"/>
            <a:ext cx="6500336" cy="772913"/>
          </a:xfrm>
          <a:prstGeom prst="rect">
            <a:avLst/>
          </a:prstGeom>
          <a:noFill/>
        </p:spPr>
        <p:txBody>
          <a:bodyPr wrap="square" lIns="0" tIns="0" rIns="0" bIns="0" rtlCol="0" anchor="t"/>
          <a:lstStyle/>
          <a:p>
            <a:pPr algn="just">
              <a:lnSpc>
                <a:spcPts val="1680"/>
              </a:lnSpc>
              <a:spcBef>
                <a:spcPts val="663"/>
              </a:spcBef>
            </a:pPr>
            <a:r>
              <a:rPr lang="es-ES" sz="1400">
                <a:solidFill>
                  <a:srgbClr val="5A5A4C"/>
                </a:solidFill>
                <a:latin typeface="Montserrat"/>
                <a:ea typeface="+mn-lt"/>
                <a:cs typeface="+mn-lt"/>
              </a:rPr>
              <a:t>Al utilizar métodos HTTP estándar, REST es fácil de entender y usar.</a:t>
            </a:r>
            <a:endParaRPr lang="es-ES" sz="1400">
              <a:latin typeface="Montserrat"/>
            </a:endParaRPr>
          </a:p>
        </p:txBody>
      </p:sp>
      <p:pic>
        <p:nvPicPr>
          <p:cNvPr id="12" name="Imagen 11" descr="Diagrama, Dibujo de ingeniería&#10;&#10;Descripción generada automáticamente">
            <a:extLst>
              <a:ext uri="{FF2B5EF4-FFF2-40B4-BE49-F238E27FC236}">
                <a16:creationId xmlns:a16="http://schemas.microsoft.com/office/drawing/2014/main" id="{83846EC8-F4F7-650C-CAC1-4BDF6A76BEFD}"/>
              </a:ext>
            </a:extLst>
          </p:cNvPr>
          <p:cNvPicPr>
            <a:picLocks noChangeAspect="1"/>
          </p:cNvPicPr>
          <p:nvPr/>
        </p:nvPicPr>
        <p:blipFill>
          <a:blip r:embed="rId2"/>
          <a:stretch>
            <a:fillRect/>
          </a:stretch>
        </p:blipFill>
        <p:spPr>
          <a:xfrm>
            <a:off x="1127603" y="1680337"/>
            <a:ext cx="3478061" cy="3498937"/>
          </a:xfrm>
          <a:prstGeom prst="rect">
            <a:avLst/>
          </a:prstGeom>
        </p:spPr>
      </p:pic>
      <p:sp>
        <p:nvSpPr>
          <p:cNvPr id="13" name="Object 3">
            <a:extLst>
              <a:ext uri="{FF2B5EF4-FFF2-40B4-BE49-F238E27FC236}">
                <a16:creationId xmlns:a16="http://schemas.microsoft.com/office/drawing/2014/main" id="{409F1249-EAAF-D050-5F08-338395FDC852}"/>
              </a:ext>
            </a:extLst>
          </p:cNvPr>
          <p:cNvSpPr/>
          <p:nvPr/>
        </p:nvSpPr>
        <p:spPr>
          <a:xfrm>
            <a:off x="4946669" y="2236632"/>
            <a:ext cx="5870044" cy="205150"/>
          </a:xfrm>
          <a:prstGeom prst="rect">
            <a:avLst/>
          </a:prstGeom>
          <a:noFill/>
        </p:spPr>
        <p:txBody>
          <a:bodyPr wrap="square" lIns="0" tIns="0" rIns="0" bIns="0" rtlCol="0" anchor="t"/>
          <a:lstStyle/>
          <a:p>
            <a:pPr>
              <a:lnSpc>
                <a:spcPts val="1814"/>
              </a:lnSpc>
            </a:pPr>
            <a:r>
              <a:rPr lang="es-CL" b="1">
                <a:latin typeface="Arial"/>
                <a:cs typeface="Arial"/>
              </a:rPr>
              <a:t>ESCALABILIDAD</a:t>
            </a:r>
          </a:p>
        </p:txBody>
      </p:sp>
      <p:sp>
        <p:nvSpPr>
          <p:cNvPr id="14" name="Object 4">
            <a:extLst>
              <a:ext uri="{FF2B5EF4-FFF2-40B4-BE49-F238E27FC236}">
                <a16:creationId xmlns:a16="http://schemas.microsoft.com/office/drawing/2014/main" id="{6F26B35D-B0A4-D0BF-5640-F9C369CE5D3F}"/>
              </a:ext>
            </a:extLst>
          </p:cNvPr>
          <p:cNvSpPr/>
          <p:nvPr/>
        </p:nvSpPr>
        <p:spPr>
          <a:xfrm>
            <a:off x="4936999" y="2547384"/>
            <a:ext cx="6500336" cy="772913"/>
          </a:xfrm>
          <a:prstGeom prst="rect">
            <a:avLst/>
          </a:prstGeom>
          <a:noFill/>
        </p:spPr>
        <p:txBody>
          <a:bodyPr wrap="square" lIns="0" tIns="0" rIns="0" bIns="0" rtlCol="0" anchor="t"/>
          <a:lstStyle/>
          <a:p>
            <a:pPr algn="just">
              <a:lnSpc>
                <a:spcPts val="1680"/>
              </a:lnSpc>
              <a:spcBef>
                <a:spcPts val="663"/>
              </a:spcBef>
            </a:pPr>
            <a:r>
              <a:rPr lang="es-ES" sz="1400">
                <a:solidFill>
                  <a:srgbClr val="5A5A4C"/>
                </a:solidFill>
                <a:latin typeface="Montserrat"/>
                <a:ea typeface="+mn-lt"/>
                <a:cs typeface="+mn-lt"/>
              </a:rPr>
              <a:t>La naturaleza </a:t>
            </a:r>
            <a:r>
              <a:rPr lang="es-ES" sz="1400" err="1">
                <a:solidFill>
                  <a:srgbClr val="5A5A4C"/>
                </a:solidFill>
                <a:latin typeface="Montserrat"/>
                <a:ea typeface="+mn-lt"/>
                <a:cs typeface="+mn-lt"/>
              </a:rPr>
              <a:t>stateless</a:t>
            </a:r>
            <a:r>
              <a:rPr lang="es-ES" sz="1400">
                <a:solidFill>
                  <a:srgbClr val="5A5A4C"/>
                </a:solidFill>
                <a:latin typeface="Montserrat"/>
                <a:ea typeface="+mn-lt"/>
                <a:cs typeface="+mn-lt"/>
              </a:rPr>
              <a:t> de REST facilita la escalabilidad, ya que cada solicitud es independiente.</a:t>
            </a:r>
            <a:endParaRPr lang="es-ES" sz="1400">
              <a:latin typeface="Montserrat"/>
            </a:endParaRPr>
          </a:p>
          <a:p>
            <a:pPr algn="just">
              <a:lnSpc>
                <a:spcPts val="1680"/>
              </a:lnSpc>
              <a:spcBef>
                <a:spcPts val="663"/>
              </a:spcBef>
              <a:buNone/>
            </a:pPr>
            <a:endParaRPr lang="en-US" sz="1400">
              <a:latin typeface="Montserrat"/>
            </a:endParaRPr>
          </a:p>
        </p:txBody>
      </p:sp>
      <p:sp>
        <p:nvSpPr>
          <p:cNvPr id="17" name="Object 3">
            <a:extLst>
              <a:ext uri="{FF2B5EF4-FFF2-40B4-BE49-F238E27FC236}">
                <a16:creationId xmlns:a16="http://schemas.microsoft.com/office/drawing/2014/main" id="{32EB885D-F316-25C4-A56C-795ABFAD7698}"/>
              </a:ext>
            </a:extLst>
          </p:cNvPr>
          <p:cNvSpPr/>
          <p:nvPr/>
        </p:nvSpPr>
        <p:spPr>
          <a:xfrm>
            <a:off x="4936231" y="3332658"/>
            <a:ext cx="4137276" cy="319971"/>
          </a:xfrm>
          <a:prstGeom prst="rect">
            <a:avLst/>
          </a:prstGeom>
          <a:noFill/>
        </p:spPr>
        <p:txBody>
          <a:bodyPr wrap="square" lIns="0" tIns="0" rIns="0" bIns="0" rtlCol="0" anchor="t"/>
          <a:lstStyle/>
          <a:p>
            <a:pPr>
              <a:lnSpc>
                <a:spcPts val="1814"/>
              </a:lnSpc>
            </a:pPr>
            <a:r>
              <a:rPr lang="es-CL" b="1">
                <a:solidFill>
                  <a:srgbClr val="000000"/>
                </a:solidFill>
                <a:latin typeface="Arial"/>
                <a:ea typeface="+mn-lt"/>
                <a:cs typeface="Arial"/>
              </a:rPr>
              <a:t>FLEXIBILIDAD</a:t>
            </a:r>
            <a:endParaRPr lang="es-CL" b="1">
              <a:latin typeface="Arial"/>
              <a:cs typeface="Arial"/>
            </a:endParaRPr>
          </a:p>
        </p:txBody>
      </p:sp>
      <p:sp>
        <p:nvSpPr>
          <p:cNvPr id="18" name="Object 4">
            <a:extLst>
              <a:ext uri="{FF2B5EF4-FFF2-40B4-BE49-F238E27FC236}">
                <a16:creationId xmlns:a16="http://schemas.microsoft.com/office/drawing/2014/main" id="{B0B1C27E-7F6E-823E-E52F-6A25CD93BB3C}"/>
              </a:ext>
            </a:extLst>
          </p:cNvPr>
          <p:cNvSpPr/>
          <p:nvPr/>
        </p:nvSpPr>
        <p:spPr>
          <a:xfrm>
            <a:off x="4937001" y="3685163"/>
            <a:ext cx="6500335" cy="689407"/>
          </a:xfrm>
          <a:prstGeom prst="rect">
            <a:avLst/>
          </a:prstGeom>
          <a:noFill/>
        </p:spPr>
        <p:txBody>
          <a:bodyPr wrap="square" lIns="0" tIns="0" rIns="0" bIns="0" rtlCol="0" anchor="t"/>
          <a:lstStyle/>
          <a:p>
            <a:pPr algn="just">
              <a:lnSpc>
                <a:spcPts val="1680"/>
              </a:lnSpc>
              <a:spcBef>
                <a:spcPts val="663"/>
              </a:spcBef>
            </a:pPr>
            <a:r>
              <a:rPr lang="es-ES" sz="1400">
                <a:solidFill>
                  <a:srgbClr val="5A5A4C"/>
                </a:solidFill>
                <a:latin typeface="Montserrat"/>
                <a:ea typeface="+mn-lt"/>
                <a:cs typeface="+mn-lt"/>
              </a:rPr>
              <a:t>REST permite el uso de diferentes formatos de datos (como JSON, XML, HTML), lo que lo hace muy flexible.</a:t>
            </a:r>
            <a:endParaRPr lang="es-ES" sz="1400">
              <a:latin typeface="Montserrat"/>
            </a:endParaRPr>
          </a:p>
          <a:p>
            <a:pPr algn="just">
              <a:lnSpc>
                <a:spcPts val="1680"/>
              </a:lnSpc>
              <a:spcBef>
                <a:spcPts val="663"/>
              </a:spcBef>
              <a:buNone/>
            </a:pPr>
            <a:endParaRPr lang="en-US" sz="1400">
              <a:latin typeface="Montserrat"/>
            </a:endParaRPr>
          </a:p>
        </p:txBody>
      </p:sp>
      <p:sp>
        <p:nvSpPr>
          <p:cNvPr id="2" name="Object 3">
            <a:extLst>
              <a:ext uri="{FF2B5EF4-FFF2-40B4-BE49-F238E27FC236}">
                <a16:creationId xmlns:a16="http://schemas.microsoft.com/office/drawing/2014/main" id="{EA81284A-6055-FBF4-DB72-D6A6A9EFDCC1}"/>
              </a:ext>
            </a:extLst>
          </p:cNvPr>
          <p:cNvSpPr/>
          <p:nvPr/>
        </p:nvSpPr>
        <p:spPr>
          <a:xfrm>
            <a:off x="4967545" y="4470439"/>
            <a:ext cx="4137276" cy="319971"/>
          </a:xfrm>
          <a:prstGeom prst="rect">
            <a:avLst/>
          </a:prstGeom>
          <a:noFill/>
        </p:spPr>
        <p:txBody>
          <a:bodyPr wrap="square" lIns="0" tIns="0" rIns="0" bIns="0" rtlCol="0" anchor="t"/>
          <a:lstStyle/>
          <a:p>
            <a:pPr>
              <a:lnSpc>
                <a:spcPts val="1814"/>
              </a:lnSpc>
            </a:pPr>
            <a:r>
              <a:rPr lang="es-CL" b="1" noProof="1">
                <a:solidFill>
                  <a:srgbClr val="000000"/>
                </a:solidFill>
                <a:latin typeface="Arial"/>
                <a:ea typeface="+mn-lt"/>
                <a:cs typeface="Arial"/>
              </a:rPr>
              <a:t>INTEROPERABILIDAD</a:t>
            </a:r>
            <a:endParaRPr lang="es-CL" b="1" noProof="1">
              <a:latin typeface="Arial"/>
              <a:cs typeface="Arial"/>
            </a:endParaRPr>
          </a:p>
        </p:txBody>
      </p:sp>
      <p:sp>
        <p:nvSpPr>
          <p:cNvPr id="3" name="Object 4">
            <a:extLst>
              <a:ext uri="{FF2B5EF4-FFF2-40B4-BE49-F238E27FC236}">
                <a16:creationId xmlns:a16="http://schemas.microsoft.com/office/drawing/2014/main" id="{2BC5BA62-831F-2902-9841-E4303959427C}"/>
              </a:ext>
            </a:extLst>
          </p:cNvPr>
          <p:cNvSpPr/>
          <p:nvPr/>
        </p:nvSpPr>
        <p:spPr>
          <a:xfrm>
            <a:off x="4968316" y="4749876"/>
            <a:ext cx="6500335" cy="689407"/>
          </a:xfrm>
          <a:prstGeom prst="rect">
            <a:avLst/>
          </a:prstGeom>
          <a:noFill/>
        </p:spPr>
        <p:txBody>
          <a:bodyPr wrap="square" lIns="0" tIns="0" rIns="0" bIns="0" rtlCol="0" anchor="t"/>
          <a:lstStyle/>
          <a:p>
            <a:pPr algn="just">
              <a:lnSpc>
                <a:spcPts val="1680"/>
              </a:lnSpc>
              <a:spcBef>
                <a:spcPts val="663"/>
              </a:spcBef>
            </a:pPr>
            <a:r>
              <a:rPr lang="es-ES" sz="1400">
                <a:solidFill>
                  <a:srgbClr val="5A5A4C"/>
                </a:solidFill>
                <a:latin typeface="Montserrat"/>
                <a:ea typeface="+mn-lt"/>
                <a:cs typeface="+mn-lt"/>
              </a:rPr>
              <a:t>Al seguir estándares abiertos, las </a:t>
            </a:r>
            <a:r>
              <a:rPr lang="es-ES" sz="1400" err="1">
                <a:solidFill>
                  <a:srgbClr val="5A5A4C"/>
                </a:solidFill>
                <a:latin typeface="Montserrat"/>
                <a:ea typeface="+mn-lt"/>
                <a:cs typeface="+mn-lt"/>
              </a:rPr>
              <a:t>APIs</a:t>
            </a:r>
            <a:r>
              <a:rPr lang="es-ES" sz="1400">
                <a:solidFill>
                  <a:srgbClr val="5A5A4C"/>
                </a:solidFill>
                <a:latin typeface="Montserrat"/>
                <a:ea typeface="+mn-lt"/>
                <a:cs typeface="+mn-lt"/>
              </a:rPr>
              <a:t> </a:t>
            </a:r>
            <a:r>
              <a:rPr lang="es-ES" sz="1400" err="1">
                <a:solidFill>
                  <a:srgbClr val="5A5A4C"/>
                </a:solidFill>
                <a:latin typeface="Montserrat"/>
                <a:ea typeface="+mn-lt"/>
                <a:cs typeface="+mn-lt"/>
              </a:rPr>
              <a:t>RESTful</a:t>
            </a:r>
            <a:r>
              <a:rPr lang="es-ES" sz="1400">
                <a:solidFill>
                  <a:srgbClr val="5A5A4C"/>
                </a:solidFill>
                <a:latin typeface="Montserrat"/>
                <a:ea typeface="+mn-lt"/>
                <a:cs typeface="+mn-lt"/>
              </a:rPr>
              <a:t> pueden ser utilizadas por diferentes aplicaciones y sistemas, independientemente de la plataforma en la que estén desarrolladas.</a:t>
            </a:r>
            <a:endParaRPr lang="es-ES" sz="1400">
              <a:latin typeface="Montserrat"/>
            </a:endParaRPr>
          </a:p>
          <a:p>
            <a:pPr algn="just">
              <a:lnSpc>
                <a:spcPts val="1680"/>
              </a:lnSpc>
              <a:spcBef>
                <a:spcPts val="663"/>
              </a:spcBef>
              <a:buNone/>
            </a:pPr>
            <a:endParaRPr lang="en-US" sz="1400">
              <a:latin typeface="Montserrat"/>
            </a:endParaRPr>
          </a:p>
        </p:txBody>
      </p:sp>
    </p:spTree>
    <p:extLst>
      <p:ext uri="{BB962C8B-B14F-4D97-AF65-F5344CB8AC3E}">
        <p14:creationId xmlns:p14="http://schemas.microsoft.com/office/powerpoint/2010/main" val="14388199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54685" y="894325"/>
            <a:ext cx="11024171" cy="820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defTabSz="914400">
              <a:lnSpc>
                <a:spcPct val="150000"/>
              </a:lnSpc>
              <a:spcBef>
                <a:spcPct val="0"/>
              </a:spcBef>
              <a:spcAft>
                <a:spcPct val="0"/>
              </a:spcAft>
              <a:buNone/>
            </a:pPr>
            <a:r>
              <a:rPr lang="es-CL" sz="3600">
                <a:latin typeface="Arial"/>
                <a:cs typeface="Arial"/>
              </a:rPr>
              <a:t>¿Qué son las </a:t>
            </a:r>
            <a:r>
              <a:rPr lang="es-CL" sz="3600" b="1" err="1">
                <a:solidFill>
                  <a:srgbClr val="4E7CDD"/>
                </a:solidFill>
                <a:latin typeface="Arial"/>
                <a:cs typeface="Arial"/>
              </a:rPr>
              <a:t>APIs</a:t>
            </a:r>
            <a:r>
              <a:rPr lang="es-CL" sz="3600">
                <a:latin typeface="Arial"/>
                <a:cs typeface="Arial"/>
              </a:rPr>
              <a:t>?</a:t>
            </a:r>
            <a:endParaRPr lang="es-ES" sz="3600"/>
          </a:p>
        </p:txBody>
      </p:sp>
      <p:pic>
        <p:nvPicPr>
          <p:cNvPr id="5" name="Imagen 4" descr="Diagrama, Esquemático&#10;&#10;Descripción generada automáticamente">
            <a:extLst>
              <a:ext uri="{FF2B5EF4-FFF2-40B4-BE49-F238E27FC236}">
                <a16:creationId xmlns:a16="http://schemas.microsoft.com/office/drawing/2014/main" id="{5B5E67E7-D168-D734-862D-FA93218C4EB5}"/>
              </a:ext>
            </a:extLst>
          </p:cNvPr>
          <p:cNvPicPr>
            <a:picLocks noChangeAspect="1"/>
          </p:cNvPicPr>
          <p:nvPr/>
        </p:nvPicPr>
        <p:blipFill>
          <a:blip r:embed="rId3"/>
          <a:stretch>
            <a:fillRect/>
          </a:stretch>
        </p:blipFill>
        <p:spPr>
          <a:xfrm>
            <a:off x="2578013" y="1850525"/>
            <a:ext cx="7046413" cy="4242540"/>
          </a:xfrm>
          <a:prstGeom prst="rect">
            <a:avLst/>
          </a:prstGeom>
        </p:spPr>
      </p:pic>
    </p:spTree>
    <p:extLst>
      <p:ext uri="{BB962C8B-B14F-4D97-AF65-F5344CB8AC3E}">
        <p14:creationId xmlns:p14="http://schemas.microsoft.com/office/powerpoint/2010/main" val="1414435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6162804" cy="469685"/>
          </a:xfrm>
        </p:spPr>
        <p:txBody>
          <a:bodyPr vert="horz" lIns="91440" tIns="45720" rIns="91440" bIns="45720" rtlCol="0" anchor="t">
            <a:noAutofit/>
          </a:bodyPr>
          <a:lstStyle/>
          <a:p>
            <a:pPr marL="227965" indent="-227965"/>
            <a:r>
              <a:rPr lang="es-CL" err="1">
                <a:latin typeface="Arial"/>
                <a:cs typeface="Arial"/>
              </a:rPr>
              <a:t>APIs</a:t>
            </a:r>
            <a:endParaRPr lang="es-ES" err="1"/>
          </a:p>
        </p:txBody>
      </p:sp>
      <p:sp>
        <p:nvSpPr>
          <p:cNvPr id="4" name="Rectangle 1">
            <a:extLst>
              <a:ext uri="{FF2B5EF4-FFF2-40B4-BE49-F238E27FC236}">
                <a16:creationId xmlns:a16="http://schemas.microsoft.com/office/drawing/2014/main" id="{F914B708-B034-DE07-667B-0AA1F2B68EEB}"/>
              </a:ext>
            </a:extLst>
          </p:cNvPr>
          <p:cNvSpPr>
            <a:spLocks noGrp="1" noChangeArrowheads="1"/>
          </p:cNvSpPr>
          <p:nvPr>
            <p:ph type="body" sz="quarter" idx="14"/>
          </p:nvPr>
        </p:nvSpPr>
        <p:spPr bwMode="auto">
          <a:xfrm>
            <a:off x="652679" y="1036627"/>
            <a:ext cx="10753993" cy="1287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defTabSz="914400">
              <a:lnSpc>
                <a:spcPct val="150000"/>
              </a:lnSpc>
              <a:buNone/>
            </a:pPr>
            <a:r>
              <a:rPr lang="es-ES" sz="1800" b="1">
                <a:solidFill>
                  <a:srgbClr val="4E7CDD"/>
                </a:solidFill>
                <a:latin typeface="Arial"/>
                <a:cs typeface="Arial"/>
              </a:rPr>
              <a:t>API (</a:t>
            </a:r>
            <a:r>
              <a:rPr lang="es-ES" sz="1800" b="1" err="1">
                <a:solidFill>
                  <a:srgbClr val="4E7CDD"/>
                </a:solidFill>
                <a:latin typeface="Arial"/>
                <a:cs typeface="Arial"/>
              </a:rPr>
              <a:t>Application</a:t>
            </a:r>
            <a:r>
              <a:rPr lang="es-ES" sz="1800" b="1">
                <a:solidFill>
                  <a:srgbClr val="4E7CDD"/>
                </a:solidFill>
                <a:latin typeface="Arial"/>
                <a:cs typeface="Arial"/>
              </a:rPr>
              <a:t> </a:t>
            </a:r>
            <a:r>
              <a:rPr lang="es-ES" sz="1800" b="1" err="1">
                <a:solidFill>
                  <a:srgbClr val="4E7CDD"/>
                </a:solidFill>
                <a:latin typeface="Arial"/>
                <a:cs typeface="Arial"/>
              </a:rPr>
              <a:t>Programming</a:t>
            </a:r>
            <a:r>
              <a:rPr lang="es-ES" sz="1800" b="1">
                <a:solidFill>
                  <a:srgbClr val="4E7CDD"/>
                </a:solidFill>
                <a:latin typeface="Arial"/>
                <a:cs typeface="Arial"/>
              </a:rPr>
              <a:t> Interface)</a:t>
            </a:r>
            <a:r>
              <a:rPr lang="es-ES" sz="1800">
                <a:latin typeface="Arial"/>
                <a:cs typeface="Arial"/>
              </a:rPr>
              <a:t>, es una interfaz que permite que</a:t>
            </a:r>
            <a:r>
              <a:rPr lang="es-ES" sz="1800" b="1">
                <a:solidFill>
                  <a:srgbClr val="4E7CDD"/>
                </a:solidFill>
                <a:latin typeface="Arial"/>
                <a:cs typeface="Arial"/>
              </a:rPr>
              <a:t> dos aplicaciones se comuniquen entre sí</a:t>
            </a:r>
            <a:r>
              <a:rPr lang="es-ES" sz="1800">
                <a:latin typeface="Arial"/>
                <a:cs typeface="Arial"/>
              </a:rPr>
              <a:t>. Las </a:t>
            </a:r>
            <a:r>
              <a:rPr lang="es-ES" sz="1800" err="1">
                <a:latin typeface="Arial"/>
                <a:cs typeface="Arial"/>
              </a:rPr>
              <a:t>APIs</a:t>
            </a:r>
            <a:r>
              <a:rPr lang="es-ES" sz="1800">
                <a:latin typeface="Arial"/>
                <a:cs typeface="Arial"/>
              </a:rPr>
              <a:t> definen el conjunto de reglas y protocolos que las aplicaciones deben seguir para solicitar y compartir datos o funcionalidades.</a:t>
            </a:r>
            <a:endParaRPr lang="es-ES"/>
          </a:p>
        </p:txBody>
      </p:sp>
      <p:sp>
        <p:nvSpPr>
          <p:cNvPr id="26" name="Rectángulo: esquinas redondeadas 25">
            <a:extLst>
              <a:ext uri="{FF2B5EF4-FFF2-40B4-BE49-F238E27FC236}">
                <a16:creationId xmlns:a16="http://schemas.microsoft.com/office/drawing/2014/main" id="{46BBD712-8C9E-CDE8-5F24-6235699D2C25}"/>
              </a:ext>
            </a:extLst>
          </p:cNvPr>
          <p:cNvSpPr/>
          <p:nvPr/>
        </p:nvSpPr>
        <p:spPr>
          <a:xfrm>
            <a:off x="6065029" y="3031474"/>
            <a:ext cx="5346821" cy="1044215"/>
          </a:xfrm>
          <a:prstGeom prst="roundRect">
            <a:avLst/>
          </a:prstGeom>
          <a:solidFill>
            <a:srgbClr val="BB0034"/>
          </a:solidFill>
          <a:ln>
            <a:solidFill>
              <a:schemeClr val="tx1">
                <a:lumMod val="65000"/>
                <a:lumOff val="35000"/>
              </a:schemeClr>
            </a:solid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600">
                <a:solidFill>
                  <a:schemeClr val="bg1"/>
                </a:solidFill>
                <a:latin typeface="Montserrat"/>
                <a:ea typeface="+mn-lt"/>
                <a:cs typeface="+mn-lt"/>
              </a:rPr>
              <a:t>El servidor (la API) procesa la solicitud y devuelve una respuesta con los datos solicitados.</a:t>
            </a:r>
            <a:endParaRPr lang="es-ES">
              <a:solidFill>
                <a:schemeClr val="bg1"/>
              </a:solidFill>
              <a:latin typeface="Montserrat"/>
              <a:ea typeface="+mn-lt"/>
              <a:cs typeface="+mn-lt"/>
            </a:endParaRPr>
          </a:p>
        </p:txBody>
      </p:sp>
      <p:sp>
        <p:nvSpPr>
          <p:cNvPr id="28" name="Rectángulo: esquinas redondeadas 27">
            <a:extLst>
              <a:ext uri="{FF2B5EF4-FFF2-40B4-BE49-F238E27FC236}">
                <a16:creationId xmlns:a16="http://schemas.microsoft.com/office/drawing/2014/main" id="{0487D4D3-A30F-134A-51A9-7233D89A6BB1}"/>
              </a:ext>
            </a:extLst>
          </p:cNvPr>
          <p:cNvSpPr/>
          <p:nvPr/>
        </p:nvSpPr>
        <p:spPr>
          <a:xfrm>
            <a:off x="776916" y="2993196"/>
            <a:ext cx="4888765" cy="1061107"/>
          </a:xfrm>
          <a:prstGeom prst="roundRect">
            <a:avLst/>
          </a:prstGeom>
          <a:solidFill>
            <a:srgbClr val="00B050"/>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600">
                <a:latin typeface="Montserrat"/>
                <a:ea typeface="+mn-lt"/>
                <a:cs typeface="+mn-lt"/>
              </a:rPr>
              <a:t>El cliente (la aplicación que solicita información) envía una solicitud a la API.</a:t>
            </a:r>
            <a:endParaRPr lang="es-ES">
              <a:latin typeface="Montserrat"/>
              <a:ea typeface="+mn-lt"/>
              <a:cs typeface="+mn-lt"/>
            </a:endParaRPr>
          </a:p>
        </p:txBody>
      </p:sp>
      <p:sp>
        <p:nvSpPr>
          <p:cNvPr id="32" name="Object 3">
            <a:extLst>
              <a:ext uri="{FF2B5EF4-FFF2-40B4-BE49-F238E27FC236}">
                <a16:creationId xmlns:a16="http://schemas.microsoft.com/office/drawing/2014/main" id="{5622300B-F833-AFA3-846D-2DB7855AC961}"/>
              </a:ext>
            </a:extLst>
          </p:cNvPr>
          <p:cNvSpPr/>
          <p:nvPr/>
        </p:nvSpPr>
        <p:spPr>
          <a:xfrm>
            <a:off x="781765" y="2709720"/>
            <a:ext cx="4888839" cy="257341"/>
          </a:xfrm>
          <a:prstGeom prst="rect">
            <a:avLst/>
          </a:prstGeom>
          <a:noFill/>
        </p:spPr>
        <p:txBody>
          <a:bodyPr wrap="square" lIns="0" tIns="0" rIns="0" bIns="0" rtlCol="0" anchor="t"/>
          <a:lstStyle/>
          <a:p>
            <a:pPr algn="ctr">
              <a:lnSpc>
                <a:spcPts val="1814"/>
              </a:lnSpc>
            </a:pPr>
            <a:r>
              <a:rPr lang="es-CL" b="1">
                <a:latin typeface="Arial"/>
                <a:cs typeface="Arial"/>
              </a:rPr>
              <a:t>SOLICITUD</a:t>
            </a:r>
          </a:p>
        </p:txBody>
      </p:sp>
      <p:sp>
        <p:nvSpPr>
          <p:cNvPr id="34" name="Object 3">
            <a:extLst>
              <a:ext uri="{FF2B5EF4-FFF2-40B4-BE49-F238E27FC236}">
                <a16:creationId xmlns:a16="http://schemas.microsoft.com/office/drawing/2014/main" id="{403BBEFE-47E1-EE7F-7031-CE909FDC7FD2}"/>
              </a:ext>
            </a:extLst>
          </p:cNvPr>
          <p:cNvSpPr/>
          <p:nvPr/>
        </p:nvSpPr>
        <p:spPr>
          <a:xfrm>
            <a:off x="6094887" y="2709718"/>
            <a:ext cx="5316812" cy="257343"/>
          </a:xfrm>
          <a:prstGeom prst="rect">
            <a:avLst/>
          </a:prstGeom>
          <a:noFill/>
        </p:spPr>
        <p:txBody>
          <a:bodyPr wrap="square" lIns="0" tIns="0" rIns="0" bIns="0" rtlCol="0" anchor="t"/>
          <a:lstStyle/>
          <a:p>
            <a:pPr algn="ctr">
              <a:lnSpc>
                <a:spcPts val="1814"/>
              </a:lnSpc>
            </a:pPr>
            <a:r>
              <a:rPr lang="es-CL" b="1">
                <a:latin typeface="Arial"/>
                <a:cs typeface="Arial"/>
              </a:rPr>
              <a:t>RESPUESTA</a:t>
            </a:r>
          </a:p>
        </p:txBody>
      </p:sp>
      <p:sp>
        <p:nvSpPr>
          <p:cNvPr id="37" name="Object 3">
            <a:extLst>
              <a:ext uri="{FF2B5EF4-FFF2-40B4-BE49-F238E27FC236}">
                <a16:creationId xmlns:a16="http://schemas.microsoft.com/office/drawing/2014/main" id="{770BFB7F-50E5-F7EC-1E6A-92C4AD254665}"/>
              </a:ext>
            </a:extLst>
          </p:cNvPr>
          <p:cNvSpPr/>
          <p:nvPr/>
        </p:nvSpPr>
        <p:spPr>
          <a:xfrm>
            <a:off x="3516615" y="4494680"/>
            <a:ext cx="4888840" cy="288657"/>
          </a:xfrm>
          <a:prstGeom prst="rect">
            <a:avLst/>
          </a:prstGeom>
          <a:noFill/>
        </p:spPr>
        <p:txBody>
          <a:bodyPr wrap="square" lIns="0" tIns="0" rIns="0" bIns="0" rtlCol="0" anchor="t"/>
          <a:lstStyle/>
          <a:p>
            <a:pPr algn="ctr">
              <a:lnSpc>
                <a:spcPts val="1814"/>
              </a:lnSpc>
            </a:pPr>
            <a:r>
              <a:rPr lang="es-CL" b="1">
                <a:latin typeface="Arial"/>
                <a:ea typeface="+mn-lt"/>
                <a:cs typeface="+mn-lt"/>
              </a:rPr>
              <a:t>FORMATO DE DATOS</a:t>
            </a:r>
            <a:endParaRPr lang="es-ES" b="1">
              <a:latin typeface="Arial"/>
            </a:endParaRPr>
          </a:p>
        </p:txBody>
      </p:sp>
      <p:sp>
        <p:nvSpPr>
          <p:cNvPr id="38" name="Rectángulo: esquinas redondeadas 37">
            <a:extLst>
              <a:ext uri="{FF2B5EF4-FFF2-40B4-BE49-F238E27FC236}">
                <a16:creationId xmlns:a16="http://schemas.microsoft.com/office/drawing/2014/main" id="{A4A52E3B-A24F-4ADD-26E0-358531A516DD}"/>
              </a:ext>
            </a:extLst>
          </p:cNvPr>
          <p:cNvSpPr/>
          <p:nvPr/>
        </p:nvSpPr>
        <p:spPr>
          <a:xfrm>
            <a:off x="3511765" y="4809471"/>
            <a:ext cx="4888766" cy="570503"/>
          </a:xfrm>
          <a:prstGeom prst="roundRect">
            <a:avLst/>
          </a:prstGeom>
          <a:solidFill>
            <a:srgbClr val="4E7CDD"/>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600" b="1">
                <a:latin typeface="Montserrat"/>
                <a:ea typeface="+mn-lt"/>
                <a:cs typeface="+mn-lt"/>
              </a:rPr>
              <a:t>JSON, XML, CSV, YAML, etc.</a:t>
            </a:r>
            <a:endParaRPr lang="es-ES">
              <a:latin typeface="Montserrat"/>
            </a:endParaRPr>
          </a:p>
        </p:txBody>
      </p:sp>
    </p:spTree>
    <p:extLst>
      <p:ext uri="{BB962C8B-B14F-4D97-AF65-F5344CB8AC3E}">
        <p14:creationId xmlns:p14="http://schemas.microsoft.com/office/powerpoint/2010/main" val="13234677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6162804" cy="469685"/>
          </a:xfrm>
        </p:spPr>
        <p:txBody>
          <a:bodyPr vert="horz" lIns="91440" tIns="45720" rIns="91440" bIns="45720" rtlCol="0" anchor="t">
            <a:noAutofit/>
          </a:bodyPr>
          <a:lstStyle/>
          <a:p>
            <a:pPr marL="227965" indent="-227965"/>
            <a:r>
              <a:rPr lang="es-CL">
                <a:latin typeface="Arial"/>
                <a:cs typeface="Arial"/>
              </a:rPr>
              <a:t>Formato de datos en </a:t>
            </a:r>
            <a:r>
              <a:rPr lang="es-CL" err="1">
                <a:latin typeface="Arial"/>
                <a:cs typeface="Arial"/>
              </a:rPr>
              <a:t>APIs</a:t>
            </a:r>
            <a:endParaRPr lang="es-ES" err="1"/>
          </a:p>
        </p:txBody>
      </p:sp>
      <p:sp>
        <p:nvSpPr>
          <p:cNvPr id="5" name="Rectángulo: esquinas redondeadas 4">
            <a:extLst>
              <a:ext uri="{FF2B5EF4-FFF2-40B4-BE49-F238E27FC236}">
                <a16:creationId xmlns:a16="http://schemas.microsoft.com/office/drawing/2014/main" id="{7DBD9531-6BF4-323A-2A8B-28C2EDF70DFF}"/>
              </a:ext>
            </a:extLst>
          </p:cNvPr>
          <p:cNvSpPr/>
          <p:nvPr/>
        </p:nvSpPr>
        <p:spPr>
          <a:xfrm>
            <a:off x="2102587" y="1580657"/>
            <a:ext cx="4085012" cy="372175"/>
          </a:xfrm>
          <a:prstGeom prst="roundRect">
            <a:avLst/>
          </a:prstGeom>
          <a:solidFill>
            <a:srgbClr val="EE7623"/>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600">
                <a:latin typeface="Montserrat"/>
                <a:ea typeface="+mn-lt"/>
                <a:cs typeface="+mn-lt"/>
              </a:rPr>
              <a:t>Formato ligero y fácil de leer/escribir.</a:t>
            </a:r>
            <a:endParaRPr lang="es-ES">
              <a:latin typeface="Montserrat"/>
            </a:endParaRPr>
          </a:p>
        </p:txBody>
      </p:sp>
      <p:sp>
        <p:nvSpPr>
          <p:cNvPr id="7" name="Rectángulo: esquinas redondeadas 6">
            <a:extLst>
              <a:ext uri="{FF2B5EF4-FFF2-40B4-BE49-F238E27FC236}">
                <a16:creationId xmlns:a16="http://schemas.microsoft.com/office/drawing/2014/main" id="{5D727DF4-A088-6C71-5A33-434707D3A8C6}"/>
              </a:ext>
            </a:extLst>
          </p:cNvPr>
          <p:cNvSpPr/>
          <p:nvPr/>
        </p:nvSpPr>
        <p:spPr>
          <a:xfrm>
            <a:off x="6559766" y="1580657"/>
            <a:ext cx="4074574" cy="372175"/>
          </a:xfrm>
          <a:prstGeom prst="roundRect">
            <a:avLst/>
          </a:prstGeom>
          <a:solidFill>
            <a:srgbClr val="4E7CDD"/>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600">
                <a:latin typeface="Montserrat"/>
                <a:ea typeface="+mn-lt"/>
                <a:cs typeface="+mn-lt"/>
              </a:rPr>
              <a:t>Formato más pesado y estructurado.</a:t>
            </a:r>
            <a:endParaRPr lang="es-ES">
              <a:latin typeface="Montserrat"/>
              <a:ea typeface="+mn-lt"/>
              <a:cs typeface="+mn-lt"/>
            </a:endParaRPr>
          </a:p>
        </p:txBody>
      </p:sp>
      <p:pic>
        <p:nvPicPr>
          <p:cNvPr id="10" name="Imagen 9" descr="Texto&#10;&#10;Descripción generada automáticamente">
            <a:extLst>
              <a:ext uri="{FF2B5EF4-FFF2-40B4-BE49-F238E27FC236}">
                <a16:creationId xmlns:a16="http://schemas.microsoft.com/office/drawing/2014/main" id="{B9882E6C-AC35-F601-F70D-AE223B80C218}"/>
              </a:ext>
            </a:extLst>
          </p:cNvPr>
          <p:cNvPicPr>
            <a:picLocks noChangeAspect="1"/>
          </p:cNvPicPr>
          <p:nvPr/>
        </p:nvPicPr>
        <p:blipFill>
          <a:blip r:embed="rId3"/>
          <a:stretch>
            <a:fillRect/>
          </a:stretch>
        </p:blipFill>
        <p:spPr>
          <a:xfrm>
            <a:off x="2105364" y="2056356"/>
            <a:ext cx="4087765" cy="3997890"/>
          </a:xfrm>
          <a:prstGeom prst="rect">
            <a:avLst/>
          </a:prstGeom>
        </p:spPr>
      </p:pic>
      <p:pic>
        <p:nvPicPr>
          <p:cNvPr id="11" name="Imagen 10" descr="Texto&#10;&#10;Descripción generada automáticamente">
            <a:extLst>
              <a:ext uri="{FF2B5EF4-FFF2-40B4-BE49-F238E27FC236}">
                <a16:creationId xmlns:a16="http://schemas.microsoft.com/office/drawing/2014/main" id="{3D3148EC-4660-313D-9B2E-7CD370AF1BE8}"/>
              </a:ext>
            </a:extLst>
          </p:cNvPr>
          <p:cNvPicPr>
            <a:picLocks noChangeAspect="1"/>
          </p:cNvPicPr>
          <p:nvPr/>
        </p:nvPicPr>
        <p:blipFill>
          <a:blip r:embed="rId4"/>
          <a:stretch>
            <a:fillRect/>
          </a:stretch>
        </p:blipFill>
        <p:spPr>
          <a:xfrm>
            <a:off x="6564677" y="2087672"/>
            <a:ext cx="4083493" cy="3987452"/>
          </a:xfrm>
          <a:prstGeom prst="rect">
            <a:avLst/>
          </a:prstGeom>
        </p:spPr>
      </p:pic>
      <p:sp>
        <p:nvSpPr>
          <p:cNvPr id="15" name="Object 3">
            <a:extLst>
              <a:ext uri="{FF2B5EF4-FFF2-40B4-BE49-F238E27FC236}">
                <a16:creationId xmlns:a16="http://schemas.microsoft.com/office/drawing/2014/main" id="{664DF727-6427-A706-032C-55D63976233B}"/>
              </a:ext>
            </a:extLst>
          </p:cNvPr>
          <p:cNvSpPr/>
          <p:nvPr/>
        </p:nvSpPr>
        <p:spPr>
          <a:xfrm>
            <a:off x="2107434" y="1286741"/>
            <a:ext cx="4095525" cy="288656"/>
          </a:xfrm>
          <a:prstGeom prst="rect">
            <a:avLst/>
          </a:prstGeom>
          <a:noFill/>
        </p:spPr>
        <p:txBody>
          <a:bodyPr wrap="square" lIns="0" tIns="0" rIns="0" bIns="0" rtlCol="0" anchor="t"/>
          <a:lstStyle/>
          <a:p>
            <a:pPr algn="ctr">
              <a:lnSpc>
                <a:spcPts val="1814"/>
              </a:lnSpc>
            </a:pPr>
            <a:r>
              <a:rPr lang="es-CL" b="1">
                <a:latin typeface="Arial"/>
                <a:cs typeface="Arial"/>
              </a:rPr>
              <a:t>JSON </a:t>
            </a:r>
            <a:r>
              <a:rPr lang="es-CL">
                <a:latin typeface="Arial"/>
                <a:ea typeface="+mn-lt"/>
                <a:cs typeface="+mn-lt"/>
              </a:rPr>
              <a:t>(JavaScript </a:t>
            </a:r>
            <a:r>
              <a:rPr lang="es-CL" err="1">
                <a:latin typeface="Arial"/>
                <a:ea typeface="+mn-lt"/>
                <a:cs typeface="+mn-lt"/>
              </a:rPr>
              <a:t>Object</a:t>
            </a:r>
            <a:r>
              <a:rPr lang="es-CL">
                <a:latin typeface="Arial"/>
                <a:ea typeface="+mn-lt"/>
                <a:cs typeface="+mn-lt"/>
              </a:rPr>
              <a:t> </a:t>
            </a:r>
            <a:r>
              <a:rPr lang="es-CL" err="1">
                <a:latin typeface="Arial"/>
                <a:ea typeface="+mn-lt"/>
                <a:cs typeface="+mn-lt"/>
              </a:rPr>
              <a:t>Notation</a:t>
            </a:r>
            <a:r>
              <a:rPr lang="es-CL">
                <a:latin typeface="Arial"/>
                <a:ea typeface="+mn-lt"/>
                <a:cs typeface="+mn-lt"/>
              </a:rPr>
              <a:t>)</a:t>
            </a:r>
            <a:endParaRPr lang="es-CL" b="1">
              <a:latin typeface="Arial"/>
              <a:cs typeface="Arial"/>
            </a:endParaRPr>
          </a:p>
        </p:txBody>
      </p:sp>
      <p:sp>
        <p:nvSpPr>
          <p:cNvPr id="16" name="CuadroTexto 15">
            <a:extLst>
              <a:ext uri="{FF2B5EF4-FFF2-40B4-BE49-F238E27FC236}">
                <a16:creationId xmlns:a16="http://schemas.microsoft.com/office/drawing/2014/main" id="{FB4BE7DF-987B-323E-70BB-1C27A860870C}"/>
              </a:ext>
            </a:extLst>
          </p:cNvPr>
          <p:cNvSpPr txBox="1"/>
          <p:nvPr/>
        </p:nvSpPr>
        <p:spPr>
          <a:xfrm>
            <a:off x="6571989" y="1248428"/>
            <a:ext cx="406887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b="1">
                <a:latin typeface="Arial"/>
                <a:cs typeface="Arial"/>
              </a:rPr>
              <a:t>XML </a:t>
            </a:r>
            <a:r>
              <a:rPr lang="es-ES">
                <a:latin typeface="Arial"/>
                <a:cs typeface="Arial"/>
              </a:rPr>
              <a:t>(</a:t>
            </a:r>
            <a:r>
              <a:rPr lang="es-ES" err="1">
                <a:latin typeface="Arial"/>
                <a:cs typeface="Arial"/>
              </a:rPr>
              <a:t>eXtensible</a:t>
            </a:r>
            <a:r>
              <a:rPr lang="es-ES">
                <a:latin typeface="Arial"/>
                <a:cs typeface="Arial"/>
              </a:rPr>
              <a:t> </a:t>
            </a:r>
            <a:r>
              <a:rPr lang="es-ES" err="1">
                <a:latin typeface="Arial"/>
                <a:cs typeface="Arial"/>
              </a:rPr>
              <a:t>Markup</a:t>
            </a:r>
            <a:r>
              <a:rPr lang="es-ES">
                <a:latin typeface="Arial"/>
                <a:cs typeface="Arial"/>
              </a:rPr>
              <a:t> </a:t>
            </a:r>
            <a:r>
              <a:rPr lang="es-ES" err="1">
                <a:latin typeface="Arial"/>
                <a:cs typeface="Arial"/>
              </a:rPr>
              <a:t>Language</a:t>
            </a:r>
            <a:r>
              <a:rPr lang="es-ES">
                <a:latin typeface="Arial"/>
                <a:cs typeface="Arial"/>
              </a:rPr>
              <a:t>)</a:t>
            </a:r>
          </a:p>
        </p:txBody>
      </p:sp>
    </p:spTree>
    <p:extLst>
      <p:ext uri="{BB962C8B-B14F-4D97-AF65-F5344CB8AC3E}">
        <p14:creationId xmlns:p14="http://schemas.microsoft.com/office/powerpoint/2010/main" val="10912347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10129379" cy="490561"/>
          </a:xfrm>
        </p:spPr>
        <p:txBody>
          <a:bodyPr vert="horz" lIns="91440" tIns="45720" rIns="91440" bIns="45720" rtlCol="0" anchor="t">
            <a:noAutofit/>
          </a:bodyPr>
          <a:lstStyle/>
          <a:p>
            <a:pPr marL="227965" indent="-227965"/>
            <a:r>
              <a:rPr lang="es-CL" dirty="0">
                <a:latin typeface="Arial"/>
                <a:cs typeface="Arial"/>
              </a:rPr>
              <a:t>Buenas prácticas para el diseño de </a:t>
            </a:r>
            <a:r>
              <a:rPr lang="es-CL" dirty="0" err="1">
                <a:latin typeface="Arial"/>
                <a:cs typeface="Arial"/>
              </a:rPr>
              <a:t>APIs</a:t>
            </a:r>
            <a:r>
              <a:rPr lang="es-CL" dirty="0">
                <a:latin typeface="Arial"/>
                <a:cs typeface="Arial"/>
              </a:rPr>
              <a:t> REST</a:t>
            </a:r>
            <a:endParaRPr lang="es-CL" dirty="0"/>
          </a:p>
        </p:txBody>
      </p:sp>
      <p:sp>
        <p:nvSpPr>
          <p:cNvPr id="5" name="Rectangle 1">
            <a:extLst>
              <a:ext uri="{FF2B5EF4-FFF2-40B4-BE49-F238E27FC236}">
                <a16:creationId xmlns:a16="http://schemas.microsoft.com/office/drawing/2014/main" id="{CF3B2F86-2048-FA0B-E71C-206AD0058FE5}"/>
              </a:ext>
            </a:extLst>
          </p:cNvPr>
          <p:cNvSpPr>
            <a:spLocks noGrp="1" noChangeArrowheads="1"/>
          </p:cNvSpPr>
          <p:nvPr>
            <p:ph type="body" sz="quarter" idx="14"/>
          </p:nvPr>
        </p:nvSpPr>
        <p:spPr bwMode="auto">
          <a:xfrm>
            <a:off x="652679" y="1152467"/>
            <a:ext cx="10753993"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defTabSz="914400">
              <a:lnSpc>
                <a:spcPct val="150000"/>
              </a:lnSpc>
              <a:buNone/>
            </a:pPr>
            <a:r>
              <a:rPr lang="es-ES" sz="1800" dirty="0">
                <a:solidFill>
                  <a:srgbClr val="000000"/>
                </a:solidFill>
                <a:latin typeface="Arial"/>
                <a:cs typeface="Arial"/>
              </a:rPr>
              <a:t>Una </a:t>
            </a:r>
            <a:r>
              <a:rPr lang="es-ES" sz="1800" b="1" dirty="0">
                <a:solidFill>
                  <a:srgbClr val="4E7CDD"/>
                </a:solidFill>
                <a:latin typeface="Arial"/>
                <a:cs typeface="Arial"/>
              </a:rPr>
              <a:t>API REST (Interfaz de Programación de Aplicaciones </a:t>
            </a:r>
            <a:r>
              <a:rPr lang="es-ES" sz="1800" b="1" err="1">
                <a:solidFill>
                  <a:srgbClr val="4E7CDD"/>
                </a:solidFill>
                <a:latin typeface="Arial"/>
                <a:cs typeface="Arial"/>
              </a:rPr>
              <a:t>Representational</a:t>
            </a:r>
            <a:r>
              <a:rPr lang="es-ES" sz="1800" b="1" dirty="0">
                <a:solidFill>
                  <a:srgbClr val="4E7CDD"/>
                </a:solidFill>
                <a:latin typeface="Arial"/>
                <a:cs typeface="Arial"/>
              </a:rPr>
              <a:t> </a:t>
            </a:r>
            <a:r>
              <a:rPr lang="es-ES" sz="1800" b="1" err="1">
                <a:solidFill>
                  <a:srgbClr val="4E7CDD"/>
                </a:solidFill>
                <a:latin typeface="Arial"/>
                <a:cs typeface="Arial"/>
              </a:rPr>
              <a:t>State</a:t>
            </a:r>
            <a:r>
              <a:rPr lang="es-ES" sz="1800" b="1" dirty="0">
                <a:solidFill>
                  <a:srgbClr val="4E7CDD"/>
                </a:solidFill>
                <a:latin typeface="Arial"/>
                <a:cs typeface="Arial"/>
              </a:rPr>
              <a:t> Transfer)</a:t>
            </a:r>
            <a:r>
              <a:rPr lang="es-ES" sz="1800" b="1" dirty="0">
                <a:solidFill>
                  <a:srgbClr val="000000"/>
                </a:solidFill>
                <a:latin typeface="Arial"/>
                <a:cs typeface="Arial"/>
              </a:rPr>
              <a:t> </a:t>
            </a:r>
            <a:r>
              <a:rPr lang="es-ES" sz="1800" dirty="0">
                <a:latin typeface="Arial"/>
                <a:cs typeface="Arial"/>
              </a:rPr>
              <a:t>es un conjunto de reglas y convenciones para crear e interactuar con servicios web. </a:t>
            </a:r>
            <a:r>
              <a:rPr lang="es-ES" sz="1800" b="1" dirty="0">
                <a:solidFill>
                  <a:srgbClr val="4E7CDD"/>
                </a:solidFill>
                <a:latin typeface="Arial"/>
                <a:cs typeface="Arial"/>
              </a:rPr>
              <a:t>REST </a:t>
            </a:r>
            <a:r>
              <a:rPr lang="es-ES" sz="1800" dirty="0">
                <a:latin typeface="Arial"/>
                <a:cs typeface="Arial"/>
              </a:rPr>
              <a:t>es una </a:t>
            </a:r>
            <a:r>
              <a:rPr lang="es-ES" sz="1800" b="1" dirty="0">
                <a:solidFill>
                  <a:srgbClr val="4E7CDD"/>
                </a:solidFill>
                <a:latin typeface="Arial"/>
                <a:cs typeface="Arial"/>
              </a:rPr>
              <a:t>arquitectura </a:t>
            </a:r>
            <a:r>
              <a:rPr lang="es-ES" sz="1800" dirty="0">
                <a:latin typeface="Arial"/>
                <a:cs typeface="Arial"/>
              </a:rPr>
              <a:t>de software que impone ciertas restricciones para el diseño de los servicios web, lo que facilita la creación de sistemas escalables, mantenibles y eficientes.</a:t>
            </a:r>
            <a:endParaRPr lang="es-ES" dirty="0"/>
          </a:p>
        </p:txBody>
      </p:sp>
      <p:sp>
        <p:nvSpPr>
          <p:cNvPr id="6" name="CuadroTexto 5">
            <a:extLst>
              <a:ext uri="{FF2B5EF4-FFF2-40B4-BE49-F238E27FC236}">
                <a16:creationId xmlns:a16="http://schemas.microsoft.com/office/drawing/2014/main" id="{714201E9-B7AF-8253-A5D8-C9B2563D6E94}"/>
              </a:ext>
            </a:extLst>
          </p:cNvPr>
          <p:cNvSpPr txBox="1"/>
          <p:nvPr/>
        </p:nvSpPr>
        <p:spPr>
          <a:xfrm>
            <a:off x="622126" y="3231715"/>
            <a:ext cx="10947747" cy="25385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Wingdings"/>
              <a:buChar char="§"/>
            </a:pPr>
            <a:r>
              <a:rPr lang="es-CL" b="1" dirty="0">
                <a:latin typeface="Arial"/>
                <a:cs typeface="Arial"/>
              </a:rPr>
              <a:t>SIMPLICIDAD</a:t>
            </a:r>
            <a:r>
              <a:rPr lang="es-CL" dirty="0">
                <a:latin typeface="Arial"/>
                <a:cs typeface="Arial"/>
              </a:rPr>
              <a:t>: </a:t>
            </a:r>
            <a:r>
              <a:rPr lang="es-CL" dirty="0">
                <a:latin typeface="Montserrat"/>
                <a:cs typeface="Arial"/>
              </a:rPr>
              <a:t>Las </a:t>
            </a:r>
            <a:r>
              <a:rPr lang="es-CL" err="1">
                <a:latin typeface="Montserrat"/>
                <a:cs typeface="Arial"/>
              </a:rPr>
              <a:t>APIs</a:t>
            </a:r>
            <a:r>
              <a:rPr lang="es-CL" dirty="0">
                <a:latin typeface="Montserrat"/>
                <a:cs typeface="Arial"/>
              </a:rPr>
              <a:t> REST son fáciles de entender y usar debido al uso de HTTP y sus métodos estándar.</a:t>
            </a:r>
            <a:endParaRPr lang="es-CL" dirty="0">
              <a:latin typeface="Montserrat"/>
            </a:endParaRPr>
          </a:p>
          <a:p>
            <a:pPr marL="285750" indent="-285750">
              <a:lnSpc>
                <a:spcPct val="150000"/>
              </a:lnSpc>
              <a:buFont typeface="Wingdings"/>
              <a:buChar char="§"/>
            </a:pPr>
            <a:r>
              <a:rPr lang="es-CL" b="1" dirty="0">
                <a:latin typeface="Arial"/>
                <a:cs typeface="Arial"/>
              </a:rPr>
              <a:t>ESCALABILIDAD</a:t>
            </a:r>
            <a:r>
              <a:rPr lang="es-CL" dirty="0">
                <a:latin typeface="Arial"/>
                <a:cs typeface="Arial"/>
              </a:rPr>
              <a:t>: </a:t>
            </a:r>
            <a:r>
              <a:rPr lang="es-CL" dirty="0">
                <a:latin typeface="Montserrat"/>
                <a:cs typeface="Arial"/>
              </a:rPr>
              <a:t>La arquitectura REST permite la construcción de sistemas escalables.</a:t>
            </a:r>
          </a:p>
          <a:p>
            <a:pPr marL="285750" indent="-285750">
              <a:lnSpc>
                <a:spcPct val="150000"/>
              </a:lnSpc>
              <a:buFont typeface="Wingdings"/>
              <a:buChar char="§"/>
            </a:pPr>
            <a:r>
              <a:rPr lang="es-CL" b="1" dirty="0">
                <a:latin typeface="Arial"/>
                <a:cs typeface="Arial"/>
              </a:rPr>
              <a:t>FLEXIBILIDAD</a:t>
            </a:r>
            <a:r>
              <a:rPr lang="es-CL" dirty="0">
                <a:latin typeface="Arial"/>
                <a:cs typeface="Arial"/>
              </a:rPr>
              <a:t>: </a:t>
            </a:r>
            <a:r>
              <a:rPr lang="es-CL" dirty="0">
                <a:latin typeface="Montserrat"/>
                <a:cs typeface="Arial"/>
              </a:rPr>
              <a:t>Los recursos pueden ser representados en múltiples formatos.</a:t>
            </a:r>
          </a:p>
          <a:p>
            <a:pPr marL="285750" indent="-285750">
              <a:lnSpc>
                <a:spcPct val="150000"/>
              </a:lnSpc>
              <a:buFont typeface="Wingdings"/>
              <a:buChar char="§"/>
            </a:pPr>
            <a:r>
              <a:rPr lang="es-CL" b="1" dirty="0">
                <a:latin typeface="Arial"/>
                <a:cs typeface="Arial"/>
              </a:rPr>
              <a:t>INTEROPERABILIDAD</a:t>
            </a:r>
            <a:r>
              <a:rPr lang="es-CL" dirty="0">
                <a:latin typeface="Arial"/>
                <a:cs typeface="Arial"/>
              </a:rPr>
              <a:t>: </a:t>
            </a:r>
            <a:r>
              <a:rPr lang="es-CL" dirty="0">
                <a:latin typeface="Montserrat"/>
                <a:cs typeface="Arial"/>
              </a:rPr>
              <a:t>Las </a:t>
            </a:r>
            <a:r>
              <a:rPr lang="es-CL" dirty="0" err="1">
                <a:latin typeface="Montserrat"/>
                <a:cs typeface="Arial"/>
              </a:rPr>
              <a:t>APIs</a:t>
            </a:r>
            <a:r>
              <a:rPr lang="es-CL" dirty="0">
                <a:latin typeface="Montserrat"/>
                <a:cs typeface="Arial"/>
              </a:rPr>
              <a:t> REST pueden ser consumidas por diferentes plataformas y lenguajes de programación.</a:t>
            </a:r>
          </a:p>
        </p:txBody>
      </p:sp>
    </p:spTree>
    <p:extLst>
      <p:ext uri="{BB962C8B-B14F-4D97-AF65-F5344CB8AC3E}">
        <p14:creationId xmlns:p14="http://schemas.microsoft.com/office/powerpoint/2010/main" val="7290630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10129379" cy="490561"/>
          </a:xfrm>
        </p:spPr>
        <p:txBody>
          <a:bodyPr vert="horz" lIns="91440" tIns="45720" rIns="91440" bIns="45720" rtlCol="0" anchor="t">
            <a:noAutofit/>
          </a:bodyPr>
          <a:lstStyle/>
          <a:p>
            <a:pPr marL="227965" indent="-227965"/>
            <a:r>
              <a:rPr lang="es-CL" dirty="0">
                <a:latin typeface="Arial"/>
                <a:cs typeface="Arial"/>
              </a:rPr>
              <a:t>Buenas prácticas para el diseño de </a:t>
            </a:r>
            <a:r>
              <a:rPr lang="es-CL" dirty="0" err="1">
                <a:latin typeface="Arial"/>
                <a:cs typeface="Arial"/>
              </a:rPr>
              <a:t>APIs</a:t>
            </a:r>
            <a:r>
              <a:rPr lang="es-CL" dirty="0">
                <a:latin typeface="Arial"/>
                <a:cs typeface="Arial"/>
              </a:rPr>
              <a:t> REST</a:t>
            </a:r>
            <a:endParaRPr lang="es-CL" dirty="0"/>
          </a:p>
        </p:txBody>
      </p:sp>
      <p:sp>
        <p:nvSpPr>
          <p:cNvPr id="5" name="Rectangle 1">
            <a:extLst>
              <a:ext uri="{FF2B5EF4-FFF2-40B4-BE49-F238E27FC236}">
                <a16:creationId xmlns:a16="http://schemas.microsoft.com/office/drawing/2014/main" id="{CF3B2F86-2048-FA0B-E71C-206AD0058FE5}"/>
              </a:ext>
            </a:extLst>
          </p:cNvPr>
          <p:cNvSpPr>
            <a:spLocks noGrp="1" noChangeArrowheads="1"/>
          </p:cNvSpPr>
          <p:nvPr>
            <p:ph type="body" sz="quarter" idx="14"/>
          </p:nvPr>
        </p:nvSpPr>
        <p:spPr bwMode="auto">
          <a:xfrm>
            <a:off x="717255" y="1137897"/>
            <a:ext cx="10753993" cy="802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7965" indent="-227965" algn="just" defTabSz="914400">
              <a:buNone/>
            </a:pPr>
            <a:r>
              <a:rPr lang="es-ES" sz="2400" b="1" dirty="0">
                <a:solidFill>
                  <a:srgbClr val="4E7CDD"/>
                </a:solidFill>
                <a:latin typeface="Arial"/>
                <a:cs typeface="Arial"/>
              </a:rPr>
              <a:t>Versionado de la API</a:t>
            </a:r>
            <a:endParaRPr lang="es-ES" sz="2800" b="1" dirty="0"/>
          </a:p>
          <a:p>
            <a:pPr marL="227965" indent="-227965" algn="just" defTabSz="914400">
              <a:buNone/>
            </a:pPr>
            <a:r>
              <a:rPr lang="es-ES" sz="1800" dirty="0">
                <a:solidFill>
                  <a:srgbClr val="000000"/>
                </a:solidFill>
                <a:latin typeface="Montserrat"/>
                <a:cs typeface="Arial"/>
              </a:rPr>
              <a:t>Facilita la evolución de la API sin romper la compatibilidad con versiones anteriores.</a:t>
            </a:r>
            <a:endParaRPr lang="es-ES">
              <a:latin typeface="Montserrat"/>
            </a:endParaRPr>
          </a:p>
        </p:txBody>
      </p:sp>
      <p:sp>
        <p:nvSpPr>
          <p:cNvPr id="15" name="Rectángulo: esquinas redondeadas 14">
            <a:extLst>
              <a:ext uri="{FF2B5EF4-FFF2-40B4-BE49-F238E27FC236}">
                <a16:creationId xmlns:a16="http://schemas.microsoft.com/office/drawing/2014/main" id="{D5668E26-CD67-B79F-589A-BA36E8FA09CF}"/>
              </a:ext>
            </a:extLst>
          </p:cNvPr>
          <p:cNvSpPr/>
          <p:nvPr/>
        </p:nvSpPr>
        <p:spPr>
          <a:xfrm>
            <a:off x="10280709" y="555506"/>
            <a:ext cx="1657152" cy="450570"/>
          </a:xfrm>
          <a:prstGeom prst="roundRect">
            <a:avLst/>
          </a:prstGeom>
          <a:ln/>
        </p:spPr>
        <p:style>
          <a:lnRef idx="1">
            <a:schemeClr val="dk1"/>
          </a:lnRef>
          <a:fillRef idx="2">
            <a:schemeClr val="dk1"/>
          </a:fillRef>
          <a:effectRef idx="1">
            <a:schemeClr val="dk1"/>
          </a:effectRef>
          <a:fontRef idx="minor">
            <a:schemeClr val="dk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000" b="1" dirty="0">
                <a:solidFill>
                  <a:schemeClr val="bg1"/>
                </a:solidFill>
                <a:latin typeface="Montserrat"/>
                <a:ea typeface="+mn-lt"/>
                <a:cs typeface="+mn-lt"/>
              </a:rPr>
              <a:t>RECOMENDACIONES</a:t>
            </a:r>
          </a:p>
        </p:txBody>
      </p:sp>
      <p:sp>
        <p:nvSpPr>
          <p:cNvPr id="3" name="CuadroTexto 2">
            <a:extLst>
              <a:ext uri="{FF2B5EF4-FFF2-40B4-BE49-F238E27FC236}">
                <a16:creationId xmlns:a16="http://schemas.microsoft.com/office/drawing/2014/main" id="{44C837C2-8D2F-6844-9FDB-978C1D9CAB01}"/>
              </a:ext>
            </a:extLst>
          </p:cNvPr>
          <p:cNvSpPr txBox="1"/>
          <p:nvPr/>
        </p:nvSpPr>
        <p:spPr>
          <a:xfrm>
            <a:off x="733587" y="2244672"/>
            <a:ext cx="1060858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400" b="1" dirty="0">
                <a:solidFill>
                  <a:srgbClr val="4E7CDD"/>
                </a:solidFill>
                <a:latin typeface="Consolas"/>
              </a:rPr>
              <a:t>/api/v1/</a:t>
            </a:r>
            <a:r>
              <a:rPr lang="es-ES" sz="2400" b="1" dirty="0">
                <a:latin typeface="Consolas"/>
              </a:rPr>
              <a:t>libros</a:t>
            </a:r>
            <a:endParaRPr lang="es-ES" sz="2400" b="1" dirty="0">
              <a:latin typeface="Consolas"/>
              <a:cs typeface="Arial"/>
            </a:endParaRPr>
          </a:p>
        </p:txBody>
      </p:sp>
      <p:sp>
        <p:nvSpPr>
          <p:cNvPr id="6" name="CuadroTexto 5">
            <a:extLst>
              <a:ext uri="{FF2B5EF4-FFF2-40B4-BE49-F238E27FC236}">
                <a16:creationId xmlns:a16="http://schemas.microsoft.com/office/drawing/2014/main" id="{676C77BD-F5B2-3D6F-D7C8-EFE223804B17}"/>
              </a:ext>
            </a:extLst>
          </p:cNvPr>
          <p:cNvSpPr txBox="1"/>
          <p:nvPr/>
        </p:nvSpPr>
        <p:spPr>
          <a:xfrm>
            <a:off x="733587" y="3071247"/>
            <a:ext cx="1060858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400" b="1" dirty="0">
                <a:solidFill>
                  <a:srgbClr val="4E7CDD"/>
                </a:solidFill>
                <a:latin typeface="Consolas"/>
              </a:rPr>
              <a:t>/api/v2.1/</a:t>
            </a:r>
            <a:r>
              <a:rPr lang="es-ES" sz="2400" b="1" dirty="0">
                <a:latin typeface="Consolas"/>
              </a:rPr>
              <a:t>personas</a:t>
            </a:r>
            <a:endParaRPr lang="es-ES" sz="2400" b="1" dirty="0">
              <a:latin typeface="Consolas"/>
              <a:cs typeface="Arial"/>
            </a:endParaRPr>
          </a:p>
        </p:txBody>
      </p:sp>
      <p:sp>
        <p:nvSpPr>
          <p:cNvPr id="7" name="CuadroTexto 6">
            <a:extLst>
              <a:ext uri="{FF2B5EF4-FFF2-40B4-BE49-F238E27FC236}">
                <a16:creationId xmlns:a16="http://schemas.microsoft.com/office/drawing/2014/main" id="{2C9CFED6-6EBF-F789-973A-CB5680C4AFA6}"/>
              </a:ext>
            </a:extLst>
          </p:cNvPr>
          <p:cNvSpPr txBox="1"/>
          <p:nvPr/>
        </p:nvSpPr>
        <p:spPr>
          <a:xfrm>
            <a:off x="733586" y="3846162"/>
            <a:ext cx="1060858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400" b="1" dirty="0">
                <a:solidFill>
                  <a:srgbClr val="4E7CDD"/>
                </a:solidFill>
                <a:latin typeface="Consolas"/>
              </a:rPr>
              <a:t>/api/v2.2beta/</a:t>
            </a:r>
            <a:r>
              <a:rPr lang="es-ES" sz="2400" b="1" dirty="0">
                <a:latin typeface="Consolas"/>
              </a:rPr>
              <a:t>boletas</a:t>
            </a:r>
            <a:endParaRPr lang="es-ES" sz="2400" b="1" dirty="0">
              <a:latin typeface="Consolas"/>
              <a:cs typeface="Arial"/>
            </a:endParaRPr>
          </a:p>
        </p:txBody>
      </p:sp>
      <p:sp>
        <p:nvSpPr>
          <p:cNvPr id="13" name="CuadroTexto 12">
            <a:extLst>
              <a:ext uri="{FF2B5EF4-FFF2-40B4-BE49-F238E27FC236}">
                <a16:creationId xmlns:a16="http://schemas.microsoft.com/office/drawing/2014/main" id="{F7CAA1C4-9ED3-E0E0-9510-BC7EF40A6DCB}"/>
              </a:ext>
            </a:extLst>
          </p:cNvPr>
          <p:cNvSpPr txBox="1"/>
          <p:nvPr/>
        </p:nvSpPr>
        <p:spPr>
          <a:xfrm>
            <a:off x="733585" y="4621077"/>
            <a:ext cx="1060858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400" b="1" dirty="0">
                <a:solidFill>
                  <a:srgbClr val="4E7CDD"/>
                </a:solidFill>
                <a:latin typeface="Consolas"/>
              </a:rPr>
              <a:t>/api/v2024/</a:t>
            </a:r>
            <a:r>
              <a:rPr lang="es-ES" sz="2400" b="1" dirty="0">
                <a:latin typeface="Consolas"/>
              </a:rPr>
              <a:t>ventas</a:t>
            </a:r>
            <a:endParaRPr lang="es-ES" sz="2400" b="1" dirty="0">
              <a:latin typeface="Consolas"/>
              <a:cs typeface="Arial"/>
            </a:endParaRPr>
          </a:p>
        </p:txBody>
      </p:sp>
    </p:spTree>
    <p:extLst>
      <p:ext uri="{BB962C8B-B14F-4D97-AF65-F5344CB8AC3E}">
        <p14:creationId xmlns:p14="http://schemas.microsoft.com/office/powerpoint/2010/main" val="25074524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10129379" cy="490561"/>
          </a:xfrm>
        </p:spPr>
        <p:txBody>
          <a:bodyPr vert="horz" lIns="91440" tIns="45720" rIns="91440" bIns="45720" rtlCol="0" anchor="t">
            <a:noAutofit/>
          </a:bodyPr>
          <a:lstStyle/>
          <a:p>
            <a:pPr marL="227965" indent="-227965"/>
            <a:r>
              <a:rPr lang="es-CL" dirty="0">
                <a:latin typeface="Arial"/>
                <a:cs typeface="Arial"/>
              </a:rPr>
              <a:t>Buenas prácticas para el diseño de </a:t>
            </a:r>
            <a:r>
              <a:rPr lang="es-CL" dirty="0" err="1">
                <a:latin typeface="Arial"/>
                <a:cs typeface="Arial"/>
              </a:rPr>
              <a:t>APIs</a:t>
            </a:r>
            <a:r>
              <a:rPr lang="es-CL" dirty="0">
                <a:latin typeface="Arial"/>
                <a:cs typeface="Arial"/>
              </a:rPr>
              <a:t> REST</a:t>
            </a:r>
            <a:endParaRPr lang="es-CL" dirty="0"/>
          </a:p>
        </p:txBody>
      </p:sp>
      <p:sp>
        <p:nvSpPr>
          <p:cNvPr id="5" name="Rectangle 1">
            <a:extLst>
              <a:ext uri="{FF2B5EF4-FFF2-40B4-BE49-F238E27FC236}">
                <a16:creationId xmlns:a16="http://schemas.microsoft.com/office/drawing/2014/main" id="{CF3B2F86-2048-FA0B-E71C-206AD0058FE5}"/>
              </a:ext>
            </a:extLst>
          </p:cNvPr>
          <p:cNvSpPr>
            <a:spLocks noGrp="1" noChangeArrowheads="1"/>
          </p:cNvSpPr>
          <p:nvPr>
            <p:ph type="body" sz="quarter" idx="14"/>
          </p:nvPr>
        </p:nvSpPr>
        <p:spPr bwMode="auto">
          <a:xfrm>
            <a:off x="717255" y="1137898"/>
            <a:ext cx="10753993" cy="802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7965" indent="-227965" algn="just" defTabSz="914400">
              <a:buNone/>
            </a:pPr>
            <a:r>
              <a:rPr lang="es-ES" sz="2400" b="1" dirty="0">
                <a:solidFill>
                  <a:srgbClr val="4E7CDD"/>
                </a:solidFill>
                <a:latin typeface="Arial"/>
                <a:cs typeface="Arial"/>
              </a:rPr>
              <a:t>Nombres Descriptivos y Consistentes</a:t>
            </a:r>
            <a:endParaRPr lang="es-ES" sz="2400" dirty="0">
              <a:solidFill>
                <a:srgbClr val="000000"/>
              </a:solidFill>
            </a:endParaRPr>
          </a:p>
          <a:p>
            <a:pPr marL="227965" indent="-227965" algn="just" defTabSz="914400">
              <a:buNone/>
            </a:pPr>
            <a:r>
              <a:rPr lang="es-ES" sz="1800" dirty="0">
                <a:solidFill>
                  <a:srgbClr val="000000"/>
                </a:solidFill>
                <a:latin typeface="Montserrat"/>
                <a:cs typeface="Arial"/>
              </a:rPr>
              <a:t>Utiliza sustantivos en </a:t>
            </a:r>
            <a:r>
              <a:rPr lang="es-ES" sz="1800" b="1" dirty="0">
                <a:solidFill>
                  <a:srgbClr val="4E7CDD"/>
                </a:solidFill>
                <a:latin typeface="Montserrat"/>
                <a:cs typeface="Arial"/>
              </a:rPr>
              <a:t>plural </a:t>
            </a:r>
            <a:r>
              <a:rPr lang="es-ES" sz="1800" dirty="0">
                <a:solidFill>
                  <a:srgbClr val="000000"/>
                </a:solidFill>
                <a:latin typeface="Montserrat"/>
                <a:cs typeface="Arial"/>
              </a:rPr>
              <a:t>para los nombres de los recursos.</a:t>
            </a:r>
            <a:endParaRPr lang="es-ES" dirty="0">
              <a:latin typeface="Montserrat"/>
            </a:endParaRPr>
          </a:p>
        </p:txBody>
      </p:sp>
      <p:sp>
        <p:nvSpPr>
          <p:cNvPr id="3" name="CuadroTexto 2">
            <a:extLst>
              <a:ext uri="{FF2B5EF4-FFF2-40B4-BE49-F238E27FC236}">
                <a16:creationId xmlns:a16="http://schemas.microsoft.com/office/drawing/2014/main" id="{44C837C2-8D2F-6844-9FDB-978C1D9CAB01}"/>
              </a:ext>
            </a:extLst>
          </p:cNvPr>
          <p:cNvSpPr txBox="1"/>
          <p:nvPr/>
        </p:nvSpPr>
        <p:spPr>
          <a:xfrm>
            <a:off x="656096" y="2838773"/>
            <a:ext cx="1060858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sz="2400" b="1" dirty="0">
                <a:latin typeface="Consolas"/>
              </a:rPr>
              <a:t>/api/v1/</a:t>
            </a:r>
            <a:r>
              <a:rPr lang="es-ES" sz="2400" b="1" dirty="0">
                <a:solidFill>
                  <a:srgbClr val="4E7CDD"/>
                </a:solidFill>
                <a:latin typeface="Consolas"/>
              </a:rPr>
              <a:t>productos </a:t>
            </a:r>
            <a:r>
              <a:rPr lang="es-ES" sz="2400" dirty="0">
                <a:latin typeface="Montserrat"/>
                <a:cs typeface="Arial"/>
              </a:rPr>
              <a:t>en lugar de</a:t>
            </a:r>
            <a:r>
              <a:rPr lang="es-ES" sz="2400" dirty="0">
                <a:latin typeface="Consolas"/>
              </a:rPr>
              <a:t> </a:t>
            </a:r>
            <a:r>
              <a:rPr lang="es-ES" sz="2400" b="1" dirty="0">
                <a:latin typeface="Consolas"/>
              </a:rPr>
              <a:t>/api/v1/producto</a:t>
            </a:r>
            <a:r>
              <a:rPr lang="es-ES" sz="2400" b="1" dirty="0">
                <a:latin typeface="Consolas"/>
                <a:cs typeface="Arial"/>
              </a:rPr>
              <a:t>​</a:t>
            </a:r>
            <a:endParaRPr lang="es-ES" sz="2400" b="1">
              <a:latin typeface="Consolas"/>
            </a:endParaRPr>
          </a:p>
        </p:txBody>
      </p:sp>
      <p:sp>
        <p:nvSpPr>
          <p:cNvPr id="4" name="CuadroTexto 3">
            <a:extLst>
              <a:ext uri="{FF2B5EF4-FFF2-40B4-BE49-F238E27FC236}">
                <a16:creationId xmlns:a16="http://schemas.microsoft.com/office/drawing/2014/main" id="{D5E10CD8-393A-5596-70D7-77A7F025069C}"/>
              </a:ext>
            </a:extLst>
          </p:cNvPr>
          <p:cNvSpPr txBox="1"/>
          <p:nvPr/>
        </p:nvSpPr>
        <p:spPr>
          <a:xfrm>
            <a:off x="656095" y="4181959"/>
            <a:ext cx="1060858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s-ES" b="1" dirty="0">
                <a:latin typeface="Consolas"/>
              </a:rPr>
              <a:t>/api/v1/estudiantes/11/notas</a:t>
            </a:r>
            <a:r>
              <a:rPr lang="es-ES" b="1" dirty="0">
                <a:latin typeface="Montserrat"/>
              </a:rPr>
              <a:t> </a:t>
            </a:r>
            <a:r>
              <a:rPr lang="es-ES" dirty="0">
                <a:latin typeface="Montserrat"/>
              </a:rPr>
              <a:t>en lugar de </a:t>
            </a:r>
            <a:r>
              <a:rPr lang="es-ES" b="1" dirty="0">
                <a:latin typeface="Consolas"/>
              </a:rPr>
              <a:t>/</a:t>
            </a:r>
            <a:r>
              <a:rPr lang="es-ES" b="1" err="1">
                <a:latin typeface="Consolas"/>
              </a:rPr>
              <a:t>obtenerNotasEstudiante</a:t>
            </a:r>
            <a:r>
              <a:rPr lang="es-ES" b="1" dirty="0">
                <a:latin typeface="Consolas"/>
                <a:cs typeface="Arial"/>
              </a:rPr>
              <a:t>/11</a:t>
            </a:r>
          </a:p>
        </p:txBody>
      </p:sp>
      <p:sp>
        <p:nvSpPr>
          <p:cNvPr id="6" name="CuadroTexto 5">
            <a:extLst>
              <a:ext uri="{FF2B5EF4-FFF2-40B4-BE49-F238E27FC236}">
                <a16:creationId xmlns:a16="http://schemas.microsoft.com/office/drawing/2014/main" id="{C497DEB0-483C-B13C-BA96-5008A6481306}"/>
              </a:ext>
            </a:extLst>
          </p:cNvPr>
          <p:cNvSpPr txBox="1"/>
          <p:nvPr/>
        </p:nvSpPr>
        <p:spPr>
          <a:xfrm>
            <a:off x="1418095" y="5370163"/>
            <a:ext cx="400889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b="1" dirty="0">
                <a:latin typeface="Consolas"/>
              </a:rPr>
              <a:t>/api/v1/productos/11</a:t>
            </a:r>
            <a:endParaRPr lang="es-ES" dirty="0">
              <a:latin typeface="Consolas"/>
            </a:endParaRPr>
          </a:p>
        </p:txBody>
      </p:sp>
      <p:sp>
        <p:nvSpPr>
          <p:cNvPr id="7" name="CuadroTexto 6">
            <a:extLst>
              <a:ext uri="{FF2B5EF4-FFF2-40B4-BE49-F238E27FC236}">
                <a16:creationId xmlns:a16="http://schemas.microsoft.com/office/drawing/2014/main" id="{C0A34FF9-5D62-EF00-3C94-4DDCCBA3842B}"/>
              </a:ext>
            </a:extLst>
          </p:cNvPr>
          <p:cNvSpPr txBox="1"/>
          <p:nvPr/>
        </p:nvSpPr>
        <p:spPr>
          <a:xfrm>
            <a:off x="4724399" y="5370163"/>
            <a:ext cx="400889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b="1" dirty="0">
                <a:latin typeface="Consolas"/>
              </a:rPr>
              <a:t>/api/v1/boleta/2000</a:t>
            </a:r>
            <a:endParaRPr lang="es-ES" dirty="0">
              <a:latin typeface="Consolas"/>
            </a:endParaRPr>
          </a:p>
        </p:txBody>
      </p:sp>
      <p:sp>
        <p:nvSpPr>
          <p:cNvPr id="8" name="CuadroTexto 7">
            <a:extLst>
              <a:ext uri="{FF2B5EF4-FFF2-40B4-BE49-F238E27FC236}">
                <a16:creationId xmlns:a16="http://schemas.microsoft.com/office/drawing/2014/main" id="{6D112216-FB2E-3E8F-E92E-D28EBD753C4F}"/>
              </a:ext>
            </a:extLst>
          </p:cNvPr>
          <p:cNvSpPr txBox="1"/>
          <p:nvPr/>
        </p:nvSpPr>
        <p:spPr>
          <a:xfrm>
            <a:off x="7669076" y="5370162"/>
            <a:ext cx="400889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b="1" dirty="0">
                <a:latin typeface="Consolas"/>
              </a:rPr>
              <a:t>/api/v1/compra/2000</a:t>
            </a:r>
            <a:endParaRPr lang="es-ES" dirty="0">
              <a:latin typeface="Consolas"/>
            </a:endParaRPr>
          </a:p>
        </p:txBody>
      </p:sp>
      <p:sp>
        <p:nvSpPr>
          <p:cNvPr id="10" name="Rectángulo: esquinas redondeadas 9">
            <a:extLst>
              <a:ext uri="{FF2B5EF4-FFF2-40B4-BE49-F238E27FC236}">
                <a16:creationId xmlns:a16="http://schemas.microsoft.com/office/drawing/2014/main" id="{3CD46B0F-748D-F569-049E-B3A1C0ED893B}"/>
              </a:ext>
            </a:extLst>
          </p:cNvPr>
          <p:cNvSpPr/>
          <p:nvPr/>
        </p:nvSpPr>
        <p:spPr>
          <a:xfrm>
            <a:off x="10280709" y="555506"/>
            <a:ext cx="1657152" cy="450570"/>
          </a:xfrm>
          <a:prstGeom prst="roundRect">
            <a:avLst/>
          </a:prstGeom>
          <a:ln/>
        </p:spPr>
        <p:style>
          <a:lnRef idx="1">
            <a:schemeClr val="dk1"/>
          </a:lnRef>
          <a:fillRef idx="2">
            <a:schemeClr val="dk1"/>
          </a:fillRef>
          <a:effectRef idx="1">
            <a:schemeClr val="dk1"/>
          </a:effectRef>
          <a:fontRef idx="minor">
            <a:schemeClr val="dk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000" b="1" dirty="0">
                <a:solidFill>
                  <a:schemeClr val="bg1"/>
                </a:solidFill>
                <a:latin typeface="Montserrat"/>
                <a:ea typeface="+mn-lt"/>
                <a:cs typeface="+mn-lt"/>
              </a:rPr>
              <a:t>RECOMENDACIONES</a:t>
            </a:r>
          </a:p>
        </p:txBody>
      </p:sp>
    </p:spTree>
    <p:extLst>
      <p:ext uri="{BB962C8B-B14F-4D97-AF65-F5344CB8AC3E}">
        <p14:creationId xmlns:p14="http://schemas.microsoft.com/office/powerpoint/2010/main" val="3594882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10129379" cy="490561"/>
          </a:xfrm>
        </p:spPr>
        <p:txBody>
          <a:bodyPr vert="horz" lIns="91440" tIns="45720" rIns="91440" bIns="45720" rtlCol="0" anchor="t">
            <a:noAutofit/>
          </a:bodyPr>
          <a:lstStyle/>
          <a:p>
            <a:pPr marL="227965" indent="-227965"/>
            <a:r>
              <a:rPr lang="es-CL" dirty="0">
                <a:latin typeface="Arial"/>
                <a:cs typeface="Arial"/>
              </a:rPr>
              <a:t>Buenas prácticas para el diseño de </a:t>
            </a:r>
            <a:r>
              <a:rPr lang="es-CL" dirty="0" err="1">
                <a:latin typeface="Arial"/>
                <a:cs typeface="Arial"/>
              </a:rPr>
              <a:t>APIs</a:t>
            </a:r>
            <a:r>
              <a:rPr lang="es-CL" dirty="0">
                <a:latin typeface="Arial"/>
                <a:cs typeface="Arial"/>
              </a:rPr>
              <a:t> REST</a:t>
            </a:r>
            <a:endParaRPr lang="es-CL" dirty="0"/>
          </a:p>
        </p:txBody>
      </p:sp>
      <p:sp>
        <p:nvSpPr>
          <p:cNvPr id="5" name="Rectangle 1">
            <a:extLst>
              <a:ext uri="{FF2B5EF4-FFF2-40B4-BE49-F238E27FC236}">
                <a16:creationId xmlns:a16="http://schemas.microsoft.com/office/drawing/2014/main" id="{CF3B2F86-2048-FA0B-E71C-206AD0058FE5}"/>
              </a:ext>
            </a:extLst>
          </p:cNvPr>
          <p:cNvSpPr>
            <a:spLocks noGrp="1" noChangeArrowheads="1"/>
          </p:cNvSpPr>
          <p:nvPr>
            <p:ph type="body" sz="quarter" idx="14"/>
          </p:nvPr>
        </p:nvSpPr>
        <p:spPr bwMode="auto">
          <a:xfrm>
            <a:off x="652679" y="996014"/>
            <a:ext cx="11038128" cy="1969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defTabSz="914400">
              <a:lnSpc>
                <a:spcPct val="150000"/>
              </a:lnSpc>
              <a:buNone/>
            </a:pPr>
            <a:r>
              <a:rPr lang="es-ES" sz="2400" b="1" dirty="0">
                <a:solidFill>
                  <a:srgbClr val="4E7CDD"/>
                </a:solidFill>
                <a:latin typeface="Arial"/>
                <a:cs typeface="Arial"/>
              </a:rPr>
              <a:t>Nomenclatura de API para Recursos con Nombres Múltiples Palabras</a:t>
            </a:r>
            <a:endParaRPr lang="es-ES" sz="2400" dirty="0"/>
          </a:p>
          <a:p>
            <a:pPr marL="0" indent="0" algn="just" defTabSz="914400">
              <a:lnSpc>
                <a:spcPct val="150000"/>
              </a:lnSpc>
              <a:buNone/>
            </a:pPr>
            <a:r>
              <a:rPr lang="es-ES" sz="1800" dirty="0">
                <a:solidFill>
                  <a:srgbClr val="000000"/>
                </a:solidFill>
                <a:latin typeface="Montserrat"/>
                <a:cs typeface="Arial"/>
              </a:rPr>
              <a:t>Cuando tienes nombres de recursos que consisten en más de una palabra, es importante mantener una convención de nombres clara y consistente. La convención más común es utilizar la notación </a:t>
            </a:r>
            <a:r>
              <a:rPr lang="es-ES" sz="1800" b="1" dirty="0">
                <a:solidFill>
                  <a:srgbClr val="4E7CDD"/>
                </a:solidFill>
                <a:latin typeface="Montserrat"/>
                <a:cs typeface="Arial"/>
              </a:rPr>
              <a:t>kebab-case</a:t>
            </a:r>
            <a:r>
              <a:rPr lang="es-ES" sz="1800" dirty="0">
                <a:solidFill>
                  <a:srgbClr val="000000"/>
                </a:solidFill>
                <a:latin typeface="Montserrat"/>
                <a:cs typeface="Arial"/>
              </a:rPr>
              <a:t> o </a:t>
            </a:r>
            <a:r>
              <a:rPr lang="es-ES" sz="1800" b="1" err="1">
                <a:solidFill>
                  <a:srgbClr val="4E7CDD"/>
                </a:solidFill>
                <a:latin typeface="Montserrat"/>
                <a:cs typeface="Arial"/>
              </a:rPr>
              <a:t>camelCase</a:t>
            </a:r>
            <a:r>
              <a:rPr lang="es-ES" sz="1800" b="1" dirty="0">
                <a:solidFill>
                  <a:srgbClr val="4E7CDD"/>
                </a:solidFill>
                <a:latin typeface="Montserrat"/>
                <a:cs typeface="Arial"/>
              </a:rPr>
              <a:t> </a:t>
            </a:r>
            <a:r>
              <a:rPr lang="es-ES" sz="1800" dirty="0">
                <a:solidFill>
                  <a:srgbClr val="000000"/>
                </a:solidFill>
                <a:latin typeface="Montserrat"/>
                <a:cs typeface="Arial"/>
              </a:rPr>
              <a:t>para separar las palabras. </a:t>
            </a:r>
            <a:endParaRPr lang="es-ES" dirty="0">
              <a:latin typeface="Montserrat"/>
              <a:cs typeface="Arial"/>
            </a:endParaRPr>
          </a:p>
        </p:txBody>
      </p:sp>
      <p:sp>
        <p:nvSpPr>
          <p:cNvPr id="3" name="CuadroTexto 2">
            <a:extLst>
              <a:ext uri="{FF2B5EF4-FFF2-40B4-BE49-F238E27FC236}">
                <a16:creationId xmlns:a16="http://schemas.microsoft.com/office/drawing/2014/main" id="{44C837C2-8D2F-6844-9FDB-978C1D9CAB01}"/>
              </a:ext>
            </a:extLst>
          </p:cNvPr>
          <p:cNvSpPr txBox="1"/>
          <p:nvPr/>
        </p:nvSpPr>
        <p:spPr>
          <a:xfrm>
            <a:off x="888571" y="3381214"/>
            <a:ext cx="4344690" cy="9662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s-ES" sz="2000" b="1">
                <a:latin typeface="Consolas"/>
              </a:rPr>
              <a:t>/api/v1/</a:t>
            </a:r>
            <a:r>
              <a:rPr lang="es-ES" sz="2000" b="1" err="1">
                <a:solidFill>
                  <a:srgbClr val="4E7CDD"/>
                </a:solidFill>
                <a:latin typeface="Consolas"/>
              </a:rPr>
              <a:t>obtenerDatos</a:t>
            </a:r>
            <a:endParaRPr lang="es-ES" sz="2000" b="1" err="1">
              <a:latin typeface="Consolas"/>
            </a:endParaRPr>
          </a:p>
          <a:p>
            <a:pPr>
              <a:lnSpc>
                <a:spcPct val="150000"/>
              </a:lnSpc>
            </a:pPr>
            <a:r>
              <a:rPr lang="es-ES" sz="2000" b="1" dirty="0">
                <a:latin typeface="Consolas"/>
              </a:rPr>
              <a:t>/api/v1/</a:t>
            </a:r>
            <a:r>
              <a:rPr lang="es-ES" sz="2000" b="1" dirty="0">
                <a:solidFill>
                  <a:srgbClr val="4E7CDD"/>
                </a:solidFill>
                <a:latin typeface="Consolas"/>
              </a:rPr>
              <a:t>obtener-datos</a:t>
            </a:r>
            <a:endParaRPr lang="es-ES" sz="2000" b="1" dirty="0">
              <a:solidFill>
                <a:srgbClr val="4E7CDD"/>
              </a:solidFill>
              <a:latin typeface="Consolas"/>
              <a:cs typeface="Arial"/>
            </a:endParaRPr>
          </a:p>
        </p:txBody>
      </p:sp>
      <p:sp>
        <p:nvSpPr>
          <p:cNvPr id="10" name="CuadroTexto 9">
            <a:extLst>
              <a:ext uri="{FF2B5EF4-FFF2-40B4-BE49-F238E27FC236}">
                <a16:creationId xmlns:a16="http://schemas.microsoft.com/office/drawing/2014/main" id="{0701DD60-CE49-2551-A5F1-9B09DC125800}"/>
              </a:ext>
            </a:extLst>
          </p:cNvPr>
          <p:cNvSpPr txBox="1"/>
          <p:nvPr/>
        </p:nvSpPr>
        <p:spPr>
          <a:xfrm>
            <a:off x="7049146" y="3381213"/>
            <a:ext cx="4344690" cy="9662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s-ES" sz="2000" b="1" dirty="0">
                <a:latin typeface="Consolas"/>
              </a:rPr>
              <a:t>/api/v2/</a:t>
            </a:r>
            <a:r>
              <a:rPr lang="es-ES" sz="2000" b="1" dirty="0" err="1">
                <a:solidFill>
                  <a:srgbClr val="4E7CDD"/>
                </a:solidFill>
                <a:latin typeface="Consolas"/>
              </a:rPr>
              <a:t>registrosAcademicos</a:t>
            </a:r>
            <a:endParaRPr lang="es-ES" sz="2000" b="1" dirty="0" err="1">
              <a:latin typeface="Consolas"/>
            </a:endParaRPr>
          </a:p>
          <a:p>
            <a:pPr>
              <a:lnSpc>
                <a:spcPct val="150000"/>
              </a:lnSpc>
            </a:pPr>
            <a:r>
              <a:rPr lang="es-ES" sz="2000" b="1" dirty="0">
                <a:latin typeface="Consolas"/>
              </a:rPr>
              <a:t>/api/v2/</a:t>
            </a:r>
            <a:r>
              <a:rPr lang="es-ES" sz="2000" b="1" dirty="0">
                <a:solidFill>
                  <a:srgbClr val="4E7CDD"/>
                </a:solidFill>
                <a:latin typeface="Consolas"/>
              </a:rPr>
              <a:t>registros-</a:t>
            </a:r>
            <a:r>
              <a:rPr lang="es-ES" sz="2000" b="1" dirty="0" err="1">
                <a:solidFill>
                  <a:srgbClr val="4E7CDD"/>
                </a:solidFill>
                <a:latin typeface="Consolas"/>
              </a:rPr>
              <a:t>academicos</a:t>
            </a:r>
            <a:endParaRPr lang="es-ES" sz="2000" b="1" dirty="0" err="1">
              <a:solidFill>
                <a:srgbClr val="4E7CDD"/>
              </a:solidFill>
              <a:latin typeface="Consolas"/>
              <a:cs typeface="Arial"/>
            </a:endParaRPr>
          </a:p>
        </p:txBody>
      </p:sp>
      <p:sp>
        <p:nvSpPr>
          <p:cNvPr id="11" name="CuadroTexto 10">
            <a:extLst>
              <a:ext uri="{FF2B5EF4-FFF2-40B4-BE49-F238E27FC236}">
                <a16:creationId xmlns:a16="http://schemas.microsoft.com/office/drawing/2014/main" id="{A7DB498D-AA0C-1DBD-6415-AB20F8B988F4}"/>
              </a:ext>
            </a:extLst>
          </p:cNvPr>
          <p:cNvSpPr txBox="1"/>
          <p:nvPr/>
        </p:nvSpPr>
        <p:spPr>
          <a:xfrm>
            <a:off x="888567" y="4672738"/>
            <a:ext cx="5494147" cy="9662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s-ES" sz="2000" b="1" dirty="0">
                <a:latin typeface="Consolas"/>
              </a:rPr>
              <a:t>/api/v1.2beta/</a:t>
            </a:r>
            <a:r>
              <a:rPr lang="es-ES" sz="2000" b="1" dirty="0" err="1">
                <a:solidFill>
                  <a:srgbClr val="4E7CDD"/>
                </a:solidFill>
                <a:latin typeface="Consolas"/>
              </a:rPr>
              <a:t>informesDeVentas</a:t>
            </a:r>
            <a:endParaRPr lang="es-ES" sz="2000" err="1"/>
          </a:p>
          <a:p>
            <a:pPr>
              <a:lnSpc>
                <a:spcPct val="150000"/>
              </a:lnSpc>
            </a:pPr>
            <a:r>
              <a:rPr lang="es-ES" sz="2000" b="1" dirty="0">
                <a:latin typeface="Consolas"/>
              </a:rPr>
              <a:t>/api/v1.2beta/</a:t>
            </a:r>
            <a:r>
              <a:rPr lang="es-ES" sz="2000" b="1" dirty="0">
                <a:solidFill>
                  <a:srgbClr val="4E7CDD"/>
                </a:solidFill>
                <a:latin typeface="Consolas"/>
              </a:rPr>
              <a:t>informes-de-ventas</a:t>
            </a:r>
            <a:endParaRPr lang="es-ES" sz="2000" b="1" dirty="0">
              <a:solidFill>
                <a:srgbClr val="4E7CDD"/>
              </a:solidFill>
              <a:latin typeface="Consolas"/>
              <a:cs typeface="Arial"/>
            </a:endParaRPr>
          </a:p>
        </p:txBody>
      </p:sp>
      <p:sp>
        <p:nvSpPr>
          <p:cNvPr id="12" name="CuadroTexto 11">
            <a:extLst>
              <a:ext uri="{FF2B5EF4-FFF2-40B4-BE49-F238E27FC236}">
                <a16:creationId xmlns:a16="http://schemas.microsoft.com/office/drawing/2014/main" id="{A1136673-F1E7-0F5B-3361-4AFDACED1CA2}"/>
              </a:ext>
            </a:extLst>
          </p:cNvPr>
          <p:cNvSpPr txBox="1"/>
          <p:nvPr/>
        </p:nvSpPr>
        <p:spPr>
          <a:xfrm>
            <a:off x="7049143" y="4672738"/>
            <a:ext cx="4344690" cy="9662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s-ES" sz="2000" b="1" dirty="0">
                <a:latin typeface="Consolas"/>
              </a:rPr>
              <a:t>/api/v2025/</a:t>
            </a:r>
            <a:r>
              <a:rPr lang="es-ES" sz="2000" b="1" dirty="0" err="1">
                <a:solidFill>
                  <a:srgbClr val="4E7CDD"/>
                </a:solidFill>
                <a:latin typeface="Consolas"/>
              </a:rPr>
              <a:t>informesDeVentas</a:t>
            </a:r>
            <a:endParaRPr lang="es-ES" sz="2000" dirty="0" err="1"/>
          </a:p>
          <a:p>
            <a:pPr>
              <a:lnSpc>
                <a:spcPct val="150000"/>
              </a:lnSpc>
            </a:pPr>
            <a:r>
              <a:rPr lang="es-ES" sz="2000" b="1" dirty="0">
                <a:latin typeface="Consolas"/>
              </a:rPr>
              <a:t>/api/v2025/</a:t>
            </a:r>
            <a:r>
              <a:rPr lang="es-ES" sz="2000" b="1" dirty="0">
                <a:solidFill>
                  <a:srgbClr val="4E7CDD"/>
                </a:solidFill>
                <a:latin typeface="Consolas"/>
              </a:rPr>
              <a:t>informes-de-ventas</a:t>
            </a:r>
            <a:endParaRPr lang="es-ES" sz="2000" b="1" dirty="0">
              <a:solidFill>
                <a:srgbClr val="4E7CDD"/>
              </a:solidFill>
              <a:latin typeface="Consolas"/>
              <a:cs typeface="Arial"/>
            </a:endParaRPr>
          </a:p>
        </p:txBody>
      </p:sp>
      <p:sp>
        <p:nvSpPr>
          <p:cNvPr id="14" name="Rectángulo: esquinas redondeadas 13">
            <a:extLst>
              <a:ext uri="{FF2B5EF4-FFF2-40B4-BE49-F238E27FC236}">
                <a16:creationId xmlns:a16="http://schemas.microsoft.com/office/drawing/2014/main" id="{7CAD9D0A-5736-3C5D-C954-00C797B2A48F}"/>
              </a:ext>
            </a:extLst>
          </p:cNvPr>
          <p:cNvSpPr/>
          <p:nvPr/>
        </p:nvSpPr>
        <p:spPr>
          <a:xfrm>
            <a:off x="10280709" y="555506"/>
            <a:ext cx="1657152" cy="450570"/>
          </a:xfrm>
          <a:prstGeom prst="roundRect">
            <a:avLst/>
          </a:prstGeom>
          <a:ln/>
        </p:spPr>
        <p:style>
          <a:lnRef idx="1">
            <a:schemeClr val="dk1"/>
          </a:lnRef>
          <a:fillRef idx="2">
            <a:schemeClr val="dk1"/>
          </a:fillRef>
          <a:effectRef idx="1">
            <a:schemeClr val="dk1"/>
          </a:effectRef>
          <a:fontRef idx="minor">
            <a:schemeClr val="dk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000" b="1" dirty="0">
                <a:solidFill>
                  <a:schemeClr val="bg1"/>
                </a:solidFill>
                <a:latin typeface="Montserrat"/>
                <a:ea typeface="+mn-lt"/>
                <a:cs typeface="+mn-lt"/>
              </a:rPr>
              <a:t>RECOMENDACIONES</a:t>
            </a:r>
          </a:p>
        </p:txBody>
      </p:sp>
    </p:spTree>
    <p:extLst>
      <p:ext uri="{BB962C8B-B14F-4D97-AF65-F5344CB8AC3E}">
        <p14:creationId xmlns:p14="http://schemas.microsoft.com/office/powerpoint/2010/main" val="25685925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10129379" cy="490561"/>
          </a:xfrm>
        </p:spPr>
        <p:txBody>
          <a:bodyPr vert="horz" lIns="91440" tIns="45720" rIns="91440" bIns="45720" rtlCol="0" anchor="t">
            <a:noAutofit/>
          </a:bodyPr>
          <a:lstStyle/>
          <a:p>
            <a:pPr marL="227965" indent="-227965"/>
            <a:r>
              <a:rPr lang="es-CL" dirty="0">
                <a:latin typeface="Arial"/>
                <a:cs typeface="Arial"/>
              </a:rPr>
              <a:t>Buenas prácticas para el diseño de </a:t>
            </a:r>
            <a:r>
              <a:rPr lang="es-CL" dirty="0" err="1">
                <a:latin typeface="Arial"/>
                <a:cs typeface="Arial"/>
              </a:rPr>
              <a:t>APIs</a:t>
            </a:r>
            <a:r>
              <a:rPr lang="es-CL" dirty="0">
                <a:latin typeface="Arial"/>
                <a:cs typeface="Arial"/>
              </a:rPr>
              <a:t> REST</a:t>
            </a:r>
            <a:endParaRPr lang="es-CL" dirty="0"/>
          </a:p>
        </p:txBody>
      </p:sp>
      <p:sp>
        <p:nvSpPr>
          <p:cNvPr id="5" name="Rectangle 1">
            <a:extLst>
              <a:ext uri="{FF2B5EF4-FFF2-40B4-BE49-F238E27FC236}">
                <a16:creationId xmlns:a16="http://schemas.microsoft.com/office/drawing/2014/main" id="{CF3B2F86-2048-FA0B-E71C-206AD0058FE5}"/>
              </a:ext>
            </a:extLst>
          </p:cNvPr>
          <p:cNvSpPr>
            <a:spLocks noGrp="1" noChangeArrowheads="1"/>
          </p:cNvSpPr>
          <p:nvPr>
            <p:ph type="body" sz="quarter" idx="14"/>
          </p:nvPr>
        </p:nvSpPr>
        <p:spPr bwMode="auto">
          <a:xfrm>
            <a:off x="652679" y="1140347"/>
            <a:ext cx="10896061" cy="2578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7965" indent="-227965" algn="just" defTabSz="914400">
              <a:buNone/>
            </a:pPr>
            <a:r>
              <a:rPr lang="es-ES" sz="2400" b="1" dirty="0">
                <a:solidFill>
                  <a:srgbClr val="4E7CDD"/>
                </a:solidFill>
                <a:latin typeface="Arial"/>
                <a:cs typeface="Arial"/>
              </a:rPr>
              <a:t>Uso Correcto de Verbos HTTP</a:t>
            </a:r>
            <a:endParaRPr lang="es-ES" sz="2400" dirty="0">
              <a:solidFill>
                <a:srgbClr val="4E7CDD"/>
              </a:solidFill>
            </a:endParaRPr>
          </a:p>
          <a:p>
            <a:pPr marL="227965" indent="-227965" algn="just" defTabSz="914400">
              <a:buFont typeface="Arial"/>
              <a:buChar char="•"/>
            </a:pPr>
            <a:r>
              <a:rPr lang="es-ES" sz="2000" dirty="0">
                <a:latin typeface="Montserrat"/>
                <a:cs typeface="Arial"/>
              </a:rPr>
              <a:t>GET para obtener recursos.</a:t>
            </a:r>
            <a:endParaRPr lang="es-ES">
              <a:latin typeface="Montserrat"/>
            </a:endParaRPr>
          </a:p>
          <a:p>
            <a:pPr marL="227965" indent="-227965" algn="just" defTabSz="914400">
              <a:buFont typeface="Arial"/>
              <a:buChar char="•"/>
            </a:pPr>
            <a:r>
              <a:rPr lang="es-ES" sz="2000" dirty="0">
                <a:latin typeface="Montserrat"/>
                <a:cs typeface="Arial"/>
              </a:rPr>
              <a:t>POST para crear nuevos recursos.</a:t>
            </a:r>
            <a:endParaRPr lang="es-ES" sz="2000">
              <a:latin typeface="Montserrat"/>
            </a:endParaRPr>
          </a:p>
          <a:p>
            <a:pPr marL="227965" indent="-227965" algn="just" defTabSz="914400">
              <a:buFont typeface="Arial"/>
              <a:buChar char="•"/>
            </a:pPr>
            <a:r>
              <a:rPr lang="es-ES" sz="2000" dirty="0">
                <a:latin typeface="Montserrat"/>
                <a:cs typeface="Arial"/>
              </a:rPr>
              <a:t>PUT para actualizar recursos existentes.</a:t>
            </a:r>
            <a:endParaRPr lang="es-ES">
              <a:latin typeface="Montserrat"/>
            </a:endParaRPr>
          </a:p>
          <a:p>
            <a:pPr marL="227965" indent="-227965" algn="just" defTabSz="914400">
              <a:buFont typeface="Arial"/>
              <a:buChar char="•"/>
            </a:pPr>
            <a:r>
              <a:rPr lang="es-ES" sz="2000" dirty="0">
                <a:latin typeface="Montserrat"/>
                <a:cs typeface="Arial"/>
              </a:rPr>
              <a:t>DELETE para eliminar recursos.</a:t>
            </a:r>
            <a:endParaRPr lang="es-ES" sz="2000" dirty="0">
              <a:latin typeface="Montserrat"/>
            </a:endParaRPr>
          </a:p>
          <a:p>
            <a:pPr marL="0" indent="0" algn="just" defTabSz="914400">
              <a:lnSpc>
                <a:spcPct val="150000"/>
              </a:lnSpc>
              <a:buNone/>
            </a:pPr>
            <a:endParaRPr lang="es-ES" sz="2000" b="1" dirty="0">
              <a:solidFill>
                <a:srgbClr val="4E7CDD"/>
              </a:solidFill>
              <a:latin typeface="Arial"/>
              <a:cs typeface="Arial"/>
            </a:endParaRPr>
          </a:p>
        </p:txBody>
      </p:sp>
      <p:sp>
        <p:nvSpPr>
          <p:cNvPr id="7" name="Rectangle 1">
            <a:extLst>
              <a:ext uri="{FF2B5EF4-FFF2-40B4-BE49-F238E27FC236}">
                <a16:creationId xmlns:a16="http://schemas.microsoft.com/office/drawing/2014/main" id="{DCC0F1A0-E282-F545-F1FE-5FD5109ACFC2}"/>
              </a:ext>
            </a:extLst>
          </p:cNvPr>
          <p:cNvSpPr txBox="1">
            <a:spLocks noChangeArrowheads="1"/>
          </p:cNvSpPr>
          <p:nvPr/>
        </p:nvSpPr>
        <p:spPr bwMode="auto">
          <a:xfrm>
            <a:off x="650096" y="3398598"/>
            <a:ext cx="10896060" cy="3636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defPPr>
              <a:defRPr lang="es-CL"/>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227965" indent="-227965" algn="just" defTabSz="914400">
              <a:buNone/>
            </a:pPr>
            <a:r>
              <a:rPr lang="es-ES" sz="2400" b="1" dirty="0">
                <a:solidFill>
                  <a:srgbClr val="4E7CDD"/>
                </a:solidFill>
                <a:latin typeface="Arial"/>
                <a:cs typeface="Arial"/>
              </a:rPr>
              <a:t>Usa los Códigos Correctos</a:t>
            </a:r>
            <a:endParaRPr lang="es-ES" sz="2400" dirty="0">
              <a:solidFill>
                <a:srgbClr val="4E7CDD"/>
              </a:solidFill>
              <a:latin typeface="Arial"/>
              <a:cs typeface="Arial"/>
            </a:endParaRPr>
          </a:p>
          <a:p>
            <a:pPr marL="227965" indent="-227965" algn="just" defTabSz="914400">
              <a:buFont typeface="Arial"/>
              <a:buChar char="•"/>
            </a:pPr>
            <a:r>
              <a:rPr lang="es-ES" sz="2000" dirty="0">
                <a:latin typeface="Montserrat"/>
                <a:cs typeface="Arial"/>
              </a:rPr>
              <a:t>200 OK para solicitudes exitosas.</a:t>
            </a:r>
            <a:endParaRPr lang="es-ES">
              <a:latin typeface="Montserrat"/>
            </a:endParaRPr>
          </a:p>
          <a:p>
            <a:pPr marL="227965" indent="-227965" algn="just" defTabSz="914400">
              <a:buFont typeface="Arial"/>
              <a:buChar char="•"/>
            </a:pPr>
            <a:r>
              <a:rPr lang="es-ES" sz="2000" dirty="0">
                <a:latin typeface="Montserrat"/>
                <a:cs typeface="Arial"/>
              </a:rPr>
              <a:t>201 </a:t>
            </a:r>
            <a:r>
              <a:rPr lang="es-ES" sz="2000" err="1">
                <a:latin typeface="Montserrat"/>
                <a:cs typeface="Arial"/>
              </a:rPr>
              <a:t>Created</a:t>
            </a:r>
            <a:r>
              <a:rPr lang="es-ES" sz="2000" dirty="0">
                <a:latin typeface="Montserrat"/>
                <a:cs typeface="Arial"/>
              </a:rPr>
              <a:t> para creación exitosa de recursos.</a:t>
            </a:r>
            <a:endParaRPr lang="es-ES">
              <a:latin typeface="Montserrat"/>
            </a:endParaRPr>
          </a:p>
          <a:p>
            <a:pPr marL="227965" indent="-227965" algn="just" defTabSz="914400">
              <a:buFont typeface="Arial"/>
              <a:buChar char="•"/>
            </a:pPr>
            <a:r>
              <a:rPr lang="es-ES" sz="2000" dirty="0">
                <a:latin typeface="Montserrat"/>
                <a:cs typeface="Arial"/>
              </a:rPr>
              <a:t>204 No Content para eliminaciones exitosas.</a:t>
            </a:r>
            <a:endParaRPr lang="es-ES">
              <a:latin typeface="Montserrat"/>
            </a:endParaRPr>
          </a:p>
          <a:p>
            <a:pPr marL="227965" indent="-227965" algn="just" defTabSz="914400">
              <a:buFont typeface="Arial"/>
              <a:buChar char="•"/>
            </a:pPr>
            <a:r>
              <a:rPr lang="es-ES" sz="2000" dirty="0">
                <a:latin typeface="Montserrat"/>
                <a:cs typeface="Arial"/>
              </a:rPr>
              <a:t>400 </a:t>
            </a:r>
            <a:r>
              <a:rPr lang="es-ES" sz="2000" err="1">
                <a:latin typeface="Montserrat"/>
                <a:cs typeface="Arial"/>
              </a:rPr>
              <a:t>Bad</a:t>
            </a:r>
            <a:r>
              <a:rPr lang="es-ES" sz="2000" dirty="0">
                <a:latin typeface="Montserrat"/>
                <a:cs typeface="Arial"/>
              </a:rPr>
              <a:t> </a:t>
            </a:r>
            <a:r>
              <a:rPr lang="es-ES" sz="2000" err="1">
                <a:latin typeface="Montserrat"/>
                <a:cs typeface="Arial"/>
              </a:rPr>
              <a:t>Request</a:t>
            </a:r>
            <a:r>
              <a:rPr lang="es-ES" sz="2000" dirty="0">
                <a:latin typeface="Montserrat"/>
                <a:cs typeface="Arial"/>
              </a:rPr>
              <a:t> para solicitudes inválidas.</a:t>
            </a:r>
            <a:endParaRPr lang="es-ES">
              <a:latin typeface="Montserrat"/>
            </a:endParaRPr>
          </a:p>
          <a:p>
            <a:pPr marL="227965" indent="-227965" algn="just" defTabSz="914400">
              <a:buFont typeface="Arial"/>
              <a:buChar char="•"/>
            </a:pPr>
            <a:r>
              <a:rPr lang="es-ES" sz="2000" dirty="0">
                <a:latin typeface="Montserrat"/>
                <a:cs typeface="Arial"/>
              </a:rPr>
              <a:t>401 </a:t>
            </a:r>
            <a:r>
              <a:rPr lang="es-ES" sz="2000" err="1">
                <a:latin typeface="Montserrat"/>
                <a:cs typeface="Arial"/>
              </a:rPr>
              <a:t>Unauthorized</a:t>
            </a:r>
            <a:r>
              <a:rPr lang="es-ES" sz="2000" dirty="0">
                <a:latin typeface="Montserrat"/>
                <a:cs typeface="Arial"/>
              </a:rPr>
              <a:t> para acceso no autorizado.</a:t>
            </a:r>
            <a:endParaRPr lang="es-ES">
              <a:latin typeface="Montserrat"/>
            </a:endParaRPr>
          </a:p>
          <a:p>
            <a:pPr marL="227965" indent="-227965" algn="just" defTabSz="914400">
              <a:buFont typeface="Arial"/>
              <a:buChar char="•"/>
            </a:pPr>
            <a:r>
              <a:rPr lang="es-ES" sz="2000" dirty="0">
                <a:latin typeface="Montserrat"/>
                <a:cs typeface="Arial"/>
              </a:rPr>
              <a:t>404 </a:t>
            </a:r>
            <a:r>
              <a:rPr lang="es-ES" sz="2000" err="1">
                <a:latin typeface="Montserrat"/>
                <a:cs typeface="Arial"/>
              </a:rPr>
              <a:t>Not</a:t>
            </a:r>
            <a:r>
              <a:rPr lang="es-ES" sz="2000" dirty="0">
                <a:latin typeface="Montserrat"/>
                <a:cs typeface="Arial"/>
              </a:rPr>
              <a:t> </a:t>
            </a:r>
            <a:r>
              <a:rPr lang="es-ES" sz="2000" err="1">
                <a:latin typeface="Montserrat"/>
                <a:cs typeface="Arial"/>
              </a:rPr>
              <a:t>Found</a:t>
            </a:r>
            <a:r>
              <a:rPr lang="es-ES" sz="2000" dirty="0">
                <a:latin typeface="Montserrat"/>
                <a:cs typeface="Arial"/>
              </a:rPr>
              <a:t> para recursos no encontrados.</a:t>
            </a:r>
            <a:endParaRPr lang="es-ES">
              <a:latin typeface="Montserrat"/>
            </a:endParaRPr>
          </a:p>
          <a:p>
            <a:pPr marL="227965" indent="-227965" algn="just" defTabSz="914400">
              <a:buFont typeface="Arial"/>
              <a:buChar char="•"/>
            </a:pPr>
            <a:r>
              <a:rPr lang="es-ES" sz="2000" dirty="0">
                <a:latin typeface="Montserrat"/>
                <a:cs typeface="Arial"/>
              </a:rPr>
              <a:t>500 </a:t>
            </a:r>
            <a:r>
              <a:rPr lang="es-ES" sz="2000" err="1">
                <a:latin typeface="Montserrat"/>
                <a:cs typeface="Arial"/>
              </a:rPr>
              <a:t>Internal</a:t>
            </a:r>
            <a:r>
              <a:rPr lang="es-ES" sz="2000" dirty="0">
                <a:latin typeface="Montserrat"/>
                <a:cs typeface="Arial"/>
              </a:rPr>
              <a:t> Server Error para errores del servidor.</a:t>
            </a:r>
            <a:endParaRPr lang="es-ES" dirty="0">
              <a:latin typeface="Montserrat"/>
            </a:endParaRPr>
          </a:p>
          <a:p>
            <a:pPr marL="227965" indent="-227965" algn="just" defTabSz="914400">
              <a:buNone/>
            </a:pPr>
            <a:endParaRPr lang="es-ES" sz="2000" dirty="0">
              <a:solidFill>
                <a:srgbClr val="4E7CDD"/>
              </a:solidFill>
              <a:latin typeface="Arial"/>
            </a:endParaRPr>
          </a:p>
          <a:p>
            <a:pPr marL="227965" indent="-227965" algn="just" defTabSz="914400">
              <a:buNone/>
            </a:pPr>
            <a:endParaRPr lang="es-ES" sz="2000" b="1" dirty="0">
              <a:solidFill>
                <a:srgbClr val="4E7CDD"/>
              </a:solidFill>
              <a:latin typeface="Arial"/>
            </a:endParaRPr>
          </a:p>
          <a:p>
            <a:pPr marL="0" indent="0" algn="just" defTabSz="914400">
              <a:lnSpc>
                <a:spcPct val="150000"/>
              </a:lnSpc>
              <a:buFont typeface="Arial" panose="020B0604020202020204" pitchFamily="34" charset="0"/>
              <a:buNone/>
            </a:pPr>
            <a:endParaRPr lang="es-ES" sz="2000" b="1" dirty="0">
              <a:solidFill>
                <a:srgbClr val="4E7CDD"/>
              </a:solidFill>
              <a:latin typeface="Arial"/>
              <a:cs typeface="Arial"/>
            </a:endParaRPr>
          </a:p>
        </p:txBody>
      </p:sp>
      <p:sp>
        <p:nvSpPr>
          <p:cNvPr id="8" name="Rectángulo: esquinas redondeadas 7">
            <a:extLst>
              <a:ext uri="{FF2B5EF4-FFF2-40B4-BE49-F238E27FC236}">
                <a16:creationId xmlns:a16="http://schemas.microsoft.com/office/drawing/2014/main" id="{128A3336-2CFD-4FD9-35B1-FC85242E02C0}"/>
              </a:ext>
            </a:extLst>
          </p:cNvPr>
          <p:cNvSpPr/>
          <p:nvPr/>
        </p:nvSpPr>
        <p:spPr>
          <a:xfrm>
            <a:off x="9056377" y="2428038"/>
            <a:ext cx="1269235" cy="358691"/>
          </a:xfrm>
          <a:prstGeom prst="roundRect">
            <a:avLst/>
          </a:prstGeom>
          <a:solidFill>
            <a:srgbClr val="4E7CDD"/>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100" b="1">
                <a:latin typeface="Montserrat"/>
                <a:ea typeface="+mn-lt"/>
                <a:cs typeface="+mn-lt"/>
              </a:rPr>
              <a:t>GET</a:t>
            </a:r>
            <a:endParaRPr lang="es-ES" sz="1100" b="1">
              <a:latin typeface="Montserrat"/>
            </a:endParaRPr>
          </a:p>
        </p:txBody>
      </p:sp>
      <p:sp>
        <p:nvSpPr>
          <p:cNvPr id="9" name="Rectángulo: esquinas redondeadas 8">
            <a:extLst>
              <a:ext uri="{FF2B5EF4-FFF2-40B4-BE49-F238E27FC236}">
                <a16:creationId xmlns:a16="http://schemas.microsoft.com/office/drawing/2014/main" id="{865CB61A-7840-4575-8BBE-ED0417BB6476}"/>
              </a:ext>
            </a:extLst>
          </p:cNvPr>
          <p:cNvSpPr/>
          <p:nvPr/>
        </p:nvSpPr>
        <p:spPr>
          <a:xfrm>
            <a:off x="9015814" y="4046933"/>
            <a:ext cx="1278042" cy="360768"/>
          </a:xfrm>
          <a:prstGeom prst="roundRect">
            <a:avLst/>
          </a:prstGeom>
          <a:solidFill>
            <a:srgbClr val="BB0034"/>
          </a:solidFill>
          <a:ln>
            <a:solidFill>
              <a:schemeClr val="tx1">
                <a:lumMod val="65000"/>
                <a:lumOff val="35000"/>
              </a:schemeClr>
            </a:solidFill>
          </a:ln>
        </p:spPr>
        <p:style>
          <a:lnRef idx="0">
            <a:schemeClr val="accent5"/>
          </a:lnRef>
          <a:fillRef idx="3">
            <a:schemeClr val="accent5"/>
          </a:fillRef>
          <a:effectRef idx="3">
            <a:schemeClr val="accent5"/>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100" b="1">
                <a:solidFill>
                  <a:schemeClr val="bg1"/>
                </a:solidFill>
                <a:latin typeface="Montserrat"/>
                <a:ea typeface="+mn-lt"/>
                <a:cs typeface="+mn-lt"/>
              </a:rPr>
              <a:t>DELETE</a:t>
            </a:r>
          </a:p>
        </p:txBody>
      </p:sp>
      <p:sp>
        <p:nvSpPr>
          <p:cNvPr id="13" name="Rectángulo: esquinas redondeadas 12">
            <a:extLst>
              <a:ext uri="{FF2B5EF4-FFF2-40B4-BE49-F238E27FC236}">
                <a16:creationId xmlns:a16="http://schemas.microsoft.com/office/drawing/2014/main" id="{00D3633A-9154-93A5-AB34-23069B4DF95C}"/>
              </a:ext>
            </a:extLst>
          </p:cNvPr>
          <p:cNvSpPr/>
          <p:nvPr/>
        </p:nvSpPr>
        <p:spPr>
          <a:xfrm>
            <a:off x="9053760" y="2957743"/>
            <a:ext cx="1269695" cy="360164"/>
          </a:xfrm>
          <a:prstGeom prst="roundRect">
            <a:avLst/>
          </a:prstGeom>
          <a:solidFill>
            <a:srgbClr val="00B050"/>
          </a:solidFill>
          <a:ln>
            <a:solidFill>
              <a:schemeClr val="tx1">
                <a:lumMod val="65000"/>
                <a:lumOff val="35000"/>
              </a:schemeClr>
            </a:solid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100" b="1">
                <a:solidFill>
                  <a:schemeClr val="bg1"/>
                </a:solidFill>
                <a:latin typeface="Montserrat"/>
                <a:ea typeface="+mn-lt"/>
                <a:cs typeface="+mn-lt"/>
              </a:rPr>
              <a:t>POST</a:t>
            </a:r>
          </a:p>
        </p:txBody>
      </p:sp>
      <p:sp>
        <p:nvSpPr>
          <p:cNvPr id="14" name="Rectángulo: esquinas redondeadas 13">
            <a:extLst>
              <a:ext uri="{FF2B5EF4-FFF2-40B4-BE49-F238E27FC236}">
                <a16:creationId xmlns:a16="http://schemas.microsoft.com/office/drawing/2014/main" id="{EB88091E-884B-4029-EBEF-744187B144C4}"/>
              </a:ext>
            </a:extLst>
          </p:cNvPr>
          <p:cNvSpPr/>
          <p:nvPr/>
        </p:nvSpPr>
        <p:spPr>
          <a:xfrm>
            <a:off x="9019937" y="3489436"/>
            <a:ext cx="1286991" cy="346504"/>
          </a:xfrm>
          <a:prstGeom prst="roundRect">
            <a:avLst/>
          </a:prstGeom>
          <a:solidFill>
            <a:srgbClr val="F9B71C"/>
          </a:solidFill>
          <a:ln>
            <a:solidFill>
              <a:schemeClr val="tx1">
                <a:lumMod val="65000"/>
                <a:lumOff val="35000"/>
              </a:schemeClr>
            </a:solidFill>
          </a:ln>
        </p:spPr>
        <p:style>
          <a:lnRef idx="0">
            <a:schemeClr val="accent2"/>
          </a:lnRef>
          <a:fillRef idx="3">
            <a:schemeClr val="accent2"/>
          </a:fillRef>
          <a:effectRef idx="3">
            <a:schemeClr val="accent2"/>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100" b="1">
                <a:solidFill>
                  <a:schemeClr val="bg1"/>
                </a:solidFill>
                <a:latin typeface="Montserrat"/>
                <a:ea typeface="+mn-lt"/>
                <a:cs typeface="+mn-lt"/>
              </a:rPr>
              <a:t>PUT</a:t>
            </a:r>
            <a:endParaRPr lang="es-ES" sz="1100">
              <a:solidFill>
                <a:schemeClr val="bg1"/>
              </a:solidFill>
              <a:latin typeface="Montserrat"/>
              <a:ea typeface="+mn-lt"/>
              <a:cs typeface="+mn-lt"/>
            </a:endParaRPr>
          </a:p>
        </p:txBody>
      </p:sp>
      <p:sp>
        <p:nvSpPr>
          <p:cNvPr id="17" name="Rectángulo: esquinas redondeadas 16">
            <a:extLst>
              <a:ext uri="{FF2B5EF4-FFF2-40B4-BE49-F238E27FC236}">
                <a16:creationId xmlns:a16="http://schemas.microsoft.com/office/drawing/2014/main" id="{3057DECE-F5EA-4778-4138-6AFF4BC69D4F}"/>
              </a:ext>
            </a:extLst>
          </p:cNvPr>
          <p:cNvSpPr/>
          <p:nvPr/>
        </p:nvSpPr>
        <p:spPr>
          <a:xfrm>
            <a:off x="10280709" y="555506"/>
            <a:ext cx="1657152" cy="450570"/>
          </a:xfrm>
          <a:prstGeom prst="roundRect">
            <a:avLst/>
          </a:prstGeom>
          <a:ln/>
        </p:spPr>
        <p:style>
          <a:lnRef idx="1">
            <a:schemeClr val="dk1"/>
          </a:lnRef>
          <a:fillRef idx="2">
            <a:schemeClr val="dk1"/>
          </a:fillRef>
          <a:effectRef idx="1">
            <a:schemeClr val="dk1"/>
          </a:effectRef>
          <a:fontRef idx="minor">
            <a:schemeClr val="dk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000" b="1" dirty="0">
                <a:solidFill>
                  <a:schemeClr val="bg1"/>
                </a:solidFill>
                <a:latin typeface="Montserrat"/>
                <a:ea typeface="+mn-lt"/>
                <a:cs typeface="+mn-lt"/>
              </a:rPr>
              <a:t>RECOMENDACIONES</a:t>
            </a:r>
          </a:p>
        </p:txBody>
      </p:sp>
    </p:spTree>
    <p:extLst>
      <p:ext uri="{BB962C8B-B14F-4D97-AF65-F5344CB8AC3E}">
        <p14:creationId xmlns:p14="http://schemas.microsoft.com/office/powerpoint/2010/main" val="7532663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10129379" cy="490561"/>
          </a:xfrm>
        </p:spPr>
        <p:txBody>
          <a:bodyPr vert="horz" lIns="91440" tIns="45720" rIns="91440" bIns="45720" rtlCol="0" anchor="t">
            <a:noAutofit/>
          </a:bodyPr>
          <a:lstStyle/>
          <a:p>
            <a:pPr marL="227965" indent="-227965"/>
            <a:r>
              <a:rPr lang="es-CL" dirty="0">
                <a:latin typeface="Arial"/>
                <a:cs typeface="Arial"/>
              </a:rPr>
              <a:t>Buenas prácticas para el diseño de </a:t>
            </a:r>
            <a:r>
              <a:rPr lang="es-CL" dirty="0" err="1">
                <a:latin typeface="Arial"/>
                <a:cs typeface="Arial"/>
              </a:rPr>
              <a:t>APIs</a:t>
            </a:r>
            <a:r>
              <a:rPr lang="es-CL" dirty="0">
                <a:latin typeface="Arial"/>
                <a:cs typeface="Arial"/>
              </a:rPr>
              <a:t> REST</a:t>
            </a:r>
            <a:endParaRPr lang="es-CL" dirty="0"/>
          </a:p>
        </p:txBody>
      </p:sp>
      <p:sp>
        <p:nvSpPr>
          <p:cNvPr id="5" name="Rectangle 1">
            <a:extLst>
              <a:ext uri="{FF2B5EF4-FFF2-40B4-BE49-F238E27FC236}">
                <a16:creationId xmlns:a16="http://schemas.microsoft.com/office/drawing/2014/main" id="{CF3B2F86-2048-FA0B-E71C-206AD0058FE5}"/>
              </a:ext>
            </a:extLst>
          </p:cNvPr>
          <p:cNvSpPr>
            <a:spLocks noGrp="1" noChangeArrowheads="1"/>
          </p:cNvSpPr>
          <p:nvPr>
            <p:ph type="body" sz="quarter" idx="14"/>
          </p:nvPr>
        </p:nvSpPr>
        <p:spPr bwMode="auto">
          <a:xfrm>
            <a:off x="652679" y="1106858"/>
            <a:ext cx="9501213" cy="2322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27965" indent="-227965" algn="just" defTabSz="914400">
              <a:buNone/>
            </a:pPr>
            <a:r>
              <a:rPr lang="es-ES" sz="2400" b="1" dirty="0">
                <a:solidFill>
                  <a:srgbClr val="4E7CDD"/>
                </a:solidFill>
                <a:latin typeface="Arial"/>
                <a:cs typeface="Arial"/>
              </a:rPr>
              <a:t>Parámetros de Ruta y Consulta</a:t>
            </a:r>
            <a:endParaRPr lang="es-ES" sz="2000" dirty="0">
              <a:solidFill>
                <a:srgbClr val="4E7CDD"/>
              </a:solidFill>
            </a:endParaRPr>
          </a:p>
          <a:p>
            <a:pPr marL="227965" indent="-227965" algn="just" defTabSz="914400">
              <a:buFont typeface="Arial"/>
              <a:buChar char="•"/>
            </a:pPr>
            <a:r>
              <a:rPr lang="es-ES" sz="2000" dirty="0">
                <a:latin typeface="Montserrat"/>
                <a:cs typeface="Arial"/>
              </a:rPr>
              <a:t>Utiliza parámetros de ruta para identificar recursos específicos.</a:t>
            </a:r>
            <a:endParaRPr lang="es-ES">
              <a:latin typeface="Montserrat"/>
            </a:endParaRPr>
          </a:p>
          <a:p>
            <a:pPr marL="227965" indent="-227965" algn="just" defTabSz="914400">
              <a:buFont typeface="Arial"/>
              <a:buChar char="•"/>
            </a:pPr>
            <a:r>
              <a:rPr lang="es-ES" sz="2000" dirty="0">
                <a:latin typeface="Montserrat"/>
                <a:cs typeface="Arial"/>
              </a:rPr>
              <a:t>Utiliza parámetros de consulta para filtros y opciones.</a:t>
            </a:r>
            <a:endParaRPr lang="es-ES">
              <a:latin typeface="Montserrat"/>
            </a:endParaRPr>
          </a:p>
          <a:p>
            <a:pPr marL="227965" indent="-227965" algn="just" defTabSz="914400">
              <a:buFont typeface="Arial"/>
              <a:buChar char="•"/>
            </a:pPr>
            <a:r>
              <a:rPr lang="es-ES" sz="2000" dirty="0">
                <a:latin typeface="Montserrat"/>
                <a:cs typeface="Arial"/>
              </a:rPr>
              <a:t>Ejemplo:</a:t>
            </a:r>
            <a:endParaRPr lang="es-ES">
              <a:latin typeface="Montserrat"/>
            </a:endParaRPr>
          </a:p>
          <a:p>
            <a:pPr marL="970915" lvl="1" indent="-285750" algn="just" defTabSz="914400">
              <a:buFont typeface="Arial"/>
              <a:buChar char="•"/>
            </a:pPr>
            <a:r>
              <a:rPr lang="es-ES" sz="2000" dirty="0">
                <a:latin typeface="Montserrat"/>
                <a:cs typeface="Arial"/>
              </a:rPr>
              <a:t>Parámetro de ruta: </a:t>
            </a:r>
            <a:r>
              <a:rPr lang="es-ES" sz="2000" dirty="0">
                <a:latin typeface="Consolas"/>
                <a:cs typeface="Arial"/>
              </a:rPr>
              <a:t>/api/v1/</a:t>
            </a:r>
            <a:r>
              <a:rPr lang="es-ES" sz="2000" dirty="0" err="1">
                <a:latin typeface="Consolas"/>
                <a:cs typeface="Arial"/>
              </a:rPr>
              <a:t>products</a:t>
            </a:r>
            <a:r>
              <a:rPr lang="es-ES" sz="2000" dirty="0">
                <a:latin typeface="Consolas"/>
                <a:cs typeface="Arial"/>
              </a:rPr>
              <a:t>/{id}</a:t>
            </a:r>
            <a:endParaRPr lang="es-ES" dirty="0">
              <a:latin typeface="Consolas"/>
            </a:endParaRPr>
          </a:p>
          <a:p>
            <a:pPr marL="970915" lvl="1" indent="-285750" algn="just" defTabSz="914400">
              <a:buFont typeface="Arial"/>
              <a:buChar char="•"/>
            </a:pPr>
            <a:r>
              <a:rPr lang="es-ES" sz="2000" dirty="0">
                <a:latin typeface="Montserrat"/>
                <a:cs typeface="Arial"/>
              </a:rPr>
              <a:t>Parámetro de consulta: </a:t>
            </a:r>
            <a:r>
              <a:rPr lang="es-ES" sz="2000" dirty="0">
                <a:latin typeface="Consolas"/>
                <a:cs typeface="Arial"/>
              </a:rPr>
              <a:t>/api/v1/</a:t>
            </a:r>
            <a:r>
              <a:rPr lang="es-ES" sz="2000" dirty="0" err="1">
                <a:latin typeface="Consolas"/>
                <a:cs typeface="Arial"/>
              </a:rPr>
              <a:t>products?category</a:t>
            </a:r>
            <a:r>
              <a:rPr lang="es-ES" sz="2000" dirty="0">
                <a:latin typeface="Consolas"/>
                <a:cs typeface="Arial"/>
              </a:rPr>
              <a:t>=</a:t>
            </a:r>
            <a:r>
              <a:rPr lang="es-ES" sz="2000" dirty="0" err="1">
                <a:latin typeface="Consolas"/>
                <a:cs typeface="Arial"/>
              </a:rPr>
              <a:t>electronics</a:t>
            </a:r>
            <a:endParaRPr lang="es-ES" sz="2000">
              <a:latin typeface="Consolas"/>
              <a:cs typeface="Arial"/>
            </a:endParaRPr>
          </a:p>
        </p:txBody>
      </p:sp>
      <p:sp>
        <p:nvSpPr>
          <p:cNvPr id="3" name="Rectangle 1">
            <a:extLst>
              <a:ext uri="{FF2B5EF4-FFF2-40B4-BE49-F238E27FC236}">
                <a16:creationId xmlns:a16="http://schemas.microsoft.com/office/drawing/2014/main" id="{DCC0F1A0-E282-F545-F1FE-5FD5109ACFC2}"/>
              </a:ext>
            </a:extLst>
          </p:cNvPr>
          <p:cNvSpPr txBox="1">
            <a:spLocks noChangeArrowheads="1"/>
          </p:cNvSpPr>
          <p:nvPr/>
        </p:nvSpPr>
        <p:spPr bwMode="auto">
          <a:xfrm>
            <a:off x="650096" y="3859715"/>
            <a:ext cx="10896060" cy="2559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defPPr>
              <a:defRPr lang="es-CL"/>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227965" indent="-227965" algn="just" defTabSz="914400">
              <a:buNone/>
            </a:pPr>
            <a:r>
              <a:rPr lang="es-ES" sz="2400" b="1" dirty="0">
                <a:solidFill>
                  <a:srgbClr val="4E7CDD"/>
                </a:solidFill>
                <a:latin typeface="Arial"/>
                <a:cs typeface="Arial"/>
              </a:rPr>
              <a:t>Jerarquía y Anidamiento Lógico</a:t>
            </a:r>
            <a:endParaRPr lang="es-ES" sz="2000" dirty="0">
              <a:solidFill>
                <a:srgbClr val="4E7CDD"/>
              </a:solidFill>
              <a:latin typeface="Arial"/>
              <a:cs typeface="Arial"/>
            </a:endParaRPr>
          </a:p>
          <a:p>
            <a:pPr marL="227965" indent="-227965" algn="just" defTabSz="914400">
              <a:lnSpc>
                <a:spcPct val="150000"/>
              </a:lnSpc>
              <a:buFont typeface="Arial"/>
              <a:buChar char="•"/>
            </a:pPr>
            <a:r>
              <a:rPr lang="es-ES" sz="2000" dirty="0">
                <a:latin typeface="Montserrat"/>
                <a:cs typeface="Arial"/>
              </a:rPr>
              <a:t>Organiza los </a:t>
            </a:r>
            <a:r>
              <a:rPr lang="es-ES" sz="2000" err="1">
                <a:latin typeface="Montserrat"/>
                <a:cs typeface="Arial"/>
              </a:rPr>
              <a:t>endpoints</a:t>
            </a:r>
            <a:r>
              <a:rPr lang="es-ES" sz="2000" dirty="0">
                <a:latin typeface="Montserrat"/>
                <a:cs typeface="Arial"/>
              </a:rPr>
              <a:t> para reflejar relaciones entre recursos.</a:t>
            </a:r>
            <a:endParaRPr lang="es-ES">
              <a:latin typeface="Montserrat"/>
            </a:endParaRPr>
          </a:p>
          <a:p>
            <a:pPr marL="227965" indent="-227965" algn="just" defTabSz="914400">
              <a:lnSpc>
                <a:spcPct val="150000"/>
              </a:lnSpc>
              <a:buFont typeface="Arial"/>
              <a:buChar char="•"/>
            </a:pPr>
            <a:r>
              <a:rPr lang="es-ES" sz="2000" dirty="0">
                <a:latin typeface="Consolas"/>
                <a:cs typeface="Arial"/>
              </a:rPr>
              <a:t>/api/v1/</a:t>
            </a:r>
            <a:r>
              <a:rPr lang="es-ES" sz="2000" err="1">
                <a:latin typeface="Consolas"/>
                <a:cs typeface="Arial"/>
              </a:rPr>
              <a:t>products</a:t>
            </a:r>
            <a:r>
              <a:rPr lang="es-ES" sz="2000" dirty="0">
                <a:latin typeface="Consolas"/>
                <a:cs typeface="Arial"/>
              </a:rPr>
              <a:t>/{</a:t>
            </a:r>
            <a:r>
              <a:rPr lang="es-ES" sz="2000" err="1">
                <a:latin typeface="Consolas"/>
                <a:cs typeface="Arial"/>
              </a:rPr>
              <a:t>productId</a:t>
            </a:r>
            <a:r>
              <a:rPr lang="es-ES" sz="2000" dirty="0">
                <a:latin typeface="Consolas"/>
                <a:cs typeface="Arial"/>
              </a:rPr>
              <a:t>}/</a:t>
            </a:r>
            <a:r>
              <a:rPr lang="es-ES" sz="2000" err="1">
                <a:latin typeface="Consolas"/>
                <a:cs typeface="Arial"/>
              </a:rPr>
              <a:t>reviews</a:t>
            </a:r>
            <a:r>
              <a:rPr lang="es-ES" sz="2000" dirty="0">
                <a:latin typeface="Montserrat"/>
                <a:cs typeface="Arial"/>
              </a:rPr>
              <a:t> para las reseñas de un producto específico.</a:t>
            </a:r>
            <a:endParaRPr lang="es-ES" dirty="0">
              <a:latin typeface="Montserrat"/>
            </a:endParaRPr>
          </a:p>
          <a:p>
            <a:pPr marL="227965" indent="-227965" algn="just" defTabSz="914400">
              <a:buNone/>
            </a:pPr>
            <a:endParaRPr lang="es-ES" sz="2000" b="1" dirty="0">
              <a:solidFill>
                <a:srgbClr val="4E7CDD"/>
              </a:solidFill>
              <a:latin typeface="Arial"/>
            </a:endParaRPr>
          </a:p>
          <a:p>
            <a:pPr marL="0" indent="0" algn="just" defTabSz="914400">
              <a:lnSpc>
                <a:spcPct val="150000"/>
              </a:lnSpc>
              <a:buFont typeface="Arial" panose="020B0604020202020204" pitchFamily="34" charset="0"/>
              <a:buNone/>
            </a:pPr>
            <a:endParaRPr lang="es-ES" sz="2000" b="1" dirty="0">
              <a:solidFill>
                <a:srgbClr val="4E7CDD"/>
              </a:solidFill>
              <a:latin typeface="Arial"/>
              <a:cs typeface="Arial"/>
            </a:endParaRPr>
          </a:p>
        </p:txBody>
      </p:sp>
      <p:sp>
        <p:nvSpPr>
          <p:cNvPr id="7" name="Rectángulo: esquinas redondeadas 6">
            <a:extLst>
              <a:ext uri="{FF2B5EF4-FFF2-40B4-BE49-F238E27FC236}">
                <a16:creationId xmlns:a16="http://schemas.microsoft.com/office/drawing/2014/main" id="{B1521708-2122-F439-8DA2-1681C6B9BE80}"/>
              </a:ext>
            </a:extLst>
          </p:cNvPr>
          <p:cNvSpPr/>
          <p:nvPr/>
        </p:nvSpPr>
        <p:spPr>
          <a:xfrm>
            <a:off x="10280709" y="555506"/>
            <a:ext cx="1657152" cy="450570"/>
          </a:xfrm>
          <a:prstGeom prst="roundRect">
            <a:avLst/>
          </a:prstGeom>
          <a:ln/>
        </p:spPr>
        <p:style>
          <a:lnRef idx="1">
            <a:schemeClr val="dk1"/>
          </a:lnRef>
          <a:fillRef idx="2">
            <a:schemeClr val="dk1"/>
          </a:fillRef>
          <a:effectRef idx="1">
            <a:schemeClr val="dk1"/>
          </a:effectRef>
          <a:fontRef idx="minor">
            <a:schemeClr val="dk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1000" b="1" dirty="0">
                <a:solidFill>
                  <a:schemeClr val="bg1"/>
                </a:solidFill>
                <a:latin typeface="Montserrat"/>
                <a:ea typeface="+mn-lt"/>
                <a:cs typeface="+mn-lt"/>
              </a:rPr>
              <a:t>RECOMENDACIONES</a:t>
            </a:r>
          </a:p>
        </p:txBody>
      </p:sp>
    </p:spTree>
    <p:extLst>
      <p:ext uri="{BB962C8B-B14F-4D97-AF65-F5344CB8AC3E}">
        <p14:creationId xmlns:p14="http://schemas.microsoft.com/office/powerpoint/2010/main" val="5656920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10231109" cy="327618"/>
          </a:xfrm>
        </p:spPr>
        <p:txBody>
          <a:bodyPr vert="horz" lIns="91440" tIns="45720" rIns="91440" bIns="45720" rtlCol="0" anchor="t">
            <a:noAutofit/>
          </a:bodyPr>
          <a:lstStyle/>
          <a:p>
            <a:pPr marL="227965" indent="-227965"/>
            <a:r>
              <a:rPr lang="es-CL" dirty="0">
                <a:latin typeface="Arial"/>
                <a:cs typeface="Arial"/>
              </a:rPr>
              <a:t>Buenas prácticas para el diseño de </a:t>
            </a:r>
            <a:r>
              <a:rPr lang="es-CL" dirty="0" err="1">
                <a:latin typeface="Arial"/>
                <a:cs typeface="Arial"/>
              </a:rPr>
              <a:t>APIs</a:t>
            </a:r>
            <a:r>
              <a:rPr lang="es-CL" dirty="0">
                <a:latin typeface="Arial"/>
                <a:cs typeface="Arial"/>
              </a:rPr>
              <a:t> REST</a:t>
            </a:r>
            <a:endParaRPr lang="es-CL" dirty="0"/>
          </a:p>
        </p:txBody>
      </p:sp>
      <p:graphicFrame>
        <p:nvGraphicFramePr>
          <p:cNvPr id="3" name="Tabla 2">
            <a:extLst>
              <a:ext uri="{FF2B5EF4-FFF2-40B4-BE49-F238E27FC236}">
                <a16:creationId xmlns:a16="http://schemas.microsoft.com/office/drawing/2014/main" id="{EA22AC99-11BD-A453-ACFB-70842ECCF783}"/>
              </a:ext>
            </a:extLst>
          </p:cNvPr>
          <p:cNvGraphicFramePr>
            <a:graphicFrameLocks noGrp="1"/>
          </p:cNvGraphicFramePr>
          <p:nvPr>
            <p:extLst>
              <p:ext uri="{D42A27DB-BD31-4B8C-83A1-F6EECF244321}">
                <p14:modId xmlns:p14="http://schemas.microsoft.com/office/powerpoint/2010/main" val="20209787"/>
              </p:ext>
            </p:extLst>
          </p:nvPr>
        </p:nvGraphicFramePr>
        <p:xfrm>
          <a:off x="800745" y="1601491"/>
          <a:ext cx="10594022" cy="4250075"/>
        </p:xfrm>
        <a:graphic>
          <a:graphicData uri="http://schemas.openxmlformats.org/drawingml/2006/table">
            <a:tbl>
              <a:tblPr firstRow="1" bandRow="1">
                <a:tableStyleId>{B301B821-A1FF-4177-AEE7-76D212191A09}</a:tableStyleId>
              </a:tblPr>
              <a:tblGrid>
                <a:gridCol w="1824279">
                  <a:extLst>
                    <a:ext uri="{9D8B030D-6E8A-4147-A177-3AD203B41FA5}">
                      <a16:colId xmlns:a16="http://schemas.microsoft.com/office/drawing/2014/main" val="3848427883"/>
                    </a:ext>
                  </a:extLst>
                </a:gridCol>
                <a:gridCol w="1414008">
                  <a:extLst>
                    <a:ext uri="{9D8B030D-6E8A-4147-A177-3AD203B41FA5}">
                      <a16:colId xmlns:a16="http://schemas.microsoft.com/office/drawing/2014/main" val="2713084811"/>
                    </a:ext>
                  </a:extLst>
                </a:gridCol>
                <a:gridCol w="2018893">
                  <a:extLst>
                    <a:ext uri="{9D8B030D-6E8A-4147-A177-3AD203B41FA5}">
                      <a16:colId xmlns:a16="http://schemas.microsoft.com/office/drawing/2014/main" val="3792698026"/>
                    </a:ext>
                  </a:extLst>
                </a:gridCol>
                <a:gridCol w="1829246">
                  <a:extLst>
                    <a:ext uri="{9D8B030D-6E8A-4147-A177-3AD203B41FA5}">
                      <a16:colId xmlns:a16="http://schemas.microsoft.com/office/drawing/2014/main" val="157263218"/>
                    </a:ext>
                  </a:extLst>
                </a:gridCol>
                <a:gridCol w="3507596">
                  <a:extLst>
                    <a:ext uri="{9D8B030D-6E8A-4147-A177-3AD203B41FA5}">
                      <a16:colId xmlns:a16="http://schemas.microsoft.com/office/drawing/2014/main" val="2595992297"/>
                    </a:ext>
                  </a:extLst>
                </a:gridCol>
              </a:tblGrid>
              <a:tr h="1001050">
                <a:tc>
                  <a:txBody>
                    <a:bodyPr/>
                    <a:lstStyle/>
                    <a:p>
                      <a:pPr algn="ctr"/>
                      <a:r>
                        <a:rPr lang="es-ES" sz="1800" dirty="0">
                          <a:latin typeface="Montserrat"/>
                        </a:rPr>
                        <a:t>API</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algn="ctr"/>
                      <a:r>
                        <a:rPr lang="es-ES" sz="1800" dirty="0">
                          <a:latin typeface="Montserrat"/>
                        </a:rPr>
                        <a:t>MÉTODO</a:t>
                      </a:r>
                    </a:p>
                    <a:p>
                      <a:pPr lvl="0" algn="ctr">
                        <a:buNone/>
                      </a:pPr>
                      <a:r>
                        <a:rPr lang="es-ES" sz="1800" dirty="0">
                          <a:latin typeface="Montserrat"/>
                        </a:rPr>
                        <a:t>HTTP</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algn="ctr"/>
                      <a:r>
                        <a:rPr lang="es-ES" sz="1800" dirty="0">
                          <a:latin typeface="Montserrat"/>
                        </a:rPr>
                        <a:t>PATH</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algn="ctr"/>
                      <a:r>
                        <a:rPr lang="es-ES" sz="1800" dirty="0">
                          <a:latin typeface="Montserrat"/>
                        </a:rPr>
                        <a:t>CÓDIGO DE ESTADO</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algn="ctr"/>
                      <a:r>
                        <a:rPr lang="es-ES" sz="1800" dirty="0">
                          <a:latin typeface="Montserrat"/>
                        </a:rPr>
                        <a:t>DESCRIPCIÓN</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extLst>
                  <a:ext uri="{0D108BD9-81ED-4DB2-BD59-A6C34878D82A}">
                    <a16:rowId xmlns:a16="http://schemas.microsoft.com/office/drawing/2014/main" val="2637986861"/>
                  </a:ext>
                </a:extLst>
              </a:tr>
              <a:tr h="649805">
                <a:tc>
                  <a:txBody>
                    <a:bodyPr/>
                    <a:lstStyle/>
                    <a:p>
                      <a:pPr algn="l"/>
                      <a:r>
                        <a:rPr lang="es-ES" sz="1600" b="1" dirty="0">
                          <a:latin typeface="Montserrat"/>
                        </a:rPr>
                        <a:t>Listar libros</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algn="ctr"/>
                      <a:r>
                        <a:rPr lang="es-ES" sz="1600" dirty="0">
                          <a:latin typeface="Montserrat"/>
                        </a:rPr>
                        <a:t>GET</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algn="l"/>
                      <a:r>
                        <a:rPr lang="es-ES" sz="1600" dirty="0">
                          <a:latin typeface="Montserrat"/>
                        </a:rPr>
                        <a:t>/api/v1/libros</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algn="l"/>
                      <a:r>
                        <a:rPr lang="es-ES" sz="1600" dirty="0">
                          <a:latin typeface="Montserrat"/>
                        </a:rPr>
                        <a:t>200 (OK)</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algn="l"/>
                      <a:r>
                        <a:rPr lang="es-ES" sz="1600" dirty="0">
                          <a:latin typeface="Montserrat"/>
                        </a:rPr>
                        <a:t>Se recupera todos los recursos</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extLst>
                  <a:ext uri="{0D108BD9-81ED-4DB2-BD59-A6C34878D82A}">
                    <a16:rowId xmlns:a16="http://schemas.microsoft.com/office/drawing/2014/main" val="3078426036"/>
                  </a:ext>
                </a:extLst>
              </a:tr>
              <a:tr h="649805">
                <a:tc>
                  <a:txBody>
                    <a:bodyPr/>
                    <a:lstStyle/>
                    <a:p>
                      <a:pPr algn="l"/>
                      <a:r>
                        <a:rPr lang="es-ES" sz="1600" b="1" dirty="0">
                          <a:latin typeface="Montserrat"/>
                        </a:rPr>
                        <a:t>Guardar libro</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algn="ctr"/>
                      <a:r>
                        <a:rPr lang="es-ES" sz="1600" dirty="0">
                          <a:latin typeface="Montserrat"/>
                        </a:rPr>
                        <a:t>POST</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algn="l"/>
                      <a:r>
                        <a:rPr lang="es-ES" sz="1600" dirty="0">
                          <a:latin typeface="Montserrat"/>
                        </a:rPr>
                        <a:t>/api/v1/libros</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algn="l"/>
                      <a:r>
                        <a:rPr lang="es-ES" sz="1600" dirty="0">
                          <a:latin typeface="Montserrat"/>
                        </a:rPr>
                        <a:t>201 (</a:t>
                      </a:r>
                      <a:r>
                        <a:rPr lang="es-ES" sz="1600" dirty="0" err="1">
                          <a:latin typeface="Montserrat"/>
                        </a:rPr>
                        <a:t>Created</a:t>
                      </a:r>
                      <a:r>
                        <a:rPr lang="es-ES" sz="1600" dirty="0">
                          <a:latin typeface="Montserrat"/>
                        </a:rPr>
                        <a:t>)</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algn="l"/>
                      <a:r>
                        <a:rPr lang="es-ES" sz="1600" dirty="0">
                          <a:latin typeface="Montserrat"/>
                        </a:rPr>
                        <a:t>Se crea un nuevo recurso</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extLst>
                  <a:ext uri="{0D108BD9-81ED-4DB2-BD59-A6C34878D82A}">
                    <a16:rowId xmlns:a16="http://schemas.microsoft.com/office/drawing/2014/main" val="1967209511"/>
                  </a:ext>
                </a:extLst>
              </a:tr>
              <a:tr h="649805">
                <a:tc>
                  <a:txBody>
                    <a:bodyPr/>
                    <a:lstStyle/>
                    <a:p>
                      <a:pPr algn="l"/>
                      <a:r>
                        <a:rPr lang="es-ES" sz="1600" b="1" dirty="0">
                          <a:latin typeface="Montserrat"/>
                        </a:rPr>
                        <a:t>Obtener libro</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algn="ctr"/>
                      <a:r>
                        <a:rPr lang="es-ES" sz="1600" dirty="0">
                          <a:latin typeface="Montserrat"/>
                        </a:rPr>
                        <a:t>GET</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algn="l"/>
                      <a:r>
                        <a:rPr lang="es-ES" sz="1600" dirty="0">
                          <a:latin typeface="Montserrat"/>
                        </a:rPr>
                        <a:t>/api/v1/libros/{id}</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algn="l"/>
                      <a:r>
                        <a:rPr lang="es-ES" sz="1600" dirty="0">
                          <a:latin typeface="Montserrat"/>
                        </a:rPr>
                        <a:t>200 (OK)</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algn="l"/>
                      <a:r>
                        <a:rPr lang="es-ES" sz="1600" dirty="0">
                          <a:latin typeface="Montserrat"/>
                        </a:rPr>
                        <a:t>Se recupera un recurso</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extLst>
                  <a:ext uri="{0D108BD9-81ED-4DB2-BD59-A6C34878D82A}">
                    <a16:rowId xmlns:a16="http://schemas.microsoft.com/office/drawing/2014/main" val="2104593427"/>
                  </a:ext>
                </a:extLst>
              </a:tr>
              <a:tr h="649805">
                <a:tc>
                  <a:txBody>
                    <a:bodyPr/>
                    <a:lstStyle/>
                    <a:p>
                      <a:pPr lvl="0" algn="l">
                        <a:buNone/>
                      </a:pPr>
                      <a:r>
                        <a:rPr lang="es-ES" sz="1600" b="1" dirty="0">
                          <a:latin typeface="Montserrat"/>
                        </a:rPr>
                        <a:t>Actualizar libro</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lvl="0" algn="ctr">
                        <a:buNone/>
                      </a:pPr>
                      <a:r>
                        <a:rPr lang="es-ES" sz="1600" dirty="0">
                          <a:latin typeface="Montserrat"/>
                        </a:rPr>
                        <a:t>PUT</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lvl="0" algn="l">
                        <a:buNone/>
                      </a:pPr>
                      <a:r>
                        <a:rPr lang="es-ES" sz="1600" dirty="0">
                          <a:latin typeface="Montserrat"/>
                        </a:rPr>
                        <a:t>/api/v1/libros/{id}</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lvl="0" algn="l">
                        <a:buNone/>
                      </a:pPr>
                      <a:r>
                        <a:rPr lang="es-ES" sz="1600" dirty="0">
                          <a:latin typeface="Montserrat"/>
                        </a:rPr>
                        <a:t>200 (OK)</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lvl="0" algn="l">
                        <a:buNone/>
                      </a:pPr>
                      <a:r>
                        <a:rPr lang="es-ES" sz="1600" dirty="0">
                          <a:latin typeface="Montserrat"/>
                        </a:rPr>
                        <a:t>Se actualiza un recurso</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extLst>
                  <a:ext uri="{0D108BD9-81ED-4DB2-BD59-A6C34878D82A}">
                    <a16:rowId xmlns:a16="http://schemas.microsoft.com/office/drawing/2014/main" val="2926008699"/>
                  </a:ext>
                </a:extLst>
              </a:tr>
              <a:tr h="649805">
                <a:tc>
                  <a:txBody>
                    <a:bodyPr/>
                    <a:lstStyle/>
                    <a:p>
                      <a:pPr lvl="0" algn="l">
                        <a:buNone/>
                      </a:pPr>
                      <a:r>
                        <a:rPr lang="es-ES" sz="1600" b="1" dirty="0">
                          <a:latin typeface="Montserrat"/>
                        </a:rPr>
                        <a:t>Eliminar libro</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lvl="0" algn="ctr">
                        <a:buNone/>
                      </a:pPr>
                      <a:r>
                        <a:rPr lang="es-ES" sz="1600" dirty="0">
                          <a:latin typeface="Montserrat"/>
                        </a:rPr>
                        <a:t>DELETE</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lvl="0" algn="l">
                        <a:lnSpc>
                          <a:spcPct val="100000"/>
                        </a:lnSpc>
                        <a:spcBef>
                          <a:spcPts val="0"/>
                        </a:spcBef>
                        <a:spcAft>
                          <a:spcPts val="0"/>
                        </a:spcAft>
                        <a:buNone/>
                      </a:pPr>
                      <a:r>
                        <a:rPr lang="es-ES" sz="1600" u="none" strike="noStrike" noProof="0" dirty="0">
                          <a:solidFill>
                            <a:srgbClr val="000000"/>
                          </a:solidFill>
                          <a:latin typeface="Montserrat"/>
                        </a:rPr>
                        <a:t>/api/v1/libros/{id}</a:t>
                      </a:r>
                    </a:p>
                    <a:p>
                      <a:pPr lvl="0" algn="l">
                        <a:buNone/>
                      </a:pPr>
                      <a:endParaRPr lang="es-ES" sz="1600" dirty="0">
                        <a:latin typeface="Montserrat"/>
                      </a:endParaRP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lvl="0" algn="l">
                        <a:buNone/>
                      </a:pPr>
                      <a:r>
                        <a:rPr lang="es-ES" sz="1600" dirty="0">
                          <a:latin typeface="Montserrat"/>
                        </a:rPr>
                        <a:t>204 (No Content)</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tc>
                  <a:txBody>
                    <a:bodyPr/>
                    <a:lstStyle/>
                    <a:p>
                      <a:pPr lvl="0" algn="l">
                        <a:buNone/>
                      </a:pPr>
                      <a:r>
                        <a:rPr lang="es-ES" sz="1600" dirty="0">
                          <a:latin typeface="Montserrat"/>
                        </a:rPr>
                        <a:t>Se elimina un recurso</a:t>
                      </a:r>
                    </a:p>
                  </a:txBody>
                  <a:tcPr anchor="ctr">
                    <a:lnL w="3175">
                      <a:solidFill>
                        <a:schemeClr val="bg1">
                          <a:lumMod val="75000"/>
                        </a:schemeClr>
                      </a:solidFill>
                    </a:lnL>
                    <a:lnR w="3175">
                      <a:solidFill>
                        <a:schemeClr val="bg1">
                          <a:lumMod val="75000"/>
                        </a:schemeClr>
                      </a:solidFill>
                    </a:lnR>
                    <a:lnT w="3175">
                      <a:solidFill>
                        <a:schemeClr val="bg1">
                          <a:lumMod val="75000"/>
                        </a:schemeClr>
                      </a:solidFill>
                    </a:lnT>
                    <a:lnB w="3175">
                      <a:solidFill>
                        <a:schemeClr val="bg1">
                          <a:lumMod val="75000"/>
                        </a:schemeClr>
                      </a:solidFill>
                    </a:lnB>
                  </a:tcPr>
                </a:tc>
                <a:extLst>
                  <a:ext uri="{0D108BD9-81ED-4DB2-BD59-A6C34878D82A}">
                    <a16:rowId xmlns:a16="http://schemas.microsoft.com/office/drawing/2014/main" val="1965557854"/>
                  </a:ext>
                </a:extLst>
              </a:tr>
            </a:tbl>
          </a:graphicData>
        </a:graphic>
      </p:graphicFrame>
    </p:spTree>
    <p:extLst>
      <p:ext uri="{BB962C8B-B14F-4D97-AF65-F5344CB8AC3E}">
        <p14:creationId xmlns:p14="http://schemas.microsoft.com/office/powerpoint/2010/main" val="9760768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10231109" cy="327618"/>
          </a:xfrm>
        </p:spPr>
        <p:txBody>
          <a:bodyPr vert="horz" lIns="91440" tIns="45720" rIns="91440" bIns="45720" rtlCol="0" anchor="t">
            <a:noAutofit/>
          </a:bodyPr>
          <a:lstStyle/>
          <a:p>
            <a:pPr marL="227965" indent="-227965"/>
            <a:r>
              <a:rPr lang="es-CL" dirty="0">
                <a:latin typeface="Arial"/>
                <a:cs typeface="Arial"/>
              </a:rPr>
              <a:t>Buenas prácticas para el diseño de </a:t>
            </a:r>
            <a:r>
              <a:rPr lang="es-CL" dirty="0" err="1">
                <a:latin typeface="Arial"/>
                <a:cs typeface="Arial"/>
              </a:rPr>
              <a:t>APIs</a:t>
            </a:r>
            <a:r>
              <a:rPr lang="es-CL" dirty="0">
                <a:latin typeface="Arial"/>
                <a:cs typeface="Arial"/>
              </a:rPr>
              <a:t> REST</a:t>
            </a:r>
            <a:endParaRPr lang="es-CL" dirty="0"/>
          </a:p>
        </p:txBody>
      </p:sp>
      <p:graphicFrame>
        <p:nvGraphicFramePr>
          <p:cNvPr id="3" name="Tabla 2">
            <a:extLst>
              <a:ext uri="{FF2B5EF4-FFF2-40B4-BE49-F238E27FC236}">
                <a16:creationId xmlns:a16="http://schemas.microsoft.com/office/drawing/2014/main" id="{EA22AC99-11BD-A453-ACFB-70842ECCF783}"/>
              </a:ext>
            </a:extLst>
          </p:cNvPr>
          <p:cNvGraphicFramePr>
            <a:graphicFrameLocks noGrp="1"/>
          </p:cNvGraphicFramePr>
          <p:nvPr>
            <p:extLst>
              <p:ext uri="{D42A27DB-BD31-4B8C-83A1-F6EECF244321}">
                <p14:modId xmlns:p14="http://schemas.microsoft.com/office/powerpoint/2010/main" val="2464035952"/>
              </p:ext>
            </p:extLst>
          </p:nvPr>
        </p:nvGraphicFramePr>
        <p:xfrm>
          <a:off x="800745" y="1601491"/>
          <a:ext cx="10594011" cy="4250075"/>
        </p:xfrm>
        <a:graphic>
          <a:graphicData uri="http://schemas.openxmlformats.org/drawingml/2006/table">
            <a:tbl>
              <a:tblPr firstRow="1" bandRow="1">
                <a:tableStyleId>{9DCAF9ED-07DC-4A11-8D7F-57B35C25682E}</a:tableStyleId>
              </a:tblPr>
              <a:tblGrid>
                <a:gridCol w="2260169">
                  <a:extLst>
                    <a:ext uri="{9D8B030D-6E8A-4147-A177-3AD203B41FA5}">
                      <a16:colId xmlns:a16="http://schemas.microsoft.com/office/drawing/2014/main" val="3848427883"/>
                    </a:ext>
                  </a:extLst>
                </a:gridCol>
                <a:gridCol w="1210805">
                  <a:extLst>
                    <a:ext uri="{9D8B030D-6E8A-4147-A177-3AD203B41FA5}">
                      <a16:colId xmlns:a16="http://schemas.microsoft.com/office/drawing/2014/main" val="2713084811"/>
                    </a:ext>
                  </a:extLst>
                </a:gridCol>
                <a:gridCol w="2657095">
                  <a:extLst>
                    <a:ext uri="{9D8B030D-6E8A-4147-A177-3AD203B41FA5}">
                      <a16:colId xmlns:a16="http://schemas.microsoft.com/office/drawing/2014/main" val="3792698026"/>
                    </a:ext>
                  </a:extLst>
                </a:gridCol>
                <a:gridCol w="1647577">
                  <a:extLst>
                    <a:ext uri="{9D8B030D-6E8A-4147-A177-3AD203B41FA5}">
                      <a16:colId xmlns:a16="http://schemas.microsoft.com/office/drawing/2014/main" val="157263218"/>
                    </a:ext>
                  </a:extLst>
                </a:gridCol>
                <a:gridCol w="2818365">
                  <a:extLst>
                    <a:ext uri="{9D8B030D-6E8A-4147-A177-3AD203B41FA5}">
                      <a16:colId xmlns:a16="http://schemas.microsoft.com/office/drawing/2014/main" val="2595992297"/>
                    </a:ext>
                  </a:extLst>
                </a:gridCol>
              </a:tblGrid>
              <a:tr h="1001050">
                <a:tc>
                  <a:txBody>
                    <a:bodyPr/>
                    <a:lstStyle/>
                    <a:p>
                      <a:pPr algn="ctr"/>
                      <a:r>
                        <a:rPr lang="es-ES" sz="1800" dirty="0"/>
                        <a:t>API</a:t>
                      </a:r>
                    </a:p>
                  </a:txBody>
                  <a:tcPr anchor="ctr"/>
                </a:tc>
                <a:tc>
                  <a:txBody>
                    <a:bodyPr/>
                    <a:lstStyle/>
                    <a:p>
                      <a:pPr algn="ctr"/>
                      <a:r>
                        <a:rPr lang="es-ES" sz="1800" dirty="0"/>
                        <a:t>MÉTODO</a:t>
                      </a:r>
                    </a:p>
                    <a:p>
                      <a:pPr lvl="0" algn="ctr">
                        <a:buNone/>
                      </a:pPr>
                      <a:r>
                        <a:rPr lang="es-ES" sz="1800" dirty="0"/>
                        <a:t>HTTP</a:t>
                      </a:r>
                    </a:p>
                  </a:txBody>
                  <a:tcPr anchor="ctr"/>
                </a:tc>
                <a:tc>
                  <a:txBody>
                    <a:bodyPr/>
                    <a:lstStyle/>
                    <a:p>
                      <a:pPr algn="ctr"/>
                      <a:r>
                        <a:rPr lang="es-ES" sz="1800" dirty="0"/>
                        <a:t>PATH</a:t>
                      </a:r>
                    </a:p>
                  </a:txBody>
                  <a:tcPr anchor="ctr"/>
                </a:tc>
                <a:tc>
                  <a:txBody>
                    <a:bodyPr/>
                    <a:lstStyle/>
                    <a:p>
                      <a:pPr algn="ctr"/>
                      <a:r>
                        <a:rPr lang="es-ES" sz="1800" dirty="0"/>
                        <a:t>CÓDIGO DE ESTADO</a:t>
                      </a:r>
                    </a:p>
                  </a:txBody>
                  <a:tcPr anchor="ctr"/>
                </a:tc>
                <a:tc>
                  <a:txBody>
                    <a:bodyPr/>
                    <a:lstStyle/>
                    <a:p>
                      <a:pPr algn="ctr"/>
                      <a:r>
                        <a:rPr lang="es-ES" sz="1800" dirty="0"/>
                        <a:t>DESCRIPCIÓN</a:t>
                      </a:r>
                    </a:p>
                  </a:txBody>
                  <a:tcPr anchor="ctr"/>
                </a:tc>
                <a:extLst>
                  <a:ext uri="{0D108BD9-81ED-4DB2-BD59-A6C34878D82A}">
                    <a16:rowId xmlns:a16="http://schemas.microsoft.com/office/drawing/2014/main" val="2637986861"/>
                  </a:ext>
                </a:extLst>
              </a:tr>
              <a:tr h="649805">
                <a:tc>
                  <a:txBody>
                    <a:bodyPr/>
                    <a:lstStyle/>
                    <a:p>
                      <a:pPr algn="l"/>
                      <a:r>
                        <a:rPr lang="es-ES" sz="1600" dirty="0"/>
                        <a:t>Listar prestamos</a:t>
                      </a:r>
                    </a:p>
                  </a:txBody>
                  <a:tcPr anchor="ctr"/>
                </a:tc>
                <a:tc>
                  <a:txBody>
                    <a:bodyPr/>
                    <a:lstStyle/>
                    <a:p>
                      <a:pPr algn="ctr"/>
                      <a:r>
                        <a:rPr lang="es-ES" sz="1600" dirty="0"/>
                        <a:t>GET</a:t>
                      </a:r>
                    </a:p>
                  </a:txBody>
                  <a:tcPr anchor="ctr"/>
                </a:tc>
                <a:tc>
                  <a:txBody>
                    <a:bodyPr/>
                    <a:lstStyle/>
                    <a:p>
                      <a:pPr algn="l"/>
                      <a:r>
                        <a:rPr lang="es-ES" sz="1600" dirty="0"/>
                        <a:t>/api/v1/prestamos</a:t>
                      </a:r>
                    </a:p>
                  </a:txBody>
                  <a:tcPr anchor="ctr"/>
                </a:tc>
                <a:tc>
                  <a:txBody>
                    <a:bodyPr/>
                    <a:lstStyle/>
                    <a:p>
                      <a:pPr algn="l"/>
                      <a:r>
                        <a:rPr lang="es-ES" sz="1600" dirty="0"/>
                        <a:t>200 (OK)</a:t>
                      </a:r>
                    </a:p>
                  </a:txBody>
                  <a:tcPr anchor="ctr"/>
                </a:tc>
                <a:tc>
                  <a:txBody>
                    <a:bodyPr/>
                    <a:lstStyle/>
                    <a:p>
                      <a:pPr algn="l"/>
                      <a:r>
                        <a:rPr lang="es-ES" sz="1600" dirty="0"/>
                        <a:t>Se recupera todos los recursos</a:t>
                      </a:r>
                    </a:p>
                  </a:txBody>
                  <a:tcPr anchor="ctr"/>
                </a:tc>
                <a:extLst>
                  <a:ext uri="{0D108BD9-81ED-4DB2-BD59-A6C34878D82A}">
                    <a16:rowId xmlns:a16="http://schemas.microsoft.com/office/drawing/2014/main" val="3078426036"/>
                  </a:ext>
                </a:extLst>
              </a:tr>
              <a:tr h="649805">
                <a:tc>
                  <a:txBody>
                    <a:bodyPr/>
                    <a:lstStyle/>
                    <a:p>
                      <a:pPr algn="l"/>
                      <a:r>
                        <a:rPr lang="es-ES" sz="1600" dirty="0"/>
                        <a:t>Guardar </a:t>
                      </a:r>
                      <a:r>
                        <a:rPr lang="es-ES" sz="1600" dirty="0" err="1"/>
                        <a:t>prestamo</a:t>
                      </a:r>
                    </a:p>
                  </a:txBody>
                  <a:tcPr anchor="ctr"/>
                </a:tc>
                <a:tc>
                  <a:txBody>
                    <a:bodyPr/>
                    <a:lstStyle/>
                    <a:p>
                      <a:pPr algn="ctr"/>
                      <a:r>
                        <a:rPr lang="es-ES" sz="1600" dirty="0"/>
                        <a:t>POST</a:t>
                      </a:r>
                    </a:p>
                  </a:txBody>
                  <a:tcPr anchor="ctr"/>
                </a:tc>
                <a:tc>
                  <a:txBody>
                    <a:bodyPr/>
                    <a:lstStyle/>
                    <a:p>
                      <a:pPr algn="l"/>
                      <a:r>
                        <a:rPr lang="es-ES" sz="1600" dirty="0"/>
                        <a:t>/api/v1/</a:t>
                      </a:r>
                      <a:r>
                        <a:rPr lang="es-ES" sz="1600" b="0" i="0" u="none" strike="noStrike" noProof="0" dirty="0">
                          <a:solidFill>
                            <a:srgbClr val="000000"/>
                          </a:solidFill>
                          <a:latin typeface="Aptos"/>
                        </a:rPr>
                        <a:t>prestamos</a:t>
                      </a:r>
                      <a:endParaRPr lang="es-ES" sz="1600" dirty="0"/>
                    </a:p>
                  </a:txBody>
                  <a:tcPr anchor="ctr"/>
                </a:tc>
                <a:tc>
                  <a:txBody>
                    <a:bodyPr/>
                    <a:lstStyle/>
                    <a:p>
                      <a:pPr algn="l"/>
                      <a:r>
                        <a:rPr lang="es-ES" sz="1600" dirty="0"/>
                        <a:t>201 (</a:t>
                      </a:r>
                      <a:r>
                        <a:rPr lang="es-ES" sz="1600" err="1"/>
                        <a:t>Created</a:t>
                      </a:r>
                      <a:r>
                        <a:rPr lang="es-ES" sz="1600" dirty="0"/>
                        <a:t>)</a:t>
                      </a:r>
                    </a:p>
                  </a:txBody>
                  <a:tcPr anchor="ctr"/>
                </a:tc>
                <a:tc>
                  <a:txBody>
                    <a:bodyPr/>
                    <a:lstStyle/>
                    <a:p>
                      <a:pPr algn="l"/>
                      <a:r>
                        <a:rPr lang="es-ES" sz="1600" dirty="0"/>
                        <a:t>Se crea un nuevo recurso</a:t>
                      </a:r>
                    </a:p>
                  </a:txBody>
                  <a:tcPr anchor="ctr"/>
                </a:tc>
                <a:extLst>
                  <a:ext uri="{0D108BD9-81ED-4DB2-BD59-A6C34878D82A}">
                    <a16:rowId xmlns:a16="http://schemas.microsoft.com/office/drawing/2014/main" val="1967209511"/>
                  </a:ext>
                </a:extLst>
              </a:tr>
              <a:tr h="649805">
                <a:tc>
                  <a:txBody>
                    <a:bodyPr/>
                    <a:lstStyle/>
                    <a:p>
                      <a:pPr algn="l"/>
                      <a:r>
                        <a:rPr lang="es-ES" sz="1600" dirty="0"/>
                        <a:t>Obtener </a:t>
                      </a:r>
                      <a:r>
                        <a:rPr lang="es-ES" sz="1600" dirty="0" err="1"/>
                        <a:t>prestamo</a:t>
                      </a:r>
                    </a:p>
                  </a:txBody>
                  <a:tcPr anchor="ctr"/>
                </a:tc>
                <a:tc>
                  <a:txBody>
                    <a:bodyPr/>
                    <a:lstStyle/>
                    <a:p>
                      <a:pPr algn="ctr"/>
                      <a:r>
                        <a:rPr lang="es-ES" sz="1600" dirty="0"/>
                        <a:t>GET</a:t>
                      </a:r>
                    </a:p>
                  </a:txBody>
                  <a:tcPr anchor="ctr"/>
                </a:tc>
                <a:tc>
                  <a:txBody>
                    <a:bodyPr/>
                    <a:lstStyle/>
                    <a:p>
                      <a:pPr algn="l"/>
                      <a:r>
                        <a:rPr lang="es-ES" sz="1600" dirty="0"/>
                        <a:t>/api/v1/</a:t>
                      </a:r>
                      <a:r>
                        <a:rPr lang="es-ES" sz="1600" b="0" i="0" u="none" strike="noStrike" noProof="0" dirty="0">
                          <a:solidFill>
                            <a:srgbClr val="000000"/>
                          </a:solidFill>
                          <a:latin typeface="Aptos"/>
                        </a:rPr>
                        <a:t>prestamos</a:t>
                      </a:r>
                      <a:r>
                        <a:rPr lang="es-ES" sz="1600" dirty="0"/>
                        <a:t>/{id}</a:t>
                      </a:r>
                    </a:p>
                  </a:txBody>
                  <a:tcPr anchor="ctr"/>
                </a:tc>
                <a:tc>
                  <a:txBody>
                    <a:bodyPr/>
                    <a:lstStyle/>
                    <a:p>
                      <a:pPr algn="l"/>
                      <a:r>
                        <a:rPr lang="es-ES" sz="1600" dirty="0"/>
                        <a:t>200 (OK)</a:t>
                      </a:r>
                    </a:p>
                  </a:txBody>
                  <a:tcPr anchor="ctr"/>
                </a:tc>
                <a:tc>
                  <a:txBody>
                    <a:bodyPr/>
                    <a:lstStyle/>
                    <a:p>
                      <a:pPr algn="l"/>
                      <a:r>
                        <a:rPr lang="es-ES" sz="1600" dirty="0"/>
                        <a:t>Se recupera un recurso</a:t>
                      </a:r>
                    </a:p>
                  </a:txBody>
                  <a:tcPr anchor="ctr"/>
                </a:tc>
                <a:extLst>
                  <a:ext uri="{0D108BD9-81ED-4DB2-BD59-A6C34878D82A}">
                    <a16:rowId xmlns:a16="http://schemas.microsoft.com/office/drawing/2014/main" val="2104593427"/>
                  </a:ext>
                </a:extLst>
              </a:tr>
              <a:tr h="649805">
                <a:tc>
                  <a:txBody>
                    <a:bodyPr/>
                    <a:lstStyle/>
                    <a:p>
                      <a:pPr lvl="0" algn="l">
                        <a:buNone/>
                      </a:pPr>
                      <a:r>
                        <a:rPr lang="es-ES" sz="1600" dirty="0"/>
                        <a:t>Actualizar </a:t>
                      </a:r>
                      <a:r>
                        <a:rPr lang="es-ES" sz="1600" dirty="0" err="1"/>
                        <a:t>prestamo</a:t>
                      </a:r>
                    </a:p>
                  </a:txBody>
                  <a:tcPr anchor="ctr"/>
                </a:tc>
                <a:tc>
                  <a:txBody>
                    <a:bodyPr/>
                    <a:lstStyle/>
                    <a:p>
                      <a:pPr lvl="0" algn="ctr">
                        <a:buNone/>
                      </a:pPr>
                      <a:r>
                        <a:rPr lang="es-ES" sz="1600" dirty="0"/>
                        <a:t>PUT</a:t>
                      </a:r>
                    </a:p>
                  </a:txBody>
                  <a:tcPr anchor="ctr"/>
                </a:tc>
                <a:tc>
                  <a:txBody>
                    <a:bodyPr/>
                    <a:lstStyle/>
                    <a:p>
                      <a:pPr lvl="0" algn="l">
                        <a:buNone/>
                      </a:pPr>
                      <a:r>
                        <a:rPr lang="es-ES" sz="1600" dirty="0"/>
                        <a:t>/api/v1/</a:t>
                      </a:r>
                      <a:r>
                        <a:rPr lang="es-ES" sz="1600" b="0" i="0" u="none" strike="noStrike" noProof="0" dirty="0">
                          <a:solidFill>
                            <a:srgbClr val="000000"/>
                          </a:solidFill>
                          <a:latin typeface="Aptos"/>
                        </a:rPr>
                        <a:t>prestamos</a:t>
                      </a:r>
                      <a:r>
                        <a:rPr lang="es-ES" sz="1600" dirty="0"/>
                        <a:t>/{id}</a:t>
                      </a:r>
                    </a:p>
                  </a:txBody>
                  <a:tcPr anchor="ctr"/>
                </a:tc>
                <a:tc>
                  <a:txBody>
                    <a:bodyPr/>
                    <a:lstStyle/>
                    <a:p>
                      <a:pPr lvl="0" algn="l">
                        <a:buNone/>
                      </a:pPr>
                      <a:r>
                        <a:rPr lang="es-ES" sz="1600" dirty="0"/>
                        <a:t>200 (OK)</a:t>
                      </a:r>
                    </a:p>
                  </a:txBody>
                  <a:tcPr anchor="ctr"/>
                </a:tc>
                <a:tc>
                  <a:txBody>
                    <a:bodyPr/>
                    <a:lstStyle/>
                    <a:p>
                      <a:pPr lvl="0" algn="l">
                        <a:buNone/>
                      </a:pPr>
                      <a:r>
                        <a:rPr lang="es-ES" sz="1600" dirty="0"/>
                        <a:t>Se actualiza un recurso</a:t>
                      </a:r>
                    </a:p>
                  </a:txBody>
                  <a:tcPr anchor="ctr"/>
                </a:tc>
                <a:extLst>
                  <a:ext uri="{0D108BD9-81ED-4DB2-BD59-A6C34878D82A}">
                    <a16:rowId xmlns:a16="http://schemas.microsoft.com/office/drawing/2014/main" val="2926008699"/>
                  </a:ext>
                </a:extLst>
              </a:tr>
              <a:tr h="649805">
                <a:tc>
                  <a:txBody>
                    <a:bodyPr/>
                    <a:lstStyle/>
                    <a:p>
                      <a:pPr lvl="0" algn="l">
                        <a:buNone/>
                      </a:pPr>
                      <a:r>
                        <a:rPr lang="es-ES" sz="1600" dirty="0"/>
                        <a:t>Eliminar </a:t>
                      </a:r>
                      <a:r>
                        <a:rPr lang="es-ES" sz="1600" dirty="0" err="1"/>
                        <a:t>prestamo</a:t>
                      </a:r>
                    </a:p>
                  </a:txBody>
                  <a:tcPr anchor="ctr"/>
                </a:tc>
                <a:tc>
                  <a:txBody>
                    <a:bodyPr/>
                    <a:lstStyle/>
                    <a:p>
                      <a:pPr lvl="0" algn="ctr">
                        <a:buNone/>
                      </a:pPr>
                      <a:r>
                        <a:rPr lang="es-ES" sz="1600" dirty="0"/>
                        <a:t>DELETE</a:t>
                      </a:r>
                    </a:p>
                  </a:txBody>
                  <a:tcPr anchor="ctr"/>
                </a:tc>
                <a:tc>
                  <a:txBody>
                    <a:bodyPr/>
                    <a:lstStyle/>
                    <a:p>
                      <a:pPr lvl="0" algn="l">
                        <a:lnSpc>
                          <a:spcPct val="100000"/>
                        </a:lnSpc>
                        <a:spcBef>
                          <a:spcPts val="0"/>
                        </a:spcBef>
                        <a:spcAft>
                          <a:spcPts val="0"/>
                        </a:spcAft>
                        <a:buNone/>
                      </a:pPr>
                      <a:r>
                        <a:rPr lang="es-ES" sz="1600" u="none" strike="noStrike" noProof="0" dirty="0">
                          <a:solidFill>
                            <a:srgbClr val="000000"/>
                          </a:solidFill>
                        </a:rPr>
                        <a:t>/api/v1/</a:t>
                      </a:r>
                      <a:r>
                        <a:rPr lang="es-ES" sz="1600" b="0" i="0" u="none" strike="noStrike" noProof="0" dirty="0">
                          <a:solidFill>
                            <a:srgbClr val="000000"/>
                          </a:solidFill>
                          <a:latin typeface="Aptos"/>
                        </a:rPr>
                        <a:t>prestamos</a:t>
                      </a:r>
                      <a:r>
                        <a:rPr lang="es-ES" sz="1600" u="none" strike="noStrike" noProof="0" dirty="0">
                          <a:solidFill>
                            <a:srgbClr val="000000"/>
                          </a:solidFill>
                        </a:rPr>
                        <a:t>/{id}</a:t>
                      </a:r>
                    </a:p>
                    <a:p>
                      <a:pPr lvl="0" algn="l">
                        <a:buNone/>
                      </a:pPr>
                      <a:endParaRPr lang="es-ES" sz="1600" dirty="0"/>
                    </a:p>
                  </a:txBody>
                  <a:tcPr anchor="ctr"/>
                </a:tc>
                <a:tc>
                  <a:txBody>
                    <a:bodyPr/>
                    <a:lstStyle/>
                    <a:p>
                      <a:pPr lvl="0" algn="l">
                        <a:buNone/>
                      </a:pPr>
                      <a:r>
                        <a:rPr lang="es-ES" sz="1600" dirty="0"/>
                        <a:t>204 (No Content)</a:t>
                      </a:r>
                    </a:p>
                  </a:txBody>
                  <a:tcPr anchor="ctr"/>
                </a:tc>
                <a:tc>
                  <a:txBody>
                    <a:bodyPr/>
                    <a:lstStyle/>
                    <a:p>
                      <a:pPr lvl="0" algn="l">
                        <a:buNone/>
                      </a:pPr>
                      <a:r>
                        <a:rPr lang="es-ES" sz="1600" dirty="0"/>
                        <a:t>Se elimina un recurso</a:t>
                      </a:r>
                    </a:p>
                  </a:txBody>
                  <a:tcPr anchor="ctr"/>
                </a:tc>
                <a:extLst>
                  <a:ext uri="{0D108BD9-81ED-4DB2-BD59-A6C34878D82A}">
                    <a16:rowId xmlns:a16="http://schemas.microsoft.com/office/drawing/2014/main" val="1965557854"/>
                  </a:ext>
                </a:extLst>
              </a:tr>
            </a:tbl>
          </a:graphicData>
        </a:graphic>
      </p:graphicFrame>
    </p:spTree>
    <p:extLst>
      <p:ext uri="{BB962C8B-B14F-4D97-AF65-F5344CB8AC3E}">
        <p14:creationId xmlns:p14="http://schemas.microsoft.com/office/powerpoint/2010/main" val="9667959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11004409" cy="469685"/>
          </a:xfrm>
        </p:spPr>
        <p:txBody>
          <a:bodyPr vert="horz" lIns="91440" tIns="45720" rIns="91440" bIns="45720" rtlCol="0" anchor="t">
            <a:noAutofit/>
          </a:bodyPr>
          <a:lstStyle/>
          <a:p>
            <a:pPr marL="227965" indent="-227965"/>
            <a:r>
              <a:rPr lang="es-CL">
                <a:latin typeface="Arial"/>
                <a:cs typeface="Arial"/>
              </a:rPr>
              <a:t>POSTMAN</a:t>
            </a:r>
            <a:endParaRPr lang="es-CL"/>
          </a:p>
          <a:p>
            <a:pPr marL="0" indent="0">
              <a:buNone/>
            </a:pPr>
            <a:endParaRPr lang="es-CL"/>
          </a:p>
          <a:p>
            <a:pPr marL="227965" indent="-227965"/>
            <a:endParaRPr lang="es-CL"/>
          </a:p>
        </p:txBody>
      </p:sp>
      <p:sp>
        <p:nvSpPr>
          <p:cNvPr id="8" name="Rectangle 1">
            <a:extLst>
              <a:ext uri="{FF2B5EF4-FFF2-40B4-BE49-F238E27FC236}">
                <a16:creationId xmlns:a16="http://schemas.microsoft.com/office/drawing/2014/main" id="{12D4547D-739E-84EA-E267-B5FF1CD5FC65}"/>
              </a:ext>
            </a:extLst>
          </p:cNvPr>
          <p:cNvSpPr txBox="1">
            <a:spLocks noChangeArrowheads="1"/>
          </p:cNvSpPr>
          <p:nvPr/>
        </p:nvSpPr>
        <p:spPr bwMode="auto">
          <a:xfrm>
            <a:off x="652275" y="1230561"/>
            <a:ext cx="6133311" cy="872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defPPr>
              <a:defRPr lang="es-CL"/>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just" defTabSz="914400">
              <a:lnSpc>
                <a:spcPct val="150000"/>
              </a:lnSpc>
            </a:pPr>
            <a:r>
              <a:rPr lang="es-ES" b="1" dirty="0">
                <a:solidFill>
                  <a:srgbClr val="4E7CDD"/>
                </a:solidFill>
                <a:latin typeface="Arial"/>
                <a:ea typeface="+mn-lt"/>
                <a:cs typeface="+mn-lt"/>
              </a:rPr>
              <a:t>Postman </a:t>
            </a:r>
            <a:r>
              <a:rPr lang="es-ES" dirty="0">
                <a:latin typeface="Arial"/>
                <a:ea typeface="+mn-lt"/>
                <a:cs typeface="+mn-lt"/>
              </a:rPr>
              <a:t>es una </a:t>
            </a:r>
            <a:r>
              <a:rPr lang="es-ES" b="1" dirty="0">
                <a:solidFill>
                  <a:srgbClr val="4E7CDD"/>
                </a:solidFill>
                <a:latin typeface="Arial"/>
                <a:ea typeface="+mn-lt"/>
                <a:cs typeface="+mn-lt"/>
              </a:rPr>
              <a:t>herramienta </a:t>
            </a:r>
            <a:r>
              <a:rPr lang="es-ES" dirty="0">
                <a:latin typeface="Arial"/>
                <a:ea typeface="+mn-lt"/>
                <a:cs typeface="+mn-lt"/>
              </a:rPr>
              <a:t>de desarrollo de software utilizada para </a:t>
            </a:r>
            <a:r>
              <a:rPr lang="es-ES" b="1" dirty="0">
                <a:solidFill>
                  <a:srgbClr val="4E7CDD"/>
                </a:solidFill>
                <a:latin typeface="Arial"/>
                <a:ea typeface="+mn-lt"/>
                <a:cs typeface="+mn-lt"/>
              </a:rPr>
              <a:t>probar </a:t>
            </a:r>
            <a:r>
              <a:rPr lang="es-ES" b="1" dirty="0" err="1">
                <a:solidFill>
                  <a:srgbClr val="4E7CDD"/>
                </a:solidFill>
                <a:latin typeface="Arial"/>
                <a:ea typeface="+mn-lt"/>
                <a:cs typeface="+mn-lt"/>
              </a:rPr>
              <a:t>APIs</a:t>
            </a:r>
            <a:r>
              <a:rPr lang="es-ES" b="1" dirty="0">
                <a:solidFill>
                  <a:srgbClr val="4E7CDD"/>
                </a:solidFill>
                <a:latin typeface="Arial"/>
                <a:ea typeface="+mn-lt"/>
                <a:cs typeface="+mn-lt"/>
              </a:rPr>
              <a:t>.</a:t>
            </a:r>
            <a:endParaRPr lang="es-ES" dirty="0">
              <a:latin typeface="Arial"/>
              <a:ea typeface="+mn-lt"/>
              <a:cs typeface="Arial"/>
            </a:endParaRPr>
          </a:p>
        </p:txBody>
      </p:sp>
      <p:sp>
        <p:nvSpPr>
          <p:cNvPr id="4" name="Rectángulo: esquinas redondeadas 3">
            <a:extLst>
              <a:ext uri="{FF2B5EF4-FFF2-40B4-BE49-F238E27FC236}">
                <a16:creationId xmlns:a16="http://schemas.microsoft.com/office/drawing/2014/main" id="{1C3CBD0A-9444-626E-C3C6-10D6358CB755}"/>
              </a:ext>
            </a:extLst>
          </p:cNvPr>
          <p:cNvSpPr/>
          <p:nvPr/>
        </p:nvSpPr>
        <p:spPr>
          <a:xfrm>
            <a:off x="7481615" y="5356875"/>
            <a:ext cx="3993985" cy="788735"/>
          </a:xfrm>
          <a:prstGeom prst="roundRect">
            <a:avLst/>
          </a:prstGeom>
          <a:solidFill>
            <a:srgbClr val="EE7623"/>
          </a:solidFill>
        </p:spPr>
        <p:style>
          <a:lnRef idx="0">
            <a:schemeClr val="accent2"/>
          </a:lnRef>
          <a:fillRef idx="3">
            <a:schemeClr val="accent2"/>
          </a:fillRef>
          <a:effectRef idx="3">
            <a:schemeClr val="accent2"/>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2400" b="1" dirty="0">
                <a:solidFill>
                  <a:schemeClr val="bg1"/>
                </a:solidFill>
                <a:hlinkClick r:id="rId3">
                  <a:extLst>
                    <a:ext uri="{A12FA001-AC4F-418D-AE19-62706E023703}">
                      <ahyp:hlinkClr xmlns:ahyp="http://schemas.microsoft.com/office/drawing/2018/hyperlinkcolor" xmlns="" val="tx"/>
                    </a:ext>
                  </a:extLst>
                </a:hlinkClick>
              </a:rPr>
              <a:t>IR A POSTMAN</a:t>
            </a:r>
            <a:endParaRPr lang="es-ES" sz="2400" b="1" dirty="0">
              <a:solidFill>
                <a:schemeClr val="bg1"/>
              </a:solidFill>
              <a:hlinkClick r:id="rId4">
                <a:extLst>
                  <a:ext uri="{A12FA001-AC4F-418D-AE19-62706E023703}">
                    <ahyp:hlinkClr xmlns:ahyp="http://schemas.microsoft.com/office/drawing/2018/hyperlinkcolor" xmlns="" val="tx"/>
                  </a:ext>
                </a:extLst>
              </a:hlinkClick>
            </a:endParaRPr>
          </a:p>
        </p:txBody>
      </p:sp>
      <p:pic>
        <p:nvPicPr>
          <p:cNvPr id="5" name="Imagen 4" descr="วิธีการใช้งาน Postman">
            <a:extLst>
              <a:ext uri="{FF2B5EF4-FFF2-40B4-BE49-F238E27FC236}">
                <a16:creationId xmlns:a16="http://schemas.microsoft.com/office/drawing/2014/main" id="{BB89D036-7A85-E648-4110-37CF392A35E9}"/>
              </a:ext>
            </a:extLst>
          </p:cNvPr>
          <p:cNvPicPr>
            <a:picLocks noChangeAspect="1"/>
          </p:cNvPicPr>
          <p:nvPr/>
        </p:nvPicPr>
        <p:blipFill rotWithShape="1">
          <a:blip r:embed="rId5"/>
          <a:srcRect t="23497" b="20765"/>
          <a:stretch/>
        </p:blipFill>
        <p:spPr>
          <a:xfrm>
            <a:off x="1710171" y="3112027"/>
            <a:ext cx="3974137" cy="1303015"/>
          </a:xfrm>
          <a:prstGeom prst="rect">
            <a:avLst/>
          </a:prstGeom>
          <a:ln>
            <a:solidFill>
              <a:schemeClr val="bg1"/>
            </a:solidFill>
          </a:ln>
        </p:spPr>
      </p:pic>
      <p:pic>
        <p:nvPicPr>
          <p:cNvPr id="6" name="Imagen 5" descr="Interfaz de usuario gráfica, Aplicación&#10;&#10;Descripción generada automáticamente">
            <a:extLst>
              <a:ext uri="{FF2B5EF4-FFF2-40B4-BE49-F238E27FC236}">
                <a16:creationId xmlns:a16="http://schemas.microsoft.com/office/drawing/2014/main" id="{3253E4A0-0CFB-25CF-9DED-4676948A13C0}"/>
              </a:ext>
            </a:extLst>
          </p:cNvPr>
          <p:cNvPicPr>
            <a:picLocks noChangeAspect="1"/>
          </p:cNvPicPr>
          <p:nvPr/>
        </p:nvPicPr>
        <p:blipFill>
          <a:blip r:embed="rId6"/>
          <a:stretch>
            <a:fillRect/>
          </a:stretch>
        </p:blipFill>
        <p:spPr>
          <a:xfrm>
            <a:off x="7113409" y="1226949"/>
            <a:ext cx="4771520" cy="3771255"/>
          </a:xfrm>
          <a:prstGeom prst="rect">
            <a:avLst/>
          </a:prstGeom>
          <a:ln>
            <a:solidFill>
              <a:schemeClr val="bg1"/>
            </a:solidFill>
          </a:ln>
        </p:spPr>
      </p:pic>
      <p:sp>
        <p:nvSpPr>
          <p:cNvPr id="3" name="Rectángulo: esquinas redondeadas 2">
            <a:extLst>
              <a:ext uri="{FF2B5EF4-FFF2-40B4-BE49-F238E27FC236}">
                <a16:creationId xmlns:a16="http://schemas.microsoft.com/office/drawing/2014/main" id="{B0BF4DF2-19ED-80F8-F09D-90CDCAD83D92}"/>
              </a:ext>
            </a:extLst>
          </p:cNvPr>
          <p:cNvSpPr/>
          <p:nvPr/>
        </p:nvSpPr>
        <p:spPr>
          <a:xfrm>
            <a:off x="2095953" y="5369789"/>
            <a:ext cx="2573308" cy="388363"/>
          </a:xfrm>
          <a:prstGeom prst="roundRect">
            <a:avLst/>
          </a:prstGeom>
        </p:spPr>
        <p:style>
          <a:lnRef idx="2">
            <a:schemeClr val="accent6"/>
          </a:lnRef>
          <a:fillRef idx="1">
            <a:schemeClr val="lt1"/>
          </a:fillRef>
          <a:effectRef idx="0">
            <a:schemeClr val="accent6"/>
          </a:effectRef>
          <a:fontRef idx="minor">
            <a:schemeClr val="dk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r>
              <a:rPr lang="es-ES" sz="2400" b="1" dirty="0">
                <a:solidFill>
                  <a:schemeClr val="tx1"/>
                </a:solidFill>
              </a:rPr>
              <a:t>Ver presentación </a:t>
            </a:r>
            <a:r>
              <a:rPr lang="es-ES" sz="2400" b="1" dirty="0" err="1">
                <a:solidFill>
                  <a:schemeClr val="tx1"/>
                </a:solidFill>
              </a:rPr>
              <a:t>rPruebas</a:t>
            </a:r>
          </a:p>
        </p:txBody>
      </p:sp>
    </p:spTree>
    <p:extLst>
      <p:ext uri="{BB962C8B-B14F-4D97-AF65-F5344CB8AC3E}">
        <p14:creationId xmlns:p14="http://schemas.microsoft.com/office/powerpoint/2010/main" val="33006427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9CB314-CE82-65BE-C60F-1EA15F855AB8}"/>
              </a:ext>
            </a:extLst>
          </p:cNvPr>
          <p:cNvSpPr>
            <a:spLocks noGrp="1"/>
          </p:cNvSpPr>
          <p:nvPr>
            <p:ph type="title"/>
          </p:nvPr>
        </p:nvSpPr>
        <p:spPr>
          <a:xfrm>
            <a:off x="7978391" y="2772813"/>
            <a:ext cx="3848519" cy="1627331"/>
          </a:xfrm>
        </p:spPr>
        <p:txBody>
          <a:bodyPr/>
          <a:lstStyle/>
          <a:p>
            <a:r>
              <a:rPr lang="es-CL" dirty="0"/>
              <a:t>Sintaxis Básica de Spring </a:t>
            </a:r>
            <a:r>
              <a:rPr lang="es-CL" dirty="0" err="1"/>
              <a:t>Boot</a:t>
            </a:r>
            <a:endParaRPr lang="es-CL" dirty="0"/>
          </a:p>
        </p:txBody>
      </p:sp>
    </p:spTree>
    <p:extLst>
      <p:ext uri="{BB962C8B-B14F-4D97-AF65-F5344CB8AC3E}">
        <p14:creationId xmlns:p14="http://schemas.microsoft.com/office/powerpoint/2010/main" val="26405076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6162804" cy="469685"/>
          </a:xfrm>
        </p:spPr>
        <p:txBody>
          <a:bodyPr vert="horz" lIns="91440" tIns="45720" rIns="91440" bIns="45720" rtlCol="0" anchor="t">
            <a:noAutofit/>
          </a:bodyPr>
          <a:lstStyle/>
          <a:p>
            <a:pPr marL="227965" indent="-227965"/>
            <a:r>
              <a:rPr lang="es-CL" dirty="0">
                <a:latin typeface="Arial"/>
                <a:cs typeface="Arial"/>
              </a:rPr>
              <a:t>Variables y Funciones</a:t>
            </a:r>
            <a:endParaRPr lang="es-ES" dirty="0"/>
          </a:p>
        </p:txBody>
      </p:sp>
      <p:sp>
        <p:nvSpPr>
          <p:cNvPr id="26" name="Rectángulo: esquinas redondeadas 25">
            <a:extLst>
              <a:ext uri="{FF2B5EF4-FFF2-40B4-BE49-F238E27FC236}">
                <a16:creationId xmlns:a16="http://schemas.microsoft.com/office/drawing/2014/main" id="{46BBD712-8C9E-CDE8-5F24-6235699D2C25}"/>
              </a:ext>
            </a:extLst>
          </p:cNvPr>
          <p:cNvSpPr/>
          <p:nvPr/>
        </p:nvSpPr>
        <p:spPr>
          <a:xfrm>
            <a:off x="4833405" y="1594522"/>
            <a:ext cx="6502245" cy="1713584"/>
          </a:xfrm>
          <a:prstGeom prst="roundRect">
            <a:avLst/>
          </a:prstGeom>
          <a:solidFill>
            <a:srgbClr val="BB0034"/>
          </a:solidFill>
          <a:ln>
            <a:solidFill>
              <a:schemeClr val="tx1">
                <a:lumMod val="65000"/>
                <a:lumOff val="35000"/>
              </a:schemeClr>
            </a:solid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s-ES" dirty="0">
              <a:solidFill>
                <a:schemeClr val="bg1"/>
              </a:solidFill>
              <a:latin typeface="Montserrat"/>
              <a:ea typeface="+mn-lt"/>
              <a:cs typeface="+mn-lt"/>
            </a:endParaRPr>
          </a:p>
        </p:txBody>
      </p:sp>
      <p:sp>
        <p:nvSpPr>
          <p:cNvPr id="28" name="Rectángulo: esquinas redondeadas 27">
            <a:extLst>
              <a:ext uri="{FF2B5EF4-FFF2-40B4-BE49-F238E27FC236}">
                <a16:creationId xmlns:a16="http://schemas.microsoft.com/office/drawing/2014/main" id="{0487D4D3-A30F-134A-51A9-7233D89A6BB1}"/>
              </a:ext>
            </a:extLst>
          </p:cNvPr>
          <p:cNvSpPr/>
          <p:nvPr/>
        </p:nvSpPr>
        <p:spPr>
          <a:xfrm>
            <a:off x="780302" y="1594521"/>
            <a:ext cx="3681631" cy="1713583"/>
          </a:xfrm>
          <a:prstGeom prst="roundRect">
            <a:avLst/>
          </a:prstGeom>
          <a:solidFill>
            <a:srgbClr val="00B050"/>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s-ES" dirty="0">
              <a:latin typeface="Montserrat"/>
              <a:ea typeface="+mn-lt"/>
              <a:cs typeface="+mn-lt"/>
            </a:endParaRPr>
          </a:p>
        </p:txBody>
      </p:sp>
      <p:sp>
        <p:nvSpPr>
          <p:cNvPr id="32" name="Object 3">
            <a:extLst>
              <a:ext uri="{FF2B5EF4-FFF2-40B4-BE49-F238E27FC236}">
                <a16:creationId xmlns:a16="http://schemas.microsoft.com/office/drawing/2014/main" id="{5622300B-F833-AFA3-846D-2DB7855AC961}"/>
              </a:ext>
            </a:extLst>
          </p:cNvPr>
          <p:cNvSpPr/>
          <p:nvPr/>
        </p:nvSpPr>
        <p:spPr>
          <a:xfrm>
            <a:off x="785150" y="1311046"/>
            <a:ext cx="3676783" cy="257341"/>
          </a:xfrm>
          <a:prstGeom prst="rect">
            <a:avLst/>
          </a:prstGeom>
          <a:noFill/>
        </p:spPr>
        <p:txBody>
          <a:bodyPr wrap="square" lIns="0" tIns="0" rIns="0" bIns="0" rtlCol="0" anchor="t"/>
          <a:lstStyle/>
          <a:p>
            <a:pPr algn="ctr">
              <a:lnSpc>
                <a:spcPts val="1814"/>
              </a:lnSpc>
            </a:pPr>
            <a:r>
              <a:rPr lang="es-CL" b="1" dirty="0">
                <a:latin typeface="Arial"/>
                <a:cs typeface="Arial"/>
              </a:rPr>
              <a:t>Python</a:t>
            </a:r>
          </a:p>
        </p:txBody>
      </p:sp>
      <p:sp>
        <p:nvSpPr>
          <p:cNvPr id="34" name="Object 3">
            <a:extLst>
              <a:ext uri="{FF2B5EF4-FFF2-40B4-BE49-F238E27FC236}">
                <a16:creationId xmlns:a16="http://schemas.microsoft.com/office/drawing/2014/main" id="{403BBEFE-47E1-EE7F-7031-CE909FDC7FD2}"/>
              </a:ext>
            </a:extLst>
          </p:cNvPr>
          <p:cNvSpPr/>
          <p:nvPr/>
        </p:nvSpPr>
        <p:spPr>
          <a:xfrm>
            <a:off x="4833254" y="1272766"/>
            <a:ext cx="6502245" cy="257343"/>
          </a:xfrm>
          <a:prstGeom prst="rect">
            <a:avLst/>
          </a:prstGeom>
          <a:noFill/>
        </p:spPr>
        <p:txBody>
          <a:bodyPr wrap="square" lIns="0" tIns="0" rIns="0" bIns="0" rtlCol="0" anchor="t"/>
          <a:lstStyle/>
          <a:p>
            <a:pPr algn="ctr">
              <a:lnSpc>
                <a:spcPts val="1814"/>
              </a:lnSpc>
            </a:pPr>
            <a:r>
              <a:rPr lang="es-CL" b="1" dirty="0">
                <a:latin typeface="Arial"/>
                <a:cs typeface="Arial"/>
              </a:rPr>
              <a:t>Java</a:t>
            </a:r>
          </a:p>
        </p:txBody>
      </p:sp>
      <p:sp>
        <p:nvSpPr>
          <p:cNvPr id="37" name="Object 3">
            <a:extLst>
              <a:ext uri="{FF2B5EF4-FFF2-40B4-BE49-F238E27FC236}">
                <a16:creationId xmlns:a16="http://schemas.microsoft.com/office/drawing/2014/main" id="{770BFB7F-50E5-F7EC-1E6A-92C4AD254665}"/>
              </a:ext>
            </a:extLst>
          </p:cNvPr>
          <p:cNvSpPr/>
          <p:nvPr/>
        </p:nvSpPr>
        <p:spPr>
          <a:xfrm>
            <a:off x="780302" y="3549895"/>
            <a:ext cx="5401580" cy="288657"/>
          </a:xfrm>
          <a:prstGeom prst="rect">
            <a:avLst/>
          </a:prstGeom>
          <a:noFill/>
        </p:spPr>
        <p:txBody>
          <a:bodyPr wrap="square" lIns="0" tIns="0" rIns="0" bIns="0" rtlCol="0" anchor="t"/>
          <a:lstStyle/>
          <a:p>
            <a:pPr algn="ctr">
              <a:lnSpc>
                <a:spcPts val="1814"/>
              </a:lnSpc>
            </a:pPr>
            <a:r>
              <a:rPr lang="es-CL" b="1" dirty="0">
                <a:latin typeface="Arial"/>
                <a:ea typeface="+mn-lt"/>
                <a:cs typeface="+mn-lt"/>
              </a:rPr>
              <a:t>Spring </a:t>
            </a:r>
            <a:r>
              <a:rPr lang="es-CL" b="1" dirty="0" err="1">
                <a:latin typeface="Arial"/>
                <a:ea typeface="+mn-lt"/>
                <a:cs typeface="+mn-lt"/>
              </a:rPr>
              <a:t>Boot</a:t>
            </a:r>
            <a:endParaRPr lang="es-ES" b="1" dirty="0">
              <a:latin typeface="Arial"/>
            </a:endParaRPr>
          </a:p>
        </p:txBody>
      </p:sp>
      <p:sp>
        <p:nvSpPr>
          <p:cNvPr id="38" name="Rectángulo: esquinas redondeadas 37">
            <a:extLst>
              <a:ext uri="{FF2B5EF4-FFF2-40B4-BE49-F238E27FC236}">
                <a16:creationId xmlns:a16="http://schemas.microsoft.com/office/drawing/2014/main" id="{A4A52E3B-A24F-4ADD-26E0-358531A516DD}"/>
              </a:ext>
            </a:extLst>
          </p:cNvPr>
          <p:cNvSpPr/>
          <p:nvPr/>
        </p:nvSpPr>
        <p:spPr>
          <a:xfrm>
            <a:off x="780303" y="3824629"/>
            <a:ext cx="5401580" cy="2272983"/>
          </a:xfrm>
          <a:prstGeom prst="roundRect">
            <a:avLst/>
          </a:prstGeom>
          <a:solidFill>
            <a:srgbClr val="4E7CDD"/>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s-ES" dirty="0">
              <a:latin typeface="Montserrat"/>
            </a:endParaRPr>
          </a:p>
        </p:txBody>
      </p:sp>
      <p:pic>
        <p:nvPicPr>
          <p:cNvPr id="6" name="Imagen 5">
            <a:extLst>
              <a:ext uri="{FF2B5EF4-FFF2-40B4-BE49-F238E27FC236}">
                <a16:creationId xmlns:a16="http://schemas.microsoft.com/office/drawing/2014/main" id="{25A74E1B-A2E2-4270-A9C9-97D4D0DFD13E}"/>
              </a:ext>
            </a:extLst>
          </p:cNvPr>
          <p:cNvPicPr>
            <a:picLocks noChangeAspect="1"/>
          </p:cNvPicPr>
          <p:nvPr/>
        </p:nvPicPr>
        <p:blipFill>
          <a:blip r:embed="rId3"/>
          <a:stretch>
            <a:fillRect/>
          </a:stretch>
        </p:blipFill>
        <p:spPr>
          <a:xfrm>
            <a:off x="1158825" y="1822573"/>
            <a:ext cx="2924583" cy="1257475"/>
          </a:xfrm>
          <a:prstGeom prst="rect">
            <a:avLst/>
          </a:prstGeom>
        </p:spPr>
      </p:pic>
      <p:pic>
        <p:nvPicPr>
          <p:cNvPr id="8" name="Imagen 7">
            <a:extLst>
              <a:ext uri="{FF2B5EF4-FFF2-40B4-BE49-F238E27FC236}">
                <a16:creationId xmlns:a16="http://schemas.microsoft.com/office/drawing/2014/main" id="{4D4E136C-EAAC-4789-B958-5F2F6FECAD69}"/>
              </a:ext>
            </a:extLst>
          </p:cNvPr>
          <p:cNvPicPr>
            <a:picLocks noChangeAspect="1"/>
          </p:cNvPicPr>
          <p:nvPr/>
        </p:nvPicPr>
        <p:blipFill>
          <a:blip r:embed="rId4"/>
          <a:stretch>
            <a:fillRect/>
          </a:stretch>
        </p:blipFill>
        <p:spPr>
          <a:xfrm>
            <a:off x="5426681" y="1708258"/>
            <a:ext cx="5315692" cy="1486107"/>
          </a:xfrm>
          <a:prstGeom prst="rect">
            <a:avLst/>
          </a:prstGeom>
        </p:spPr>
      </p:pic>
      <p:pic>
        <p:nvPicPr>
          <p:cNvPr id="10" name="Imagen 9">
            <a:extLst>
              <a:ext uri="{FF2B5EF4-FFF2-40B4-BE49-F238E27FC236}">
                <a16:creationId xmlns:a16="http://schemas.microsoft.com/office/drawing/2014/main" id="{3E7502B0-4EF9-4B56-887F-DF552392FBE2}"/>
              </a:ext>
            </a:extLst>
          </p:cNvPr>
          <p:cNvPicPr>
            <a:picLocks noChangeAspect="1"/>
          </p:cNvPicPr>
          <p:nvPr/>
        </p:nvPicPr>
        <p:blipFill>
          <a:blip r:embed="rId5"/>
          <a:stretch>
            <a:fillRect/>
          </a:stretch>
        </p:blipFill>
        <p:spPr>
          <a:xfrm>
            <a:off x="1106994" y="4018897"/>
            <a:ext cx="4782217" cy="1895740"/>
          </a:xfrm>
          <a:prstGeom prst="rect">
            <a:avLst/>
          </a:prstGeom>
        </p:spPr>
      </p:pic>
      <p:sp>
        <p:nvSpPr>
          <p:cNvPr id="17" name="Rectangle 1">
            <a:extLst>
              <a:ext uri="{FF2B5EF4-FFF2-40B4-BE49-F238E27FC236}">
                <a16:creationId xmlns:a16="http://schemas.microsoft.com/office/drawing/2014/main" id="{3B3B0155-AFFF-409B-B084-47C4C44EABD1}"/>
              </a:ext>
            </a:extLst>
          </p:cNvPr>
          <p:cNvSpPr txBox="1">
            <a:spLocks noChangeArrowheads="1"/>
          </p:cNvSpPr>
          <p:nvPr/>
        </p:nvSpPr>
        <p:spPr bwMode="auto">
          <a:xfrm>
            <a:off x="6333219" y="4117252"/>
            <a:ext cx="5078477" cy="1703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defPPr>
              <a:defRPr lang="es-CL"/>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just" defTabSz="914400">
              <a:lnSpc>
                <a:spcPct val="150000"/>
              </a:lnSpc>
            </a:pPr>
            <a:r>
              <a:rPr lang="es-ES" b="1" dirty="0">
                <a:solidFill>
                  <a:srgbClr val="0070C0"/>
                </a:solidFill>
                <a:latin typeface="Arial"/>
                <a:ea typeface="+mn-lt"/>
                <a:cs typeface="+mn-lt"/>
              </a:rPr>
              <a:t>Diferencia clave: </a:t>
            </a:r>
            <a:r>
              <a:rPr lang="es-ES" dirty="0">
                <a:latin typeface="Arial"/>
                <a:ea typeface="+mn-lt"/>
                <a:cs typeface="+mn-lt"/>
              </a:rPr>
              <a:t>en Spring </a:t>
            </a:r>
            <a:r>
              <a:rPr lang="es-ES" dirty="0" err="1">
                <a:latin typeface="Arial"/>
                <a:ea typeface="+mn-lt"/>
                <a:cs typeface="+mn-lt"/>
              </a:rPr>
              <a:t>Boot</a:t>
            </a:r>
            <a:r>
              <a:rPr lang="es-ES" dirty="0">
                <a:latin typeface="Arial"/>
                <a:ea typeface="+mn-lt"/>
                <a:cs typeface="+mn-lt"/>
              </a:rPr>
              <a:t> tu función vive en un controlador y se expone por HTTP con </a:t>
            </a:r>
            <a:r>
              <a:rPr lang="es-ES" b="1" dirty="0">
                <a:latin typeface="Arial"/>
                <a:ea typeface="+mn-lt"/>
                <a:cs typeface="+mn-lt"/>
              </a:rPr>
              <a:t>@GetMapping </a:t>
            </a:r>
          </a:p>
          <a:p>
            <a:pPr algn="just" defTabSz="914400">
              <a:lnSpc>
                <a:spcPct val="150000"/>
              </a:lnSpc>
            </a:pPr>
            <a:r>
              <a:rPr lang="es-ES" dirty="0">
                <a:latin typeface="Arial"/>
                <a:ea typeface="+mn-lt"/>
                <a:cs typeface="+mn-lt"/>
              </a:rPr>
              <a:t>(atajo de @RequestMapping(method=GET))</a:t>
            </a:r>
            <a:endParaRPr lang="es-ES" dirty="0">
              <a:latin typeface="Arial"/>
              <a:ea typeface="+mn-lt"/>
              <a:cs typeface="Arial"/>
            </a:endParaRPr>
          </a:p>
        </p:txBody>
      </p:sp>
    </p:spTree>
    <p:extLst>
      <p:ext uri="{BB962C8B-B14F-4D97-AF65-F5344CB8AC3E}">
        <p14:creationId xmlns:p14="http://schemas.microsoft.com/office/powerpoint/2010/main" val="4143555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79F3AAA-7882-FEFA-02FB-56281C060891}"/>
              </a:ext>
            </a:extLst>
          </p:cNvPr>
          <p:cNvSpPr>
            <a:spLocks noGrp="1"/>
          </p:cNvSpPr>
          <p:nvPr>
            <p:ph type="body" sz="quarter" idx="13"/>
          </p:nvPr>
        </p:nvSpPr>
        <p:spPr>
          <a:xfrm>
            <a:off x="3251201" y="405838"/>
            <a:ext cx="8176428" cy="469685"/>
          </a:xfrm>
        </p:spPr>
        <p:txBody>
          <a:bodyPr/>
          <a:lstStyle/>
          <a:p>
            <a:r>
              <a:rPr lang="es-ES" dirty="0"/>
              <a:t>¿Qué son las @anotaciones en Spring?</a:t>
            </a:r>
          </a:p>
        </p:txBody>
      </p:sp>
      <p:sp>
        <p:nvSpPr>
          <p:cNvPr id="5" name="Rectangle 1">
            <a:extLst>
              <a:ext uri="{FF2B5EF4-FFF2-40B4-BE49-F238E27FC236}">
                <a16:creationId xmlns:a16="http://schemas.microsoft.com/office/drawing/2014/main" id="{4CE70BBE-FCB0-9DC6-DAF9-1F55F4CFB623}"/>
              </a:ext>
            </a:extLst>
          </p:cNvPr>
          <p:cNvSpPr txBox="1">
            <a:spLocks noChangeArrowheads="1"/>
          </p:cNvSpPr>
          <p:nvPr/>
        </p:nvSpPr>
        <p:spPr bwMode="auto">
          <a:xfrm>
            <a:off x="1419508" y="1129053"/>
            <a:ext cx="9816473"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defTabSz="914400">
              <a:lnSpc>
                <a:spcPct val="150000"/>
              </a:lnSpc>
              <a:spcBef>
                <a:spcPct val="0"/>
              </a:spcBef>
              <a:spcAft>
                <a:spcPct val="0"/>
              </a:spcAft>
              <a:buNone/>
            </a:pPr>
            <a:r>
              <a:rPr lang="es-ES" sz="1800" i="1" dirty="0">
                <a:latin typeface="Arial"/>
                <a:cs typeface="Arial"/>
              </a:rPr>
              <a:t>"En Spring </a:t>
            </a:r>
            <a:r>
              <a:rPr lang="es-ES" sz="1800" i="1" dirty="0" err="1">
                <a:latin typeface="Arial"/>
                <a:cs typeface="Arial"/>
              </a:rPr>
              <a:t>Boot</a:t>
            </a:r>
            <a:r>
              <a:rPr lang="es-ES" sz="1800" i="1" dirty="0">
                <a:latin typeface="Arial"/>
                <a:cs typeface="Arial"/>
              </a:rPr>
              <a:t> tenemos algo llamado </a:t>
            </a:r>
            <a:r>
              <a:rPr lang="es-ES" sz="1800" b="1" i="1" dirty="0">
                <a:solidFill>
                  <a:srgbClr val="4E7CDD"/>
                </a:solidFill>
                <a:latin typeface="Arial"/>
                <a:cs typeface="Arial"/>
              </a:rPr>
              <a:t>anotaciones </a:t>
            </a:r>
            <a:r>
              <a:rPr lang="es-ES" sz="1800" i="1" dirty="0">
                <a:latin typeface="Arial"/>
                <a:cs typeface="Arial"/>
              </a:rPr>
              <a:t>y su característica principal es usar el </a:t>
            </a:r>
            <a:r>
              <a:rPr lang="es-ES" sz="1800" i="1" dirty="0" err="1">
                <a:latin typeface="Arial"/>
                <a:cs typeface="Arial"/>
              </a:rPr>
              <a:t>simbolo</a:t>
            </a:r>
            <a:r>
              <a:rPr lang="es-ES" sz="1800" i="1" dirty="0">
                <a:latin typeface="Arial"/>
                <a:cs typeface="Arial"/>
              </a:rPr>
              <a:t> </a:t>
            </a:r>
            <a:r>
              <a:rPr lang="es-ES" sz="1800" b="1" i="1" dirty="0">
                <a:solidFill>
                  <a:srgbClr val="4E7CDD"/>
                </a:solidFill>
                <a:latin typeface="Arial"/>
                <a:cs typeface="Arial"/>
              </a:rPr>
              <a:t>"@"</a:t>
            </a:r>
            <a:r>
              <a:rPr lang="es-ES" sz="1800" i="1" dirty="0">
                <a:latin typeface="Arial"/>
                <a:cs typeface="Arial"/>
              </a:rPr>
              <a:t> al frente de estas palabras claves. </a:t>
            </a:r>
            <a:r>
              <a:rPr lang="es-ES" sz="1800" i="1" dirty="0">
                <a:solidFill>
                  <a:srgbClr val="000000"/>
                </a:solidFill>
                <a:latin typeface="Arial"/>
                <a:cs typeface="Arial"/>
              </a:rPr>
              <a:t>Las anotaciones realizan ciertos procesos internos que a su vez Spring </a:t>
            </a:r>
            <a:r>
              <a:rPr lang="es-ES" sz="1800" i="1" dirty="0" err="1">
                <a:solidFill>
                  <a:srgbClr val="000000"/>
                </a:solidFill>
                <a:latin typeface="Arial"/>
                <a:cs typeface="Arial"/>
              </a:rPr>
              <a:t>Boot</a:t>
            </a:r>
            <a:r>
              <a:rPr lang="es-ES" sz="1800" i="1" dirty="0">
                <a:solidFill>
                  <a:srgbClr val="000000"/>
                </a:solidFill>
                <a:latin typeface="Arial"/>
                <a:cs typeface="Arial"/>
              </a:rPr>
              <a:t> detecta y con uso ya sabe qué tipo </a:t>
            </a:r>
            <a:r>
              <a:rPr lang="es-ES" sz="1800" i="1" dirty="0">
                <a:latin typeface="Arial"/>
                <a:cs typeface="Arial"/>
              </a:rPr>
              <a:t>de clase es. Si estas anotaciones no existieran entonces nosotros como </a:t>
            </a:r>
            <a:r>
              <a:rPr lang="es-ES" sz="1800" b="1" i="1" dirty="0" err="1">
                <a:solidFill>
                  <a:srgbClr val="4E7CDD"/>
                </a:solidFill>
                <a:latin typeface="Arial"/>
                <a:cs typeface="Arial"/>
              </a:rPr>
              <a:t>developers</a:t>
            </a:r>
            <a:r>
              <a:rPr lang="es-ES" sz="1800" b="1" i="1" dirty="0">
                <a:solidFill>
                  <a:srgbClr val="4E7CDD"/>
                </a:solidFill>
                <a:latin typeface="Arial"/>
                <a:cs typeface="Arial"/>
              </a:rPr>
              <a:t> </a:t>
            </a:r>
            <a:r>
              <a:rPr lang="es-ES" sz="1800" i="1" dirty="0">
                <a:latin typeface="Arial"/>
                <a:cs typeface="Arial"/>
              </a:rPr>
              <a:t>tendríamos que especificar qué tipo de clase es, siendo esto mucho más complicado..." </a:t>
            </a:r>
          </a:p>
          <a:p>
            <a:pPr marL="0" indent="0" algn="r" defTabSz="914400">
              <a:lnSpc>
                <a:spcPct val="150000"/>
              </a:lnSpc>
              <a:spcBef>
                <a:spcPct val="0"/>
              </a:spcBef>
              <a:spcAft>
                <a:spcPct val="0"/>
              </a:spcAft>
              <a:buNone/>
            </a:pPr>
            <a:endParaRPr lang="es-ES" sz="1800" i="1" dirty="0"/>
          </a:p>
        </p:txBody>
      </p:sp>
    </p:spTree>
    <p:extLst>
      <p:ext uri="{BB962C8B-B14F-4D97-AF65-F5344CB8AC3E}">
        <p14:creationId xmlns:p14="http://schemas.microsoft.com/office/powerpoint/2010/main" val="38422670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6162804" cy="469685"/>
          </a:xfrm>
        </p:spPr>
        <p:txBody>
          <a:bodyPr vert="horz" lIns="91440" tIns="45720" rIns="91440" bIns="45720" rtlCol="0" anchor="t">
            <a:noAutofit/>
          </a:bodyPr>
          <a:lstStyle/>
          <a:p>
            <a:pPr marL="227965" indent="-227965"/>
            <a:r>
              <a:rPr lang="es-ES" dirty="0">
                <a:latin typeface="Arial"/>
                <a:cs typeface="Arial"/>
              </a:rPr>
              <a:t>E</a:t>
            </a:r>
            <a:r>
              <a:rPr lang="es-CL" dirty="0" err="1">
                <a:latin typeface="Arial"/>
                <a:cs typeface="Arial"/>
              </a:rPr>
              <a:t>structuras</a:t>
            </a:r>
            <a:r>
              <a:rPr lang="es-CL" dirty="0">
                <a:latin typeface="Arial"/>
                <a:cs typeface="Arial"/>
              </a:rPr>
              <a:t> de Control</a:t>
            </a:r>
            <a:endParaRPr lang="es-ES" dirty="0"/>
          </a:p>
        </p:txBody>
      </p:sp>
      <p:sp>
        <p:nvSpPr>
          <p:cNvPr id="26" name="Rectángulo: esquinas redondeadas 25">
            <a:extLst>
              <a:ext uri="{FF2B5EF4-FFF2-40B4-BE49-F238E27FC236}">
                <a16:creationId xmlns:a16="http://schemas.microsoft.com/office/drawing/2014/main" id="{46BBD712-8C9E-CDE8-5F24-6235699D2C25}"/>
              </a:ext>
            </a:extLst>
          </p:cNvPr>
          <p:cNvSpPr/>
          <p:nvPr/>
        </p:nvSpPr>
        <p:spPr>
          <a:xfrm>
            <a:off x="6002866" y="1594521"/>
            <a:ext cx="4064001" cy="4501617"/>
          </a:xfrm>
          <a:prstGeom prst="roundRect">
            <a:avLst/>
          </a:prstGeom>
          <a:solidFill>
            <a:srgbClr val="BB0034"/>
          </a:solidFill>
          <a:ln>
            <a:solidFill>
              <a:schemeClr val="tx1">
                <a:lumMod val="65000"/>
                <a:lumOff val="35000"/>
              </a:schemeClr>
            </a:solid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s-ES" dirty="0">
              <a:solidFill>
                <a:schemeClr val="bg1"/>
              </a:solidFill>
              <a:latin typeface="Montserrat"/>
              <a:ea typeface="+mn-lt"/>
              <a:cs typeface="+mn-lt"/>
            </a:endParaRPr>
          </a:p>
        </p:txBody>
      </p:sp>
      <p:sp>
        <p:nvSpPr>
          <p:cNvPr id="28" name="Rectángulo: esquinas redondeadas 27">
            <a:extLst>
              <a:ext uri="{FF2B5EF4-FFF2-40B4-BE49-F238E27FC236}">
                <a16:creationId xmlns:a16="http://schemas.microsoft.com/office/drawing/2014/main" id="{0487D4D3-A30F-134A-51A9-7233D89A6BB1}"/>
              </a:ext>
            </a:extLst>
          </p:cNvPr>
          <p:cNvSpPr/>
          <p:nvPr/>
        </p:nvSpPr>
        <p:spPr>
          <a:xfrm>
            <a:off x="780302" y="1594521"/>
            <a:ext cx="3681631" cy="4501618"/>
          </a:xfrm>
          <a:prstGeom prst="roundRect">
            <a:avLst/>
          </a:prstGeom>
          <a:solidFill>
            <a:srgbClr val="00B050"/>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s-ES" dirty="0">
              <a:latin typeface="Montserrat"/>
              <a:ea typeface="+mn-lt"/>
              <a:cs typeface="+mn-lt"/>
            </a:endParaRPr>
          </a:p>
        </p:txBody>
      </p:sp>
      <p:sp>
        <p:nvSpPr>
          <p:cNvPr id="32" name="Object 3">
            <a:extLst>
              <a:ext uri="{FF2B5EF4-FFF2-40B4-BE49-F238E27FC236}">
                <a16:creationId xmlns:a16="http://schemas.microsoft.com/office/drawing/2014/main" id="{5622300B-F833-AFA3-846D-2DB7855AC961}"/>
              </a:ext>
            </a:extLst>
          </p:cNvPr>
          <p:cNvSpPr/>
          <p:nvPr/>
        </p:nvSpPr>
        <p:spPr>
          <a:xfrm>
            <a:off x="785150" y="1311046"/>
            <a:ext cx="3676783" cy="257341"/>
          </a:xfrm>
          <a:prstGeom prst="rect">
            <a:avLst/>
          </a:prstGeom>
          <a:noFill/>
        </p:spPr>
        <p:txBody>
          <a:bodyPr wrap="square" lIns="0" tIns="0" rIns="0" bIns="0" rtlCol="0" anchor="t"/>
          <a:lstStyle/>
          <a:p>
            <a:pPr algn="ctr">
              <a:lnSpc>
                <a:spcPts val="1814"/>
              </a:lnSpc>
            </a:pPr>
            <a:r>
              <a:rPr lang="es-CL" b="1" dirty="0">
                <a:latin typeface="Arial"/>
                <a:cs typeface="Arial"/>
              </a:rPr>
              <a:t>Python</a:t>
            </a:r>
          </a:p>
        </p:txBody>
      </p:sp>
      <p:sp>
        <p:nvSpPr>
          <p:cNvPr id="34" name="Object 3">
            <a:extLst>
              <a:ext uri="{FF2B5EF4-FFF2-40B4-BE49-F238E27FC236}">
                <a16:creationId xmlns:a16="http://schemas.microsoft.com/office/drawing/2014/main" id="{403BBEFE-47E1-EE7F-7031-CE909FDC7FD2}"/>
              </a:ext>
            </a:extLst>
          </p:cNvPr>
          <p:cNvSpPr/>
          <p:nvPr/>
        </p:nvSpPr>
        <p:spPr>
          <a:xfrm>
            <a:off x="4833254" y="1272766"/>
            <a:ext cx="6502245" cy="257343"/>
          </a:xfrm>
          <a:prstGeom prst="rect">
            <a:avLst/>
          </a:prstGeom>
          <a:noFill/>
        </p:spPr>
        <p:txBody>
          <a:bodyPr wrap="square" lIns="0" tIns="0" rIns="0" bIns="0" rtlCol="0" anchor="t"/>
          <a:lstStyle/>
          <a:p>
            <a:pPr algn="ctr">
              <a:lnSpc>
                <a:spcPts val="1814"/>
              </a:lnSpc>
            </a:pPr>
            <a:r>
              <a:rPr lang="es-CL" b="1" dirty="0">
                <a:latin typeface="Arial"/>
                <a:cs typeface="Arial"/>
              </a:rPr>
              <a:t>Java</a:t>
            </a:r>
          </a:p>
        </p:txBody>
      </p:sp>
      <p:pic>
        <p:nvPicPr>
          <p:cNvPr id="7" name="Imagen 6">
            <a:extLst>
              <a:ext uri="{FF2B5EF4-FFF2-40B4-BE49-F238E27FC236}">
                <a16:creationId xmlns:a16="http://schemas.microsoft.com/office/drawing/2014/main" id="{89E4802F-13FB-4FFA-8B8E-321F719ECDC7}"/>
              </a:ext>
            </a:extLst>
          </p:cNvPr>
          <p:cNvPicPr>
            <a:picLocks noChangeAspect="1"/>
          </p:cNvPicPr>
          <p:nvPr/>
        </p:nvPicPr>
        <p:blipFill>
          <a:blip r:embed="rId3"/>
          <a:stretch>
            <a:fillRect/>
          </a:stretch>
        </p:blipFill>
        <p:spPr>
          <a:xfrm>
            <a:off x="943581" y="1907620"/>
            <a:ext cx="3355072" cy="3875419"/>
          </a:xfrm>
          <a:prstGeom prst="rect">
            <a:avLst/>
          </a:prstGeom>
        </p:spPr>
      </p:pic>
      <p:pic>
        <p:nvPicPr>
          <p:cNvPr id="11" name="Imagen 10">
            <a:extLst>
              <a:ext uri="{FF2B5EF4-FFF2-40B4-BE49-F238E27FC236}">
                <a16:creationId xmlns:a16="http://schemas.microsoft.com/office/drawing/2014/main" id="{51FD42B2-CA92-4B51-878A-410FCF82B578}"/>
              </a:ext>
            </a:extLst>
          </p:cNvPr>
          <p:cNvPicPr>
            <a:picLocks noChangeAspect="1"/>
          </p:cNvPicPr>
          <p:nvPr/>
        </p:nvPicPr>
        <p:blipFill>
          <a:blip r:embed="rId4"/>
          <a:stretch>
            <a:fillRect/>
          </a:stretch>
        </p:blipFill>
        <p:spPr>
          <a:xfrm>
            <a:off x="6395469" y="1782149"/>
            <a:ext cx="3377814" cy="4131278"/>
          </a:xfrm>
          <a:prstGeom prst="rect">
            <a:avLst/>
          </a:prstGeom>
        </p:spPr>
      </p:pic>
    </p:spTree>
    <p:extLst>
      <p:ext uri="{BB962C8B-B14F-4D97-AF65-F5344CB8AC3E}">
        <p14:creationId xmlns:p14="http://schemas.microsoft.com/office/powerpoint/2010/main" val="30833426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6162804" cy="469685"/>
          </a:xfrm>
        </p:spPr>
        <p:txBody>
          <a:bodyPr vert="horz" lIns="91440" tIns="45720" rIns="91440" bIns="45720" rtlCol="0" anchor="t">
            <a:noAutofit/>
          </a:bodyPr>
          <a:lstStyle/>
          <a:p>
            <a:pPr marL="227965" indent="-227965"/>
            <a:r>
              <a:rPr lang="es-ES" dirty="0">
                <a:latin typeface="Arial"/>
                <a:cs typeface="Arial"/>
              </a:rPr>
              <a:t>E</a:t>
            </a:r>
            <a:r>
              <a:rPr lang="es-CL" dirty="0" err="1">
                <a:latin typeface="Arial"/>
                <a:cs typeface="Arial"/>
              </a:rPr>
              <a:t>structuras</a:t>
            </a:r>
            <a:r>
              <a:rPr lang="es-CL" dirty="0">
                <a:latin typeface="Arial"/>
                <a:cs typeface="Arial"/>
              </a:rPr>
              <a:t> de Control</a:t>
            </a:r>
            <a:endParaRPr lang="es-ES" dirty="0"/>
          </a:p>
        </p:txBody>
      </p:sp>
      <p:sp>
        <p:nvSpPr>
          <p:cNvPr id="37" name="Object 3">
            <a:extLst>
              <a:ext uri="{FF2B5EF4-FFF2-40B4-BE49-F238E27FC236}">
                <a16:creationId xmlns:a16="http://schemas.microsoft.com/office/drawing/2014/main" id="{770BFB7F-50E5-F7EC-1E6A-92C4AD254665}"/>
              </a:ext>
            </a:extLst>
          </p:cNvPr>
          <p:cNvSpPr/>
          <p:nvPr/>
        </p:nvSpPr>
        <p:spPr>
          <a:xfrm>
            <a:off x="257179" y="3537854"/>
            <a:ext cx="2655101" cy="288657"/>
          </a:xfrm>
          <a:prstGeom prst="rect">
            <a:avLst/>
          </a:prstGeom>
          <a:noFill/>
        </p:spPr>
        <p:txBody>
          <a:bodyPr wrap="square" lIns="0" tIns="0" rIns="0" bIns="0" rtlCol="0" anchor="t"/>
          <a:lstStyle/>
          <a:p>
            <a:pPr algn="ctr">
              <a:lnSpc>
                <a:spcPts val="1814"/>
              </a:lnSpc>
            </a:pPr>
            <a:r>
              <a:rPr lang="es-CL" b="1" dirty="0">
                <a:latin typeface="Arial"/>
                <a:ea typeface="+mn-lt"/>
                <a:cs typeface="+mn-lt"/>
              </a:rPr>
              <a:t>Spring </a:t>
            </a:r>
            <a:r>
              <a:rPr lang="es-CL" b="1" dirty="0" err="1">
                <a:latin typeface="Arial"/>
                <a:ea typeface="+mn-lt"/>
                <a:cs typeface="+mn-lt"/>
              </a:rPr>
              <a:t>Boot</a:t>
            </a:r>
            <a:endParaRPr lang="es-ES" b="1" dirty="0">
              <a:latin typeface="Arial"/>
            </a:endParaRPr>
          </a:p>
        </p:txBody>
      </p:sp>
      <p:sp>
        <p:nvSpPr>
          <p:cNvPr id="38" name="Rectángulo: esquinas redondeadas 37">
            <a:extLst>
              <a:ext uri="{FF2B5EF4-FFF2-40B4-BE49-F238E27FC236}">
                <a16:creationId xmlns:a16="http://schemas.microsoft.com/office/drawing/2014/main" id="{A4A52E3B-A24F-4ADD-26E0-358531A516DD}"/>
              </a:ext>
            </a:extLst>
          </p:cNvPr>
          <p:cNvSpPr/>
          <p:nvPr/>
        </p:nvSpPr>
        <p:spPr>
          <a:xfrm>
            <a:off x="3188421" y="1092199"/>
            <a:ext cx="5401580" cy="5376333"/>
          </a:xfrm>
          <a:prstGeom prst="roundRect">
            <a:avLst/>
          </a:prstGeom>
          <a:solidFill>
            <a:srgbClr val="4E7CDD"/>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s-ES" dirty="0">
              <a:latin typeface="Montserrat"/>
            </a:endParaRPr>
          </a:p>
        </p:txBody>
      </p:sp>
      <p:pic>
        <p:nvPicPr>
          <p:cNvPr id="5" name="Imagen 4">
            <a:extLst>
              <a:ext uri="{FF2B5EF4-FFF2-40B4-BE49-F238E27FC236}">
                <a16:creationId xmlns:a16="http://schemas.microsoft.com/office/drawing/2014/main" id="{44F6A744-DC44-467A-867B-45D15ADEEA73}"/>
              </a:ext>
            </a:extLst>
          </p:cNvPr>
          <p:cNvPicPr>
            <a:picLocks noChangeAspect="1"/>
          </p:cNvPicPr>
          <p:nvPr/>
        </p:nvPicPr>
        <p:blipFill>
          <a:blip r:embed="rId3"/>
          <a:stretch>
            <a:fillRect/>
          </a:stretch>
        </p:blipFill>
        <p:spPr>
          <a:xfrm>
            <a:off x="3581360" y="1430867"/>
            <a:ext cx="4732500" cy="4791289"/>
          </a:xfrm>
          <a:prstGeom prst="rect">
            <a:avLst/>
          </a:prstGeom>
        </p:spPr>
      </p:pic>
    </p:spTree>
    <p:extLst>
      <p:ext uri="{BB962C8B-B14F-4D97-AF65-F5344CB8AC3E}">
        <p14:creationId xmlns:p14="http://schemas.microsoft.com/office/powerpoint/2010/main" val="37674372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6162804" cy="469685"/>
          </a:xfrm>
        </p:spPr>
        <p:txBody>
          <a:bodyPr vert="horz" lIns="91440" tIns="45720" rIns="91440" bIns="45720" rtlCol="0" anchor="t">
            <a:noAutofit/>
          </a:bodyPr>
          <a:lstStyle/>
          <a:p>
            <a:pPr marL="227965" indent="-227965"/>
            <a:r>
              <a:rPr lang="es-ES" dirty="0">
                <a:latin typeface="Arial"/>
                <a:cs typeface="Arial"/>
              </a:rPr>
              <a:t>Ciclos</a:t>
            </a:r>
            <a:endParaRPr lang="es-ES" dirty="0"/>
          </a:p>
        </p:txBody>
      </p:sp>
      <p:sp>
        <p:nvSpPr>
          <p:cNvPr id="26" name="Rectángulo: esquinas redondeadas 25">
            <a:extLst>
              <a:ext uri="{FF2B5EF4-FFF2-40B4-BE49-F238E27FC236}">
                <a16:creationId xmlns:a16="http://schemas.microsoft.com/office/drawing/2014/main" id="{46BBD712-8C9E-CDE8-5F24-6235699D2C25}"/>
              </a:ext>
            </a:extLst>
          </p:cNvPr>
          <p:cNvSpPr/>
          <p:nvPr/>
        </p:nvSpPr>
        <p:spPr>
          <a:xfrm>
            <a:off x="5977467" y="1594522"/>
            <a:ext cx="5358183" cy="4603078"/>
          </a:xfrm>
          <a:prstGeom prst="roundRect">
            <a:avLst/>
          </a:prstGeom>
          <a:solidFill>
            <a:srgbClr val="BB0034"/>
          </a:solidFill>
          <a:ln>
            <a:solidFill>
              <a:schemeClr val="tx1">
                <a:lumMod val="65000"/>
                <a:lumOff val="35000"/>
              </a:schemeClr>
            </a:solidFill>
          </a:ln>
        </p:spPr>
        <p:style>
          <a:lnRef idx="0">
            <a:schemeClr val="accent6"/>
          </a:lnRef>
          <a:fillRef idx="3">
            <a:schemeClr val="accent6"/>
          </a:fillRef>
          <a:effectRef idx="3">
            <a:schemeClr val="accent6"/>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s-ES" dirty="0">
              <a:solidFill>
                <a:schemeClr val="bg1"/>
              </a:solidFill>
              <a:latin typeface="Montserrat"/>
              <a:ea typeface="+mn-lt"/>
              <a:cs typeface="+mn-lt"/>
            </a:endParaRPr>
          </a:p>
        </p:txBody>
      </p:sp>
      <p:sp>
        <p:nvSpPr>
          <p:cNvPr id="28" name="Rectángulo: esquinas redondeadas 27">
            <a:extLst>
              <a:ext uri="{FF2B5EF4-FFF2-40B4-BE49-F238E27FC236}">
                <a16:creationId xmlns:a16="http://schemas.microsoft.com/office/drawing/2014/main" id="{0487D4D3-A30F-134A-51A9-7233D89A6BB1}"/>
              </a:ext>
            </a:extLst>
          </p:cNvPr>
          <p:cNvSpPr/>
          <p:nvPr/>
        </p:nvSpPr>
        <p:spPr>
          <a:xfrm>
            <a:off x="780302" y="1594521"/>
            <a:ext cx="4350498" cy="4501479"/>
          </a:xfrm>
          <a:prstGeom prst="roundRect">
            <a:avLst/>
          </a:prstGeom>
          <a:solidFill>
            <a:srgbClr val="00B050"/>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s-ES" dirty="0">
              <a:latin typeface="Montserrat"/>
              <a:ea typeface="+mn-lt"/>
              <a:cs typeface="+mn-lt"/>
            </a:endParaRPr>
          </a:p>
        </p:txBody>
      </p:sp>
      <p:sp>
        <p:nvSpPr>
          <p:cNvPr id="32" name="Object 3">
            <a:extLst>
              <a:ext uri="{FF2B5EF4-FFF2-40B4-BE49-F238E27FC236}">
                <a16:creationId xmlns:a16="http://schemas.microsoft.com/office/drawing/2014/main" id="{5622300B-F833-AFA3-846D-2DB7855AC961}"/>
              </a:ext>
            </a:extLst>
          </p:cNvPr>
          <p:cNvSpPr/>
          <p:nvPr/>
        </p:nvSpPr>
        <p:spPr>
          <a:xfrm>
            <a:off x="785150" y="1311046"/>
            <a:ext cx="3676783" cy="257341"/>
          </a:xfrm>
          <a:prstGeom prst="rect">
            <a:avLst/>
          </a:prstGeom>
          <a:noFill/>
        </p:spPr>
        <p:txBody>
          <a:bodyPr wrap="square" lIns="0" tIns="0" rIns="0" bIns="0" rtlCol="0" anchor="t"/>
          <a:lstStyle/>
          <a:p>
            <a:pPr algn="ctr">
              <a:lnSpc>
                <a:spcPts val="1814"/>
              </a:lnSpc>
            </a:pPr>
            <a:r>
              <a:rPr lang="es-CL" b="1" dirty="0">
                <a:latin typeface="Arial"/>
                <a:cs typeface="Arial"/>
              </a:rPr>
              <a:t>Python</a:t>
            </a:r>
          </a:p>
        </p:txBody>
      </p:sp>
      <p:sp>
        <p:nvSpPr>
          <p:cNvPr id="34" name="Object 3">
            <a:extLst>
              <a:ext uri="{FF2B5EF4-FFF2-40B4-BE49-F238E27FC236}">
                <a16:creationId xmlns:a16="http://schemas.microsoft.com/office/drawing/2014/main" id="{403BBEFE-47E1-EE7F-7031-CE909FDC7FD2}"/>
              </a:ext>
            </a:extLst>
          </p:cNvPr>
          <p:cNvSpPr/>
          <p:nvPr/>
        </p:nvSpPr>
        <p:spPr>
          <a:xfrm>
            <a:off x="5977316" y="1272766"/>
            <a:ext cx="5358183" cy="257343"/>
          </a:xfrm>
          <a:prstGeom prst="rect">
            <a:avLst/>
          </a:prstGeom>
          <a:noFill/>
        </p:spPr>
        <p:txBody>
          <a:bodyPr wrap="square" lIns="0" tIns="0" rIns="0" bIns="0" rtlCol="0" anchor="t"/>
          <a:lstStyle/>
          <a:p>
            <a:pPr algn="ctr">
              <a:lnSpc>
                <a:spcPts val="1814"/>
              </a:lnSpc>
            </a:pPr>
            <a:r>
              <a:rPr lang="es-CL" b="1" dirty="0">
                <a:latin typeface="Arial"/>
                <a:cs typeface="Arial"/>
              </a:rPr>
              <a:t>Java</a:t>
            </a:r>
          </a:p>
        </p:txBody>
      </p:sp>
      <p:pic>
        <p:nvPicPr>
          <p:cNvPr id="4" name="Imagen 3">
            <a:extLst>
              <a:ext uri="{FF2B5EF4-FFF2-40B4-BE49-F238E27FC236}">
                <a16:creationId xmlns:a16="http://schemas.microsoft.com/office/drawing/2014/main" id="{75740DBC-56FA-4005-86BB-6D27B974CF64}"/>
              </a:ext>
            </a:extLst>
          </p:cNvPr>
          <p:cNvPicPr>
            <a:picLocks noChangeAspect="1"/>
          </p:cNvPicPr>
          <p:nvPr/>
        </p:nvPicPr>
        <p:blipFill>
          <a:blip r:embed="rId3"/>
          <a:stretch>
            <a:fillRect/>
          </a:stretch>
        </p:blipFill>
        <p:spPr>
          <a:xfrm>
            <a:off x="993127" y="2142182"/>
            <a:ext cx="3924848" cy="3296110"/>
          </a:xfrm>
          <a:prstGeom prst="rect">
            <a:avLst/>
          </a:prstGeom>
        </p:spPr>
      </p:pic>
      <p:pic>
        <p:nvPicPr>
          <p:cNvPr id="7" name="Imagen 6">
            <a:extLst>
              <a:ext uri="{FF2B5EF4-FFF2-40B4-BE49-F238E27FC236}">
                <a16:creationId xmlns:a16="http://schemas.microsoft.com/office/drawing/2014/main" id="{AAD0BA23-ED2D-4540-A41D-50F848A6FA7C}"/>
              </a:ext>
            </a:extLst>
          </p:cNvPr>
          <p:cNvPicPr>
            <a:picLocks noChangeAspect="1"/>
          </p:cNvPicPr>
          <p:nvPr/>
        </p:nvPicPr>
        <p:blipFill>
          <a:blip r:embed="rId4"/>
          <a:stretch>
            <a:fillRect/>
          </a:stretch>
        </p:blipFill>
        <p:spPr>
          <a:xfrm>
            <a:off x="6206444" y="1938867"/>
            <a:ext cx="4851175" cy="4026946"/>
          </a:xfrm>
          <a:prstGeom prst="rect">
            <a:avLst/>
          </a:prstGeom>
        </p:spPr>
      </p:pic>
    </p:spTree>
    <p:extLst>
      <p:ext uri="{BB962C8B-B14F-4D97-AF65-F5344CB8AC3E}">
        <p14:creationId xmlns:p14="http://schemas.microsoft.com/office/powerpoint/2010/main" val="30560778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6162804" cy="469685"/>
          </a:xfrm>
        </p:spPr>
        <p:txBody>
          <a:bodyPr vert="horz" lIns="91440" tIns="45720" rIns="91440" bIns="45720" rtlCol="0" anchor="t">
            <a:noAutofit/>
          </a:bodyPr>
          <a:lstStyle/>
          <a:p>
            <a:pPr marL="227965" indent="-227965"/>
            <a:r>
              <a:rPr lang="es-ES" dirty="0">
                <a:latin typeface="Arial"/>
                <a:cs typeface="Arial"/>
              </a:rPr>
              <a:t>Ciclos</a:t>
            </a:r>
            <a:endParaRPr lang="es-ES" dirty="0"/>
          </a:p>
        </p:txBody>
      </p:sp>
      <p:sp>
        <p:nvSpPr>
          <p:cNvPr id="37" name="Object 3">
            <a:extLst>
              <a:ext uri="{FF2B5EF4-FFF2-40B4-BE49-F238E27FC236}">
                <a16:creationId xmlns:a16="http://schemas.microsoft.com/office/drawing/2014/main" id="{770BFB7F-50E5-F7EC-1E6A-92C4AD254665}"/>
              </a:ext>
            </a:extLst>
          </p:cNvPr>
          <p:cNvSpPr/>
          <p:nvPr/>
        </p:nvSpPr>
        <p:spPr>
          <a:xfrm>
            <a:off x="257179" y="3537854"/>
            <a:ext cx="2655101" cy="288657"/>
          </a:xfrm>
          <a:prstGeom prst="rect">
            <a:avLst/>
          </a:prstGeom>
          <a:noFill/>
        </p:spPr>
        <p:txBody>
          <a:bodyPr wrap="square" lIns="0" tIns="0" rIns="0" bIns="0" rtlCol="0" anchor="t"/>
          <a:lstStyle/>
          <a:p>
            <a:pPr algn="ctr">
              <a:lnSpc>
                <a:spcPts val="1814"/>
              </a:lnSpc>
            </a:pPr>
            <a:r>
              <a:rPr lang="es-CL" b="1" dirty="0">
                <a:latin typeface="Arial"/>
                <a:ea typeface="+mn-lt"/>
                <a:cs typeface="+mn-lt"/>
              </a:rPr>
              <a:t>Spring </a:t>
            </a:r>
            <a:r>
              <a:rPr lang="es-CL" b="1" dirty="0" err="1">
                <a:latin typeface="Arial"/>
                <a:ea typeface="+mn-lt"/>
                <a:cs typeface="+mn-lt"/>
              </a:rPr>
              <a:t>Boot</a:t>
            </a:r>
            <a:endParaRPr lang="es-ES" b="1" dirty="0">
              <a:latin typeface="Arial"/>
            </a:endParaRPr>
          </a:p>
        </p:txBody>
      </p:sp>
      <p:sp>
        <p:nvSpPr>
          <p:cNvPr id="38" name="Rectángulo: esquinas redondeadas 37">
            <a:extLst>
              <a:ext uri="{FF2B5EF4-FFF2-40B4-BE49-F238E27FC236}">
                <a16:creationId xmlns:a16="http://schemas.microsoft.com/office/drawing/2014/main" id="{A4A52E3B-A24F-4ADD-26E0-358531A516DD}"/>
              </a:ext>
            </a:extLst>
          </p:cNvPr>
          <p:cNvSpPr/>
          <p:nvPr/>
        </p:nvSpPr>
        <p:spPr>
          <a:xfrm>
            <a:off x="3188421" y="330201"/>
            <a:ext cx="5401580" cy="6138332"/>
          </a:xfrm>
          <a:prstGeom prst="roundRect">
            <a:avLst/>
          </a:prstGeom>
          <a:solidFill>
            <a:srgbClr val="4E7CDD"/>
          </a:solidFill>
          <a:ln>
            <a:solidFill>
              <a:schemeClr val="tx1">
                <a:lumMod val="65000"/>
                <a:lumOff val="35000"/>
              </a:schemeClr>
            </a:solidFill>
          </a:ln>
        </p:spPr>
        <p:style>
          <a:lnRef idx="0">
            <a:schemeClr val="accent1"/>
          </a:lnRef>
          <a:fillRef idx="3">
            <a:schemeClr val="accent1"/>
          </a:fillRef>
          <a:effectRef idx="3">
            <a:schemeClr val="accent1"/>
          </a:effectRef>
          <a:fontRef idx="minor">
            <a:schemeClr val="lt1"/>
          </a:fontRef>
        </p:style>
        <p:txBody>
          <a:bodyPr lIns="91440" tIns="45720" rIns="91440" bIns="45720" rtlCol="0" anchor="ctr"/>
          <a:lstStyle>
            <a:defPPr>
              <a:defRPr lang="es-CL"/>
            </a:defPPr>
            <a:lvl1pPr marL="0" algn="l" defTabSz="914377" rtl="0" eaLnBrk="1" latinLnBrk="0" hangingPunct="1">
              <a:defRPr sz="1800" kern="1200">
                <a:solidFill>
                  <a:schemeClr val="lt1"/>
                </a:solidFill>
                <a:latin typeface="+mn-lt"/>
                <a:ea typeface="+mn-ea"/>
                <a:cs typeface="+mn-cs"/>
              </a:defRPr>
            </a:lvl1pPr>
            <a:lvl2pPr marL="457189" algn="l" defTabSz="914377" rtl="0" eaLnBrk="1" latinLnBrk="0" hangingPunct="1">
              <a:defRPr sz="1800" kern="1200">
                <a:solidFill>
                  <a:schemeClr val="lt1"/>
                </a:solidFill>
                <a:latin typeface="+mn-lt"/>
                <a:ea typeface="+mn-ea"/>
                <a:cs typeface="+mn-cs"/>
              </a:defRPr>
            </a:lvl2pPr>
            <a:lvl3pPr marL="914377" algn="l" defTabSz="914377" rtl="0" eaLnBrk="1" latinLnBrk="0" hangingPunct="1">
              <a:defRPr sz="1800" kern="1200">
                <a:solidFill>
                  <a:schemeClr val="lt1"/>
                </a:solidFill>
                <a:latin typeface="+mn-lt"/>
                <a:ea typeface="+mn-ea"/>
                <a:cs typeface="+mn-cs"/>
              </a:defRPr>
            </a:lvl3pPr>
            <a:lvl4pPr marL="1371566" algn="l" defTabSz="914377" rtl="0" eaLnBrk="1" latinLnBrk="0" hangingPunct="1">
              <a:defRPr sz="1800" kern="1200">
                <a:solidFill>
                  <a:schemeClr val="lt1"/>
                </a:solidFill>
                <a:latin typeface="+mn-lt"/>
                <a:ea typeface="+mn-ea"/>
                <a:cs typeface="+mn-cs"/>
              </a:defRPr>
            </a:lvl4pPr>
            <a:lvl5pPr marL="1828754" algn="l" defTabSz="914377" rtl="0" eaLnBrk="1" latinLnBrk="0" hangingPunct="1">
              <a:defRPr sz="1800" kern="1200">
                <a:solidFill>
                  <a:schemeClr val="lt1"/>
                </a:solidFill>
                <a:latin typeface="+mn-lt"/>
                <a:ea typeface="+mn-ea"/>
                <a:cs typeface="+mn-cs"/>
              </a:defRPr>
            </a:lvl5pPr>
            <a:lvl6pPr marL="2285943" algn="l" defTabSz="914377" rtl="0" eaLnBrk="1" latinLnBrk="0" hangingPunct="1">
              <a:defRPr sz="1800" kern="1200">
                <a:solidFill>
                  <a:schemeClr val="lt1"/>
                </a:solidFill>
                <a:latin typeface="+mn-lt"/>
                <a:ea typeface="+mn-ea"/>
                <a:cs typeface="+mn-cs"/>
              </a:defRPr>
            </a:lvl6pPr>
            <a:lvl7pPr marL="2743131" algn="l" defTabSz="914377" rtl="0" eaLnBrk="1" latinLnBrk="0" hangingPunct="1">
              <a:defRPr sz="1800" kern="1200">
                <a:solidFill>
                  <a:schemeClr val="lt1"/>
                </a:solidFill>
                <a:latin typeface="+mn-lt"/>
                <a:ea typeface="+mn-ea"/>
                <a:cs typeface="+mn-cs"/>
              </a:defRPr>
            </a:lvl7pPr>
            <a:lvl8pPr marL="3200320" algn="l" defTabSz="914377" rtl="0" eaLnBrk="1" latinLnBrk="0" hangingPunct="1">
              <a:defRPr sz="1800" kern="1200">
                <a:solidFill>
                  <a:schemeClr val="lt1"/>
                </a:solidFill>
                <a:latin typeface="+mn-lt"/>
                <a:ea typeface="+mn-ea"/>
                <a:cs typeface="+mn-cs"/>
              </a:defRPr>
            </a:lvl8pPr>
            <a:lvl9pPr marL="3657509" algn="l" defTabSz="914377" rtl="0" eaLnBrk="1" latinLnBrk="0" hangingPunct="1">
              <a:defRPr sz="1800" kern="1200">
                <a:solidFill>
                  <a:schemeClr val="lt1"/>
                </a:solidFill>
                <a:latin typeface="+mn-lt"/>
                <a:ea typeface="+mn-ea"/>
                <a:cs typeface="+mn-cs"/>
              </a:defRPr>
            </a:lvl9pPr>
          </a:lstStyle>
          <a:p>
            <a:pPr algn="ctr"/>
            <a:endParaRPr lang="es-ES" dirty="0">
              <a:latin typeface="Montserrat"/>
            </a:endParaRPr>
          </a:p>
        </p:txBody>
      </p:sp>
      <p:pic>
        <p:nvPicPr>
          <p:cNvPr id="4" name="Imagen 3">
            <a:extLst>
              <a:ext uri="{FF2B5EF4-FFF2-40B4-BE49-F238E27FC236}">
                <a16:creationId xmlns:a16="http://schemas.microsoft.com/office/drawing/2014/main" id="{DA14D5FD-8067-405E-AED6-54C221653FDC}"/>
              </a:ext>
            </a:extLst>
          </p:cNvPr>
          <p:cNvPicPr>
            <a:picLocks noChangeAspect="1"/>
          </p:cNvPicPr>
          <p:nvPr/>
        </p:nvPicPr>
        <p:blipFill>
          <a:blip r:embed="rId3"/>
          <a:stretch>
            <a:fillRect/>
          </a:stretch>
        </p:blipFill>
        <p:spPr>
          <a:xfrm>
            <a:off x="3722158" y="601133"/>
            <a:ext cx="4334106" cy="5596467"/>
          </a:xfrm>
          <a:prstGeom prst="rect">
            <a:avLst/>
          </a:prstGeom>
        </p:spPr>
      </p:pic>
    </p:spTree>
    <p:extLst>
      <p:ext uri="{BB962C8B-B14F-4D97-AF65-F5344CB8AC3E}">
        <p14:creationId xmlns:p14="http://schemas.microsoft.com/office/powerpoint/2010/main" val="6694315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B68A13F-7B0B-4B42-0E11-B6970DE6104B}"/>
              </a:ext>
            </a:extLst>
          </p:cNvPr>
          <p:cNvSpPr>
            <a:spLocks noGrp="1"/>
          </p:cNvSpPr>
          <p:nvPr>
            <p:ph type="body" sz="quarter" idx="13"/>
          </p:nvPr>
        </p:nvSpPr>
        <p:spPr>
          <a:xfrm>
            <a:off x="654685" y="551041"/>
            <a:ext cx="10689185" cy="469685"/>
          </a:xfrm>
        </p:spPr>
        <p:txBody>
          <a:bodyPr vert="horz" lIns="91440" tIns="45720" rIns="91440" bIns="45720" rtlCol="0" anchor="t">
            <a:noAutofit/>
          </a:bodyPr>
          <a:lstStyle/>
          <a:p>
            <a:pPr marL="227965" indent="-227965"/>
            <a:r>
              <a:rPr lang="es-CL" dirty="0">
                <a:latin typeface="Arial"/>
                <a:cs typeface="Arial"/>
              </a:rPr>
              <a:t>GUÍA PRÁCTICA 1</a:t>
            </a:r>
          </a:p>
          <a:p>
            <a:pPr marL="227965" indent="-227965"/>
            <a:endParaRPr lang="es-CL" dirty="0"/>
          </a:p>
        </p:txBody>
      </p:sp>
      <p:sp>
        <p:nvSpPr>
          <p:cNvPr id="6" name="Rectangle 1">
            <a:extLst>
              <a:ext uri="{FF2B5EF4-FFF2-40B4-BE49-F238E27FC236}">
                <a16:creationId xmlns:a16="http://schemas.microsoft.com/office/drawing/2014/main" id="{2FB918C6-E52E-2856-54AC-9684E20B4300}"/>
              </a:ext>
            </a:extLst>
          </p:cNvPr>
          <p:cNvSpPr txBox="1">
            <a:spLocks noChangeArrowheads="1"/>
          </p:cNvSpPr>
          <p:nvPr/>
        </p:nvSpPr>
        <p:spPr bwMode="auto">
          <a:xfrm>
            <a:off x="6094484" y="925401"/>
            <a:ext cx="5233264" cy="5009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594" indent="-228594" algn="l" defTabSz="914377"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400">
              <a:lnSpc>
                <a:spcPct val="150000"/>
              </a:lnSpc>
              <a:spcBef>
                <a:spcPct val="0"/>
              </a:spcBef>
              <a:spcAft>
                <a:spcPct val="0"/>
              </a:spcAft>
              <a:buNone/>
            </a:pPr>
            <a:r>
              <a:rPr lang="es-ES" sz="2400" dirty="0"/>
              <a:t>Ingresa al AVA de esta actividad y desarrolla la guía práctica </a:t>
            </a:r>
          </a:p>
          <a:p>
            <a:pPr marL="0" indent="0" algn="ctr" defTabSz="914400">
              <a:lnSpc>
                <a:spcPct val="150000"/>
              </a:lnSpc>
              <a:spcBef>
                <a:spcPct val="0"/>
              </a:spcBef>
              <a:spcAft>
                <a:spcPct val="0"/>
              </a:spcAft>
              <a:buNone/>
            </a:pPr>
            <a:r>
              <a:rPr lang="es-MX" sz="2400" b="1" i="1" dirty="0"/>
              <a:t>1.1.5 Actividad 1 - Mi primer proyecto en Spring </a:t>
            </a:r>
            <a:r>
              <a:rPr lang="es-MX" sz="2400" b="1" i="1" dirty="0" err="1"/>
              <a:t>Boot</a:t>
            </a:r>
            <a:endParaRPr lang="es-MX" sz="2400" b="1" i="1" dirty="0"/>
          </a:p>
          <a:p>
            <a:pPr marL="0" indent="0" algn="ctr" defTabSz="914400">
              <a:lnSpc>
                <a:spcPct val="150000"/>
              </a:lnSpc>
              <a:spcBef>
                <a:spcPct val="0"/>
              </a:spcBef>
              <a:spcAft>
                <a:spcPct val="0"/>
              </a:spcAft>
              <a:buNone/>
            </a:pPr>
            <a:endParaRPr lang="es-MX" sz="2400" b="1" i="1" dirty="0"/>
          </a:p>
          <a:p>
            <a:pPr marL="0" indent="0" algn="ctr" defTabSz="914400">
              <a:lnSpc>
                <a:spcPct val="150000"/>
              </a:lnSpc>
              <a:spcBef>
                <a:spcPct val="0"/>
              </a:spcBef>
              <a:spcAft>
                <a:spcPct val="0"/>
              </a:spcAft>
              <a:buNone/>
            </a:pPr>
            <a:r>
              <a:rPr lang="es-MX" sz="2400" dirty="0"/>
              <a:t>No olvides aplicar control de versiones. Aprende cómo en</a:t>
            </a:r>
          </a:p>
          <a:p>
            <a:pPr marL="0" indent="0" algn="ctr" defTabSz="914400">
              <a:lnSpc>
                <a:spcPct val="150000"/>
              </a:lnSpc>
              <a:spcBef>
                <a:spcPct val="0"/>
              </a:spcBef>
              <a:spcAft>
                <a:spcPct val="0"/>
              </a:spcAft>
              <a:buNone/>
            </a:pPr>
            <a:r>
              <a:rPr lang="es-MX" sz="2400" b="1" i="1" dirty="0"/>
              <a:t>1.1.6 Guía control de versiones Git y </a:t>
            </a:r>
            <a:r>
              <a:rPr lang="es-MX" sz="2400" b="1" i="1" dirty="0" err="1"/>
              <a:t>Github</a:t>
            </a:r>
            <a:endParaRPr lang="es-ES" sz="2400" b="1" i="1" dirty="0"/>
          </a:p>
        </p:txBody>
      </p:sp>
      <p:pic>
        <p:nvPicPr>
          <p:cNvPr id="3" name="Imagen 2" descr="Imagen que contiene tabla, silla, interior, escritorio&#10;&#10;Descripción generada automáticamente">
            <a:extLst>
              <a:ext uri="{FF2B5EF4-FFF2-40B4-BE49-F238E27FC236}">
                <a16:creationId xmlns:a16="http://schemas.microsoft.com/office/drawing/2014/main" id="{35FB95EA-F152-632D-849C-CF2BE94D6F8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1155189" y="1225126"/>
            <a:ext cx="4528515" cy="4407039"/>
          </a:xfrm>
          <a:prstGeom prst="rect">
            <a:avLst/>
          </a:prstGeom>
          <a:ln>
            <a:solidFill>
              <a:schemeClr val="bg1"/>
            </a:solidFill>
          </a:ln>
        </p:spPr>
      </p:pic>
    </p:spTree>
    <p:extLst>
      <p:ext uri="{BB962C8B-B14F-4D97-AF65-F5344CB8AC3E}">
        <p14:creationId xmlns:p14="http://schemas.microsoft.com/office/powerpoint/2010/main" val="38102235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212460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C2DF45AB5C1B6D4D8AD2DBFAA75D8CA5" ma:contentTypeVersion="7" ma:contentTypeDescription="Crear nuevo documento." ma:contentTypeScope="" ma:versionID="cd7b01c927de9591ca865b4942ea6ea8">
  <xsd:schema xmlns:xsd="http://www.w3.org/2001/XMLSchema" xmlns:xs="http://www.w3.org/2001/XMLSchema" xmlns:p="http://schemas.microsoft.com/office/2006/metadata/properties" xmlns:ns2="c9312883-1a57-42e3-a13f-7047fc9b9dd7" targetNamespace="http://schemas.microsoft.com/office/2006/metadata/properties" ma:root="true" ma:fieldsID="4d738323a8d35624891f1985e0b6ddaa" ns2:_="">
    <xsd:import namespace="c9312883-1a57-42e3-a13f-7047fc9b9d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312883-1a57-42e3-a13f-7047fc9b9d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7BD4256-76F8-4EE6-AF14-F39F3CD068A9}">
  <ds:schemaRefs>
    <ds:schemaRef ds:uri="http://schemas.microsoft.com/sharepoint/v3/contenttype/forms"/>
  </ds:schemaRefs>
</ds:datastoreItem>
</file>

<file path=customXml/itemProps2.xml><?xml version="1.0" encoding="utf-8"?>
<ds:datastoreItem xmlns:ds="http://schemas.openxmlformats.org/officeDocument/2006/customXml" ds:itemID="{62C8E103-58F9-4E05-9990-B15C616DE8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312883-1a57-42e3-a13f-7047fc9b9d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C58CA3E-C0DA-46ED-9440-7D10196C7762}">
  <ds:schemaRefs>
    <ds:schemaRef ds:uri="http://schemas.microsoft.com/office/2006/metadata/properties"/>
    <ds:schemaRef ds:uri="http://schemas.microsoft.com/office/2006/documentManagement/types"/>
    <ds:schemaRef ds:uri="http://purl.org/dc/dcmitype/"/>
    <ds:schemaRef ds:uri="http://schemas.microsoft.com/office/infopath/2007/PartnerControls"/>
    <ds:schemaRef ds:uri="http://purl.org/dc/terms/"/>
    <ds:schemaRef ds:uri="bb8cf7e1-610f-40a0-8f00-126b9d139fde"/>
    <ds:schemaRef ds:uri="http://purl.org/dc/elements/1.1/"/>
    <ds:schemaRef ds:uri="http://schemas.openxmlformats.org/package/2006/metadata/core-properties"/>
    <ds:schemaRef ds:uri="e1e7bc46-bed0-459f-9452-a76b1c5b695e"/>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89</TotalTime>
  <Words>2381</Words>
  <Application>Microsoft Office PowerPoint</Application>
  <PresentationFormat>Panorámica</PresentationFormat>
  <Paragraphs>409</Paragraphs>
  <Slides>49</Slides>
  <Notes>40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49</vt:i4>
      </vt:variant>
    </vt:vector>
  </HeadingPairs>
  <TitlesOfParts>
    <vt:vector size="56" baseType="lpstr">
      <vt:lpstr>Aptos</vt:lpstr>
      <vt:lpstr>Aptos Display</vt:lpstr>
      <vt:lpstr>Arial</vt:lpstr>
      <vt:lpstr>Consolas</vt:lpstr>
      <vt:lpstr>Montserrat</vt:lpstr>
      <vt:lpstr>Wingdings</vt:lpstr>
      <vt:lpstr>Tema de Office</vt:lpstr>
      <vt:lpstr>Fundamentos de HTTP y REST: Conceptos y Buenas Prácticas</vt:lpstr>
      <vt:lpstr>Presentación de PowerPoint</vt:lpstr>
      <vt:lpstr>Presentación de PowerPoint</vt:lpstr>
      <vt:lpstr>Presentación de PowerPoint</vt:lpstr>
      <vt:lpstr>Cómo funciona la Web</vt:lpstr>
      <vt:lpstr>Presentación de PowerPoint</vt:lpstr>
      <vt:lpstr>Presentación de PowerPoint</vt:lpstr>
      <vt:lpstr>Presentación de PowerPoint</vt:lpstr>
      <vt:lpstr>Presentación de PowerPoint</vt:lpstr>
      <vt:lpstr>Presentación de PowerPoint</vt:lpstr>
      <vt:lpstr>Presentación de PowerPoint</vt:lpstr>
      <vt:lpstr>Conceptos de HTTP</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REST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Sintaxis Básica de Spring Boot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Daniela Osorio C.</dc:creator>
  <cp:lastModifiedBy>pc</cp:lastModifiedBy>
  <cp:revision>610</cp:revision>
  <dcterms:created xsi:type="dcterms:W3CDTF">2024-03-07T18:55:37Z</dcterms:created>
  <dcterms:modified xsi:type="dcterms:W3CDTF">2026-01-10T20:29:55Z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0x010100C2DF45AB5C1B6D4D8AD2DBFAA75D8CA5</vt:lpwstr>
  </property>
  <property fmtid="{D5CDD505-2E9C-101B-9397-08002B2CF9AE}" pid="3" name="MediaServiceImageTags">
    <vt:lpwstr/>
  </property>
</Properties>
</file>